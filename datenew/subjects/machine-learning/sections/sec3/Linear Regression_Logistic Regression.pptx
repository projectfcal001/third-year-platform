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1" r:id="rId3"/>
    <p:sldId id="262" r:id="rId4"/>
    <p:sldId id="286" r:id="rId5"/>
    <p:sldId id="287" r:id="rId6"/>
    <p:sldId id="293" r:id="rId7"/>
    <p:sldId id="288" r:id="rId8"/>
    <p:sldId id="292" r:id="rId9"/>
    <p:sldId id="289" r:id="rId10"/>
    <p:sldId id="290" r:id="rId11"/>
    <p:sldId id="291" r:id="rId12"/>
    <p:sldId id="314" r:id="rId13"/>
    <p:sldId id="266" r:id="rId14"/>
    <p:sldId id="267" r:id="rId15"/>
    <p:sldId id="295" r:id="rId16"/>
    <p:sldId id="296" r:id="rId17"/>
    <p:sldId id="297" r:id="rId18"/>
    <p:sldId id="299" r:id="rId19"/>
    <p:sldId id="312" r:id="rId20"/>
    <p:sldId id="313" r:id="rId21"/>
    <p:sldId id="298" r:id="rId22"/>
    <p:sldId id="301" r:id="rId23"/>
    <p:sldId id="302" r:id="rId24"/>
    <p:sldId id="300" r:id="rId25"/>
    <p:sldId id="303" r:id="rId26"/>
    <p:sldId id="304" r:id="rId27"/>
    <p:sldId id="305" r:id="rId28"/>
    <p:sldId id="311" r:id="rId29"/>
    <p:sldId id="306" r:id="rId30"/>
    <p:sldId id="307" r:id="rId31"/>
    <p:sldId id="308" r:id="rId32"/>
    <p:sldId id="309" r:id="rId33"/>
    <p:sldId id="310" r:id="rId34"/>
    <p:sldId id="285" r:id="rId35"/>
  </p:sldIdLst>
  <p:sldSz cx="18288000" cy="10287000"/>
  <p:notesSz cx="6858000" cy="9144000"/>
  <p:embeddedFontLst>
    <p:embeddedFont>
      <p:font typeface="Andika" panose="020B0604020202020204" charset="0"/>
      <p:regular r:id="rId36"/>
    </p:embeddedFont>
    <p:embeddedFont>
      <p:font typeface="Tenor Sans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9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2.jpe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3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4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5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6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7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9.jpe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1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2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3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4.jpe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5.jpe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6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7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8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/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/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/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/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/>
          <p:cNvSpPr txBox="1"/>
          <p:nvPr/>
        </p:nvSpPr>
        <p:spPr>
          <a:xfrm>
            <a:off x="2753163" y="2729915"/>
            <a:ext cx="12781674" cy="2950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dirty="0">
                <a:solidFill>
                  <a:srgbClr val="2C2C2C"/>
                </a:solidFill>
                <a:latin typeface="Tenor Sans"/>
                <a:ea typeface="Tenor Sans"/>
                <a:cs typeface="Tenor Sans"/>
                <a:sym typeface="Tenor Sans"/>
              </a:rPr>
              <a:t>Linear Regression vs. Logistic Regression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8241" y="7197253"/>
            <a:ext cx="6971519" cy="77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1"/>
              </a:lnSpc>
            </a:pPr>
            <a:r>
              <a:rPr lang="en-US" sz="4543">
                <a:solidFill>
                  <a:srgbClr val="2C2C2C"/>
                </a:solidFill>
                <a:latin typeface="Andika"/>
                <a:ea typeface="Andika"/>
                <a:cs typeface="Andika"/>
                <a:sym typeface="Andika"/>
              </a:rPr>
              <a:t>Eng. Maria Ayman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/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/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/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/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/>
          <p:cNvSpPr txBox="1"/>
          <p:nvPr/>
        </p:nvSpPr>
        <p:spPr>
          <a:xfrm>
            <a:off x="1358784" y="557212"/>
            <a:ext cx="16457814" cy="1005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2C2C2C"/>
                </a:solidFill>
                <a:latin typeface="Tenor Sans"/>
                <a:ea typeface="Tenor Sans"/>
                <a:cs typeface="Tenor Sans"/>
                <a:sym typeface="Tenor Sans"/>
              </a:rPr>
              <a:t>Introduction to Linear Regression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5403" y="2339796"/>
            <a:ext cx="15434312" cy="787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is a </a:t>
            </a:r>
            <a:r>
              <a:rPr lang="ar-EG" sz="3200" dirty="0" err="1"/>
              <a:t>supervised</a:t>
            </a:r>
            <a:r>
              <a:rPr lang="ar-EG" sz="3200" dirty="0"/>
              <a:t> </a:t>
            </a:r>
            <a:r>
              <a:rPr lang="ar-EG" sz="3200" dirty="0" err="1"/>
              <a:t>machine</a:t>
            </a:r>
            <a:r>
              <a:rPr lang="ar-EG" sz="3200" dirty="0"/>
              <a:t> learning </a:t>
            </a:r>
            <a:r>
              <a:rPr lang="ar-EG" sz="3200" dirty="0" err="1"/>
              <a:t>algorithm</a:t>
            </a:r>
            <a:r>
              <a:rPr lang="ar-EG" sz="3200" dirty="0"/>
              <a:t> </a:t>
            </a:r>
            <a:r>
              <a:rPr lang="ar-EG" sz="3200" dirty="0" err="1"/>
              <a:t>used</a:t>
            </a:r>
            <a:r>
              <a:rPr lang="ar-EG" sz="3200" dirty="0"/>
              <a:t> to </a:t>
            </a:r>
            <a:r>
              <a:rPr lang="ar-EG" sz="3200" dirty="0" err="1"/>
              <a:t>predict</a:t>
            </a:r>
            <a:r>
              <a:rPr lang="ar-EG" sz="3200" dirty="0"/>
              <a:t> a </a:t>
            </a:r>
            <a:r>
              <a:rPr lang="ar-EG" sz="3200" dirty="0" err="1"/>
              <a:t>continuous</a:t>
            </a:r>
            <a:r>
              <a:rPr lang="ar-EG" sz="3200" dirty="0"/>
              <a:t> </a:t>
            </a:r>
            <a:r>
              <a:rPr lang="ar-EG" sz="3200" dirty="0" err="1"/>
              <a:t>numerical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 </a:t>
            </a:r>
            <a:r>
              <a:rPr lang="ar-EG" sz="3200" dirty="0" err="1"/>
              <a:t>from</a:t>
            </a:r>
            <a:r>
              <a:rPr lang="ar-EG" sz="3200" dirty="0"/>
              <a:t> </a:t>
            </a:r>
            <a:r>
              <a:rPr lang="ar-EG" sz="3200" dirty="0" err="1"/>
              <a:t>one</a:t>
            </a:r>
            <a:r>
              <a:rPr lang="ar-EG" sz="3200" dirty="0"/>
              <a:t> or </a:t>
            </a:r>
            <a:r>
              <a:rPr lang="ar-EG" sz="3200" dirty="0" err="1"/>
              <a:t>more</a:t>
            </a:r>
            <a:r>
              <a:rPr lang="ar-EG" sz="3200" dirty="0"/>
              <a:t>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It </a:t>
            </a:r>
            <a:r>
              <a:rPr lang="ar-EG" sz="3200" dirty="0" err="1"/>
              <a:t>learns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relationship</a:t>
            </a:r>
            <a:r>
              <a:rPr lang="ar-EG" sz="3200" dirty="0"/>
              <a:t> between </a:t>
            </a:r>
            <a:r>
              <a:rPr lang="ar-EG" sz="3200" dirty="0" err="1"/>
              <a:t>independent</a:t>
            </a:r>
            <a:r>
              <a:rPr lang="ar-EG" sz="3200" dirty="0"/>
              <a:t> </a:t>
            </a:r>
            <a:r>
              <a:rPr lang="ar-EG" sz="3200" dirty="0" err="1"/>
              <a:t>variables</a:t>
            </a:r>
            <a:r>
              <a:rPr lang="ar-EG" sz="3200" dirty="0"/>
              <a:t> (</a:t>
            </a:r>
            <a:r>
              <a:rPr lang="ar-EG" sz="3200" dirty="0" err="1"/>
              <a:t>features</a:t>
            </a:r>
            <a:r>
              <a:rPr lang="ar-EG" sz="3200" dirty="0"/>
              <a:t>) and a </a:t>
            </a:r>
            <a:r>
              <a:rPr lang="ar-EG" sz="3200" dirty="0" err="1"/>
              <a:t>dependent</a:t>
            </a:r>
            <a:r>
              <a:rPr lang="ar-EG" sz="3200" dirty="0"/>
              <a:t> </a:t>
            </a:r>
            <a:r>
              <a:rPr lang="ar-EG" sz="3200" dirty="0" err="1"/>
              <a:t>variable</a:t>
            </a:r>
            <a:r>
              <a:rPr lang="ar-EG" sz="3200" dirty="0"/>
              <a:t> (</a:t>
            </a:r>
            <a:r>
              <a:rPr lang="ar-EG" sz="3200" dirty="0" err="1"/>
              <a:t>target</a:t>
            </a:r>
            <a:r>
              <a:rPr lang="ar-EG" sz="3200" dirty="0"/>
              <a:t>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represents</a:t>
            </a:r>
            <a:r>
              <a:rPr lang="ar-EG" sz="3200" dirty="0"/>
              <a:t> </a:t>
            </a:r>
            <a:r>
              <a:rPr lang="ar-EG" sz="3200" dirty="0" err="1"/>
              <a:t>this</a:t>
            </a:r>
            <a:r>
              <a:rPr lang="ar-EG" sz="3200" dirty="0"/>
              <a:t> </a:t>
            </a:r>
            <a:r>
              <a:rPr lang="ar-EG" sz="3200" dirty="0" err="1"/>
              <a:t>relationship</a:t>
            </a:r>
            <a:r>
              <a:rPr lang="ar-EG" sz="3200" dirty="0"/>
              <a:t> </a:t>
            </a:r>
            <a:r>
              <a:rPr lang="ar-EG" sz="3200" dirty="0" err="1"/>
              <a:t>using</a:t>
            </a:r>
            <a:r>
              <a:rPr lang="ar-EG" sz="3200" dirty="0"/>
              <a:t> a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equation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During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,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estimates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parameters</a:t>
            </a:r>
            <a:r>
              <a:rPr lang="ar-EG" sz="3200" dirty="0"/>
              <a:t> that </a:t>
            </a:r>
            <a:r>
              <a:rPr lang="ar-EG" sz="3200" dirty="0" err="1"/>
              <a:t>best</a:t>
            </a:r>
            <a:r>
              <a:rPr lang="ar-EG" sz="3200" dirty="0"/>
              <a:t> </a:t>
            </a:r>
            <a:r>
              <a:rPr lang="ar-EG" sz="3200" dirty="0" err="1"/>
              <a:t>fit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observed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 data.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is </a:t>
            </a:r>
            <a:r>
              <a:rPr lang="ar-EG" sz="3200" dirty="0" err="1"/>
              <a:t>commonly</a:t>
            </a:r>
            <a:r>
              <a:rPr lang="ar-EG" sz="3200" dirty="0"/>
              <a:t> </a:t>
            </a:r>
            <a:r>
              <a:rPr lang="ar-EG" sz="3200" dirty="0" err="1"/>
              <a:t>used</a:t>
            </a:r>
            <a:r>
              <a:rPr lang="ar-EG" sz="3200" dirty="0"/>
              <a:t> for </a:t>
            </a:r>
            <a:r>
              <a:rPr lang="ar-EG" sz="3200" dirty="0" err="1"/>
              <a:t>prediction</a:t>
            </a:r>
            <a:r>
              <a:rPr lang="ar-EG" sz="3200" dirty="0"/>
              <a:t>, </a:t>
            </a:r>
            <a:r>
              <a:rPr lang="ar-EG" sz="3200" dirty="0" err="1"/>
              <a:t>forecasting</a:t>
            </a:r>
            <a:r>
              <a:rPr lang="ar-EG" sz="3200" dirty="0"/>
              <a:t>, and </a:t>
            </a:r>
            <a:r>
              <a:rPr lang="ar-EG" sz="3200" dirty="0" err="1"/>
              <a:t>understanding</a:t>
            </a:r>
            <a:r>
              <a:rPr lang="ar-EG" sz="3200" dirty="0"/>
              <a:t> </a:t>
            </a:r>
            <a:r>
              <a:rPr lang="ar-EG" sz="3200" dirty="0" err="1"/>
              <a:t>relationships</a:t>
            </a:r>
            <a:r>
              <a:rPr lang="ar-EG" sz="3200" dirty="0"/>
              <a:t> between </a:t>
            </a:r>
            <a:r>
              <a:rPr lang="ar-EG" sz="3200" dirty="0" err="1"/>
              <a:t>variables</a:t>
            </a:r>
            <a:r>
              <a:rPr lang="ar-EG" sz="3200" dirty="0"/>
              <a:t>.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Examples</a:t>
            </a:r>
            <a:r>
              <a:rPr lang="ar-EG" sz="3200" dirty="0"/>
              <a:t> of </a:t>
            </a:r>
            <a:r>
              <a:rPr lang="ar-EG" sz="3200" dirty="0" err="1"/>
              <a:t>Applications</a:t>
            </a:r>
            <a:endParaRPr lang="en-US" sz="3200" dirty="0"/>
          </a:p>
          <a:p>
            <a:pPr marL="971550" lvl="1" indent="-514350">
              <a:buFont typeface="+mj-lt"/>
              <a:buAutoNum type="arabicPeriod"/>
            </a:pPr>
            <a:r>
              <a:rPr lang="ar-EG" sz="3200" dirty="0" err="1"/>
              <a:t>Predicting</a:t>
            </a:r>
            <a:r>
              <a:rPr lang="ar-EG" sz="3200" dirty="0"/>
              <a:t> </a:t>
            </a:r>
            <a:r>
              <a:rPr lang="ar-EG" sz="3200" dirty="0" err="1"/>
              <a:t>house</a:t>
            </a:r>
            <a:r>
              <a:rPr lang="ar-EG" sz="3200" dirty="0"/>
              <a:t> </a:t>
            </a:r>
            <a:r>
              <a:rPr lang="ar-EG" sz="3200" dirty="0" err="1"/>
              <a:t>prices</a:t>
            </a:r>
            <a:r>
              <a:rPr lang="ar-EG" sz="3200" dirty="0"/>
              <a:t> </a:t>
            </a:r>
            <a:r>
              <a:rPr lang="ar-EG" sz="3200" dirty="0" err="1"/>
              <a:t>based</a:t>
            </a:r>
            <a:r>
              <a:rPr lang="ar-EG" sz="3200" dirty="0"/>
              <a:t> on </a:t>
            </a:r>
            <a:r>
              <a:rPr lang="ar-EG" sz="3200" dirty="0" err="1"/>
              <a:t>size</a:t>
            </a:r>
            <a:r>
              <a:rPr lang="ar-EG" sz="3200" dirty="0"/>
              <a:t> and </a:t>
            </a:r>
            <a:r>
              <a:rPr lang="ar-EG" sz="3200" dirty="0" err="1"/>
              <a:t>location</a:t>
            </a:r>
            <a:r>
              <a:rPr lang="ar-EG" sz="3200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ar-EG" sz="3200" dirty="0" err="1"/>
              <a:t>Estimating</a:t>
            </a:r>
            <a:r>
              <a:rPr lang="ar-EG" sz="3200" dirty="0"/>
              <a:t> </a:t>
            </a:r>
            <a:r>
              <a:rPr lang="ar-EG" sz="3200" dirty="0" err="1"/>
              <a:t>students</a:t>
            </a:r>
            <a:r>
              <a:rPr lang="ar-EG" sz="3200" dirty="0"/>
              <a:t>’ </a:t>
            </a:r>
            <a:r>
              <a:rPr lang="ar-EG" sz="3200" dirty="0" err="1"/>
              <a:t>exam</a:t>
            </a:r>
            <a:r>
              <a:rPr lang="ar-EG" sz="3200" dirty="0"/>
              <a:t> </a:t>
            </a:r>
            <a:r>
              <a:rPr lang="ar-EG" sz="3200" dirty="0" err="1"/>
              <a:t>scores</a:t>
            </a:r>
            <a:r>
              <a:rPr lang="ar-EG" sz="3200" dirty="0"/>
              <a:t> </a:t>
            </a:r>
            <a:r>
              <a:rPr lang="ar-EG" sz="3200" dirty="0" err="1"/>
              <a:t>based</a:t>
            </a:r>
            <a:r>
              <a:rPr lang="ar-EG" sz="3200" dirty="0"/>
              <a:t> on </a:t>
            </a:r>
            <a:r>
              <a:rPr lang="ar-EG" sz="3200" dirty="0" err="1"/>
              <a:t>study</a:t>
            </a:r>
            <a:r>
              <a:rPr lang="ar-EG" sz="3200" dirty="0"/>
              <a:t> </a:t>
            </a:r>
            <a:r>
              <a:rPr lang="ar-EG" sz="3200" dirty="0" err="1"/>
              <a:t>hours</a:t>
            </a:r>
            <a:r>
              <a:rPr lang="ar-EG" sz="3200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ar-EG" sz="3200" dirty="0" err="1"/>
              <a:t>Forecasting</a:t>
            </a:r>
            <a:r>
              <a:rPr lang="ar-EG" sz="3200" dirty="0"/>
              <a:t> </a:t>
            </a:r>
            <a:r>
              <a:rPr lang="ar-EG" sz="3200" dirty="0" err="1"/>
              <a:t>sales</a:t>
            </a:r>
            <a:r>
              <a:rPr lang="ar-EG" sz="3200" dirty="0"/>
              <a:t> </a:t>
            </a:r>
            <a:r>
              <a:rPr lang="ar-EG" sz="3200" dirty="0" err="1"/>
              <a:t>based</a:t>
            </a:r>
            <a:r>
              <a:rPr lang="ar-EG" sz="3200" dirty="0"/>
              <a:t> on </a:t>
            </a:r>
            <a:r>
              <a:rPr lang="ar-EG" sz="3200" dirty="0" err="1"/>
              <a:t>advertising</a:t>
            </a:r>
            <a:r>
              <a:rPr lang="ar-EG" sz="3200" dirty="0"/>
              <a:t> </a:t>
            </a:r>
            <a:r>
              <a:rPr lang="ar-EG" sz="3200" dirty="0" err="1"/>
              <a:t>expenditure</a:t>
            </a:r>
            <a:r>
              <a:rPr lang="ar-EG" sz="3200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ar-EG" sz="3200" dirty="0" err="1"/>
              <a:t>Predicting</a:t>
            </a:r>
            <a:r>
              <a:rPr lang="ar-EG" sz="3200" dirty="0"/>
              <a:t> </a:t>
            </a:r>
            <a:r>
              <a:rPr lang="ar-EG" sz="3200" dirty="0" err="1"/>
              <a:t>energy</a:t>
            </a:r>
            <a:r>
              <a:rPr lang="ar-EG" sz="3200" dirty="0"/>
              <a:t> </a:t>
            </a:r>
            <a:r>
              <a:rPr lang="ar-EG" sz="3200" dirty="0" err="1"/>
              <a:t>consumption</a:t>
            </a:r>
            <a:r>
              <a:rPr lang="ar-EG" sz="3200" dirty="0"/>
              <a:t> </a:t>
            </a:r>
            <a:r>
              <a:rPr lang="ar-EG" sz="3200" dirty="0" err="1"/>
              <a:t>based</a:t>
            </a:r>
            <a:r>
              <a:rPr lang="ar-EG" sz="3200" dirty="0"/>
              <a:t> on </a:t>
            </a:r>
            <a:r>
              <a:rPr lang="ar-EG" sz="3200" dirty="0" err="1"/>
              <a:t>environmental</a:t>
            </a:r>
            <a:r>
              <a:rPr lang="ar-EG" sz="3200" dirty="0"/>
              <a:t> </a:t>
            </a:r>
            <a:r>
              <a:rPr lang="ar-EG" sz="3200" dirty="0" err="1"/>
              <a:t>conditions</a:t>
            </a:r>
            <a:r>
              <a:rPr lang="ar-EG" sz="3200" dirty="0"/>
              <a:t>.</a:t>
            </a:r>
          </a:p>
          <a:p>
            <a:pPr lvl="0"/>
            <a:endParaRPr lang="en-US" sz="3200" dirty="0"/>
          </a:p>
          <a:p>
            <a:pPr lvl="0"/>
            <a:endParaRPr lang="ar-EG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/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/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/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/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/>
          <p:cNvSpPr txBox="1"/>
          <p:nvPr/>
        </p:nvSpPr>
        <p:spPr>
          <a:xfrm>
            <a:off x="1358784" y="557212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/>
              <a:t>Understanding </a:t>
            </a: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r>
              <a:rPr lang="ar-EG" sz="6000" dirty="0"/>
              <a:t> </a:t>
            </a:r>
            <a:r>
              <a:rPr lang="ar-EG" sz="6000" dirty="0" err="1"/>
              <a:t>Problem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9E0D403-DBE9-E72E-E761-1EE1787B5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726533"/>
              </p:ext>
            </p:extLst>
          </p:nvPr>
        </p:nvGraphicFramePr>
        <p:xfrm>
          <a:off x="5562600" y="7901940"/>
          <a:ext cx="8229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15496453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272862627"/>
                    </a:ext>
                  </a:extLst>
                </a:gridCol>
              </a:tblGrid>
              <a:tr h="329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 err="1"/>
                        <a:t>Study</a:t>
                      </a:r>
                      <a:r>
                        <a:rPr lang="ar-EG" dirty="0"/>
                        <a:t> </a:t>
                      </a:r>
                      <a:r>
                        <a:rPr lang="ar-EG" dirty="0" err="1"/>
                        <a:t>Hours</a:t>
                      </a:r>
                      <a:r>
                        <a:rPr lang="ar-EG" dirty="0"/>
                        <a:t> ((X))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 err="1"/>
                        <a:t>Actual</a:t>
                      </a:r>
                      <a:r>
                        <a:rPr lang="ar-EG" dirty="0"/>
                        <a:t> </a:t>
                      </a:r>
                      <a:r>
                        <a:rPr lang="ar-EG" dirty="0" err="1"/>
                        <a:t>Exam</a:t>
                      </a:r>
                      <a:r>
                        <a:rPr lang="ar-EG" dirty="0"/>
                        <a:t> </a:t>
                      </a:r>
                      <a:r>
                        <a:rPr lang="ar-EG" dirty="0" err="1"/>
                        <a:t>Score</a:t>
                      </a:r>
                      <a:r>
                        <a:rPr lang="ar-EG" dirty="0"/>
                        <a:t> (y)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029907"/>
                  </a:ext>
                </a:extLst>
              </a:tr>
              <a:tr h="329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150770"/>
                  </a:ext>
                </a:extLst>
              </a:tr>
              <a:tr h="329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356059"/>
                  </a:ext>
                </a:extLst>
              </a:tr>
              <a:tr h="329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033169"/>
                  </a:ext>
                </a:extLst>
              </a:tr>
              <a:tr h="329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707309"/>
                  </a:ext>
                </a:extLst>
              </a:tr>
              <a:tr h="329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31791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61DA5C2-CB4C-E17D-C66B-E451AA96FD75}"/>
              </a:ext>
            </a:extLst>
          </p:cNvPr>
          <p:cNvSpPr txBox="1"/>
          <p:nvPr/>
        </p:nvSpPr>
        <p:spPr>
          <a:xfrm>
            <a:off x="1680219" y="1981480"/>
            <a:ext cx="1613637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EG" sz="3200" dirty="0"/>
              <a:t>Input </a:t>
            </a:r>
            <a:r>
              <a:rPr lang="ar-EG" sz="3200" dirty="0" err="1"/>
              <a:t>Features</a:t>
            </a:r>
            <a:r>
              <a:rPr lang="ar-EG" sz="3200" dirty="0"/>
              <a:t> and </a:t>
            </a: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Variable</a:t>
            </a:r>
            <a:endParaRPr lang="ar-EG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features</a:t>
            </a:r>
            <a:r>
              <a:rPr lang="ar-EG" sz="3200" dirty="0"/>
              <a:t> </a:t>
            </a:r>
            <a:r>
              <a:rPr lang="ar-EG" sz="3200" dirty="0" err="1"/>
              <a:t>represent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information </a:t>
            </a:r>
            <a:r>
              <a:rPr lang="ar-EG" sz="3200" dirty="0" err="1"/>
              <a:t>used</a:t>
            </a:r>
            <a:r>
              <a:rPr lang="ar-EG" sz="3200" dirty="0"/>
              <a:t> by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to </a:t>
            </a:r>
            <a:r>
              <a:rPr lang="ar-EG" sz="3200" dirty="0" err="1"/>
              <a:t>make</a:t>
            </a:r>
            <a:r>
              <a:rPr lang="ar-EG" sz="3200" dirty="0"/>
              <a:t> a </a:t>
            </a:r>
            <a:r>
              <a:rPr lang="ar-EG" sz="3200" dirty="0" err="1"/>
              <a:t>prediction</a:t>
            </a:r>
            <a:r>
              <a:rPr lang="ar-EG" sz="32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variable</a:t>
            </a:r>
            <a:r>
              <a:rPr lang="ar-EG" sz="3200" dirty="0"/>
              <a:t> is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numerical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 that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attempts</a:t>
            </a:r>
            <a:r>
              <a:rPr lang="ar-EG" sz="3200" dirty="0"/>
              <a:t> to </a:t>
            </a:r>
            <a:r>
              <a:rPr lang="ar-EG" sz="3200" dirty="0" err="1"/>
              <a:t>predict</a:t>
            </a:r>
            <a:r>
              <a:rPr lang="ar-EG" sz="32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ar-EG" sz="3200" dirty="0" err="1"/>
              <a:t>Each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 </a:t>
            </a:r>
            <a:r>
              <a:rPr lang="ar-EG" sz="3200" dirty="0" err="1"/>
              <a:t>example</a:t>
            </a:r>
            <a:r>
              <a:rPr lang="ar-EG" sz="3200" dirty="0"/>
              <a:t> </a:t>
            </a:r>
            <a:r>
              <a:rPr lang="ar-EG" sz="3200" dirty="0" err="1"/>
              <a:t>contains</a:t>
            </a:r>
            <a:r>
              <a:rPr lang="ar-EG" sz="3200" dirty="0"/>
              <a:t> a </a:t>
            </a:r>
            <a:r>
              <a:rPr lang="ar-EG" sz="3200" dirty="0" err="1"/>
              <a:t>set</a:t>
            </a:r>
            <a:r>
              <a:rPr lang="ar-EG" sz="3200" dirty="0"/>
              <a:t> of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features</a:t>
            </a:r>
            <a:r>
              <a:rPr lang="ar-EG" sz="3200" dirty="0"/>
              <a:t> and </a:t>
            </a:r>
            <a:r>
              <a:rPr lang="ar-EG" sz="3200" dirty="0" err="1"/>
              <a:t>its</a:t>
            </a:r>
            <a:r>
              <a:rPr lang="ar-EG" sz="3200" dirty="0"/>
              <a:t> </a:t>
            </a:r>
            <a:r>
              <a:rPr lang="ar-EG" sz="3200" dirty="0" err="1"/>
              <a:t>corresponding</a:t>
            </a:r>
            <a:r>
              <a:rPr lang="ar-EG" sz="3200" dirty="0"/>
              <a:t> </a:t>
            </a:r>
            <a:r>
              <a:rPr lang="ar-EG" sz="3200" dirty="0" err="1"/>
              <a:t>actual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learns</a:t>
            </a:r>
            <a:r>
              <a:rPr lang="ar-EG" sz="3200" dirty="0"/>
              <a:t> a </a:t>
            </a:r>
            <a:r>
              <a:rPr lang="ar-EG" sz="3200" dirty="0" err="1"/>
              <a:t>relationship</a:t>
            </a:r>
            <a:r>
              <a:rPr lang="ar-EG" sz="3200" dirty="0"/>
              <a:t> </a:t>
            </a:r>
            <a:r>
              <a:rPr lang="ar-EG" sz="3200" dirty="0" err="1"/>
              <a:t>from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 </a:t>
            </a:r>
            <a:r>
              <a:rPr lang="ar-EG" sz="3200" dirty="0" err="1"/>
              <a:t>examples</a:t>
            </a:r>
            <a:r>
              <a:rPr lang="ar-EG" sz="3200" dirty="0"/>
              <a:t> and </a:t>
            </a:r>
            <a:r>
              <a:rPr lang="ar-EG" sz="3200" dirty="0" err="1"/>
              <a:t>applies</a:t>
            </a:r>
            <a:r>
              <a:rPr lang="ar-EG" sz="3200" dirty="0"/>
              <a:t> </a:t>
            </a:r>
            <a:r>
              <a:rPr lang="ar-EG" sz="3200" dirty="0" err="1"/>
              <a:t>it</a:t>
            </a:r>
            <a:r>
              <a:rPr lang="ar-EG" sz="3200" dirty="0"/>
              <a:t> to </a:t>
            </a:r>
            <a:r>
              <a:rPr lang="ar-EG" sz="3200" dirty="0" err="1"/>
              <a:t>unseen</a:t>
            </a:r>
            <a:r>
              <a:rPr lang="ar-EG" sz="3200" dirty="0"/>
              <a:t>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,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output</a:t>
            </a:r>
            <a:r>
              <a:rPr lang="ar-EG" sz="3200" dirty="0"/>
              <a:t> is a </a:t>
            </a:r>
            <a:r>
              <a:rPr lang="ar-EG" sz="3200" dirty="0" err="1"/>
              <a:t>numerical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 </a:t>
            </a:r>
            <a:r>
              <a:rPr lang="ar-EG" sz="3200" dirty="0" err="1"/>
              <a:t>rather</a:t>
            </a:r>
            <a:r>
              <a:rPr lang="ar-EG" sz="3200" dirty="0"/>
              <a:t> </a:t>
            </a:r>
            <a:r>
              <a:rPr lang="ar-EG" sz="3200" dirty="0" err="1"/>
              <a:t>than</a:t>
            </a:r>
            <a:r>
              <a:rPr lang="ar-EG" sz="3200" dirty="0"/>
              <a:t> a </a:t>
            </a:r>
            <a:r>
              <a:rPr lang="ar-EG" sz="3200" dirty="0" err="1"/>
              <a:t>class</a:t>
            </a:r>
            <a:r>
              <a:rPr lang="ar-EG" sz="3200" dirty="0"/>
              <a:t> </a:t>
            </a:r>
            <a:r>
              <a:rPr lang="ar-EG" sz="3200" dirty="0" err="1"/>
              <a:t>label</a:t>
            </a:r>
            <a:r>
              <a:rPr lang="ar-EG" sz="3200" dirty="0"/>
              <a:t>.</a:t>
            </a:r>
          </a:p>
          <a:p>
            <a:pPr>
              <a:buNone/>
            </a:pPr>
            <a:r>
              <a:rPr lang="ar-EG" sz="3200" dirty="0" err="1"/>
              <a:t>Example</a:t>
            </a:r>
            <a:r>
              <a:rPr lang="ar-EG" sz="3200" dirty="0"/>
              <a:t>: </a:t>
            </a:r>
            <a:r>
              <a:rPr lang="ar-EG" sz="3200" dirty="0" err="1"/>
              <a:t>Predicting</a:t>
            </a:r>
            <a:r>
              <a:rPr lang="ar-EG" sz="3200" dirty="0"/>
              <a:t> </a:t>
            </a:r>
            <a:r>
              <a:rPr lang="ar-EG" sz="3200" dirty="0" err="1"/>
              <a:t>Exam</a:t>
            </a:r>
            <a:r>
              <a:rPr lang="ar-EG" sz="3200" dirty="0"/>
              <a:t> </a:t>
            </a:r>
            <a:r>
              <a:rPr lang="ar-EG" sz="3200" dirty="0" err="1"/>
              <a:t>Scores</a:t>
            </a:r>
            <a:endParaRPr lang="ar-EG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ar-EG" sz="3200" dirty="0" err="1"/>
              <a:t>Feature</a:t>
            </a:r>
            <a:r>
              <a:rPr lang="ar-EG" sz="3200" dirty="0"/>
              <a:t>: </a:t>
            </a:r>
            <a:r>
              <a:rPr lang="ar-EG" sz="3200" dirty="0" err="1"/>
              <a:t>Number</a:t>
            </a:r>
            <a:r>
              <a:rPr lang="ar-EG" sz="3200" dirty="0"/>
              <a:t> of </a:t>
            </a:r>
            <a:r>
              <a:rPr lang="ar-EG" sz="3200" dirty="0" err="1"/>
              <a:t>study</a:t>
            </a:r>
            <a:r>
              <a:rPr lang="ar-EG" sz="3200" dirty="0"/>
              <a:t> </a:t>
            </a:r>
            <a:r>
              <a:rPr lang="ar-EG" sz="3200" dirty="0" err="1"/>
              <a:t>hours</a:t>
            </a:r>
            <a:r>
              <a:rPr lang="ar-EG" sz="32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ar-EG" sz="3200" dirty="0" err="1"/>
              <a:t>Target</a:t>
            </a:r>
            <a:r>
              <a:rPr lang="ar-EG" sz="3200" dirty="0"/>
              <a:t>: </a:t>
            </a:r>
            <a:r>
              <a:rPr lang="ar-EG" sz="3200" dirty="0" err="1"/>
              <a:t>Actual</a:t>
            </a:r>
            <a:r>
              <a:rPr lang="ar-EG" sz="3200" dirty="0"/>
              <a:t> </a:t>
            </a:r>
            <a:r>
              <a:rPr lang="ar-EG" sz="3200" dirty="0" err="1"/>
              <a:t>exam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ar-EG" sz="3200" dirty="0" err="1"/>
              <a:t>Objective</a:t>
            </a:r>
            <a:r>
              <a:rPr lang="ar-EG" sz="3200" dirty="0"/>
              <a:t>: Learn a </a:t>
            </a:r>
            <a:r>
              <a:rPr lang="ar-EG" sz="3200" dirty="0" err="1"/>
              <a:t>relationship</a:t>
            </a:r>
            <a:r>
              <a:rPr lang="ar-EG" sz="3200" dirty="0"/>
              <a:t> that can </a:t>
            </a:r>
            <a:r>
              <a:rPr lang="ar-EG" sz="3200" dirty="0" err="1"/>
              <a:t>estimate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of a </a:t>
            </a:r>
            <a:r>
              <a:rPr lang="ar-EG" sz="3200" dirty="0" err="1"/>
              <a:t>student</a:t>
            </a:r>
            <a:r>
              <a:rPr lang="ar-EG" sz="3200" dirty="0"/>
              <a:t> with a </a:t>
            </a:r>
            <a:r>
              <a:rPr lang="ar-EG" sz="3200" dirty="0" err="1"/>
              <a:t>given</a:t>
            </a:r>
            <a:r>
              <a:rPr lang="ar-EG" sz="3200" dirty="0"/>
              <a:t> </a:t>
            </a:r>
            <a:r>
              <a:rPr lang="ar-EG" sz="3200" dirty="0" err="1"/>
              <a:t>number</a:t>
            </a:r>
            <a:r>
              <a:rPr lang="ar-EG" sz="3200" dirty="0"/>
              <a:t> of </a:t>
            </a:r>
            <a:r>
              <a:rPr lang="ar-EG" sz="3200" dirty="0" err="1"/>
              <a:t>study</a:t>
            </a:r>
            <a:r>
              <a:rPr lang="ar-EG" sz="3200" dirty="0"/>
              <a:t> </a:t>
            </a:r>
            <a:r>
              <a:rPr lang="ar-EG" sz="3200" dirty="0" err="1"/>
              <a:t>hours</a:t>
            </a:r>
            <a:r>
              <a:rPr lang="ar-EG" sz="32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ECDA2-9D72-6F32-EB8C-E5661611C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866371-A880-9FA0-EEE3-1B318C3080A2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102321B-B147-764A-7E68-0EDFDC5FBA53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989E788-7EF4-02D8-2CED-6E5E4BD7B8E9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29C1BDC-441F-2055-8CA6-B77BDF2B15EB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6933DE3-5D69-95E0-C2BD-16C3847EF890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68B76F5-9E13-54BB-CF7D-FC0C5B7AE6E9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F7C6E62-0065-C42D-22C1-C38C8A66F37A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A1C6ABF-9FE2-2D96-E8AD-332A89922B06}"/>
              </a:ext>
            </a:extLst>
          </p:cNvPr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52BE9FB-3A04-9394-DDA8-DF2251F6A4BE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97EA3C3-5E36-F4AD-8D39-6FBDCC6825B2}"/>
              </a:ext>
            </a:extLst>
          </p:cNvPr>
          <p:cNvSpPr txBox="1"/>
          <p:nvPr/>
        </p:nvSpPr>
        <p:spPr>
          <a:xfrm>
            <a:off x="1358784" y="557212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Linear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r>
              <a:rPr lang="ar-EG" sz="6000" dirty="0"/>
              <a:t> Model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1B3C2C-48C0-CD79-8B61-32C4F92F63B8}"/>
              </a:ext>
            </a:extLst>
          </p:cNvPr>
          <p:cNvSpPr txBox="1"/>
          <p:nvPr/>
        </p:nvSpPr>
        <p:spPr>
          <a:xfrm>
            <a:off x="1680219" y="1981480"/>
            <a:ext cx="16136379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3200" b="1" dirty="0" err="1"/>
              <a:t>Mathematical</a:t>
            </a:r>
            <a:r>
              <a:rPr lang="ar-EG" sz="3200" b="1" dirty="0"/>
              <a:t> </a:t>
            </a:r>
            <a:r>
              <a:rPr lang="ar-EG" sz="3200" b="1" dirty="0" err="1"/>
              <a:t>Representation</a:t>
            </a:r>
            <a:endParaRPr lang="ar-EG" sz="3200" b="1" dirty="0"/>
          </a:p>
          <a:p>
            <a:r>
              <a:rPr lang="ar-EG" sz="3200" dirty="0"/>
              <a:t>For a </a:t>
            </a:r>
            <a:r>
              <a:rPr lang="ar-EG" sz="3200" dirty="0" err="1"/>
              <a:t>model</a:t>
            </a:r>
            <a:r>
              <a:rPr lang="ar-EG" sz="3200" dirty="0"/>
              <a:t> with </a:t>
            </a:r>
            <a:r>
              <a:rPr lang="ar-EG" sz="3200" dirty="0" err="1"/>
              <a:t>one</a:t>
            </a:r>
            <a:r>
              <a:rPr lang="ar-EG" sz="3200" dirty="0"/>
              <a:t>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</a:t>
            </a:r>
            <a:r>
              <a:rPr lang="ar-EG" sz="3200" dirty="0"/>
              <a:t>,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prediction</a:t>
            </a:r>
            <a:r>
              <a:rPr lang="ar-EG" sz="3200" dirty="0"/>
              <a:t> is </a:t>
            </a:r>
            <a:r>
              <a:rPr lang="ar-EG" sz="3200" dirty="0" err="1"/>
              <a:t>represented</a:t>
            </a:r>
            <a:r>
              <a:rPr lang="ar-EG" sz="3200" dirty="0"/>
              <a:t> by:</a:t>
            </a:r>
          </a:p>
          <a:p>
            <a:r>
              <a:rPr lang="ar-EG" sz="3200" dirty="0" err="1"/>
              <a:t>Where</a:t>
            </a:r>
            <a:r>
              <a:rPr lang="ar-EG" sz="3200" dirty="0"/>
              <a:t>:</a:t>
            </a:r>
          </a:p>
          <a:p>
            <a:pPr lvl="0"/>
            <a:r>
              <a:rPr lang="en-US" sz="3200" dirty="0"/>
              <a:t>X: T</a:t>
            </a:r>
            <a:r>
              <a:rPr lang="ar-EG" sz="3200" dirty="0" err="1"/>
              <a:t>he</a:t>
            </a:r>
            <a:r>
              <a:rPr lang="ar-EG" sz="3200" dirty="0"/>
              <a:t>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</a:t>
            </a:r>
            <a:r>
              <a:rPr lang="ar-EG" sz="3200" dirty="0"/>
              <a:t>.</a:t>
            </a:r>
          </a:p>
          <a:p>
            <a:pPr lvl="0"/>
            <a:r>
              <a:rPr lang="en-US" sz="3200" dirty="0"/>
              <a:t>y: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.</a:t>
            </a:r>
          </a:p>
          <a:p>
            <a:pPr lvl="0"/>
            <a:r>
              <a:rPr lang="en-US" sz="3200" dirty="0"/>
              <a:t>b0: </a:t>
            </a:r>
            <a:r>
              <a:rPr lang="ar-EG" sz="3200" dirty="0" err="1"/>
              <a:t>intercept</a:t>
            </a:r>
            <a:r>
              <a:rPr lang="ar-EG" sz="3200" dirty="0"/>
              <a:t>, </a:t>
            </a:r>
            <a:r>
              <a:rPr lang="ar-EG" sz="3200" dirty="0" err="1"/>
              <a:t>representing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 </a:t>
            </a:r>
            <a:r>
              <a:rPr lang="ar-EG" sz="3200" dirty="0" err="1"/>
              <a:t>when</a:t>
            </a:r>
            <a:r>
              <a:rPr lang="ar-EG" sz="3200" dirty="0"/>
              <a:t> </a:t>
            </a:r>
            <a:r>
              <a:rPr lang="en-US" sz="3200" dirty="0"/>
              <a:t> x = 0.</a:t>
            </a:r>
            <a:endParaRPr lang="ar-EG" sz="3200" dirty="0"/>
          </a:p>
          <a:p>
            <a:pPr lvl="0"/>
            <a:r>
              <a:rPr lang="en-US" sz="3200" dirty="0"/>
              <a:t>b1: </a:t>
            </a:r>
            <a:r>
              <a:rPr lang="ar-EG" sz="3200" dirty="0" err="1"/>
              <a:t>slope</a:t>
            </a:r>
            <a:r>
              <a:rPr lang="ar-EG" sz="3200" dirty="0"/>
              <a:t> </a:t>
            </a:r>
            <a:r>
              <a:rPr lang="ar-EG" sz="3200" dirty="0" err="1"/>
              <a:t>coefficient</a:t>
            </a:r>
            <a:r>
              <a:rPr lang="ar-EG" sz="3200" dirty="0"/>
              <a:t>, </a:t>
            </a:r>
            <a:r>
              <a:rPr lang="ar-EG" sz="3200" dirty="0" err="1"/>
              <a:t>representing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change</a:t>
            </a:r>
            <a:r>
              <a:rPr lang="ar-EG" sz="3200" dirty="0"/>
              <a:t> </a:t>
            </a: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 </a:t>
            </a:r>
            <a:r>
              <a:rPr lang="ar-EG" sz="3200" dirty="0" err="1"/>
              <a:t>associated</a:t>
            </a:r>
            <a:r>
              <a:rPr lang="ar-EG" sz="3200" dirty="0"/>
              <a:t> with a </a:t>
            </a:r>
            <a:r>
              <a:rPr lang="ar-EG" sz="3200" dirty="0" err="1"/>
              <a:t>one-unit</a:t>
            </a:r>
            <a:r>
              <a:rPr lang="ar-EG" sz="3200" dirty="0"/>
              <a:t> </a:t>
            </a:r>
            <a:r>
              <a:rPr lang="ar-EG" sz="3200" dirty="0" err="1"/>
              <a:t>increase</a:t>
            </a:r>
            <a:r>
              <a:rPr lang="ar-EG" sz="3200" dirty="0"/>
              <a:t> </a:t>
            </a: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en-US" sz="3200" dirty="0"/>
              <a:t>x.</a:t>
            </a:r>
            <a:endParaRPr lang="ar-EG" sz="3200" dirty="0"/>
          </a:p>
          <a:p>
            <a:r>
              <a:rPr lang="ar-EG" sz="3200" b="1" dirty="0" err="1"/>
              <a:t>Interpretation</a:t>
            </a:r>
            <a:r>
              <a:rPr lang="en-US" sz="3200" b="1" dirty="0"/>
              <a:t>: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positive</a:t>
            </a:r>
            <a:r>
              <a:rPr lang="ar-EG" sz="3200" dirty="0"/>
              <a:t> </a:t>
            </a:r>
            <a:r>
              <a:rPr lang="ar-EG" sz="3200" dirty="0" err="1"/>
              <a:t>slope</a:t>
            </a:r>
            <a:r>
              <a:rPr lang="ar-EG" sz="3200" dirty="0"/>
              <a:t> </a:t>
            </a:r>
            <a:r>
              <a:rPr lang="ar-EG" sz="3200" dirty="0" err="1"/>
              <a:t>indicates</a:t>
            </a:r>
            <a:r>
              <a:rPr lang="ar-EG" sz="3200" dirty="0"/>
              <a:t> that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increases</a:t>
            </a:r>
            <a:r>
              <a:rPr lang="ar-EG" sz="3200" dirty="0"/>
              <a:t> as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feature</a:t>
            </a:r>
            <a:r>
              <a:rPr lang="ar-EG" sz="3200" dirty="0"/>
              <a:t> </a:t>
            </a:r>
            <a:r>
              <a:rPr lang="ar-EG" sz="3200" dirty="0" err="1"/>
              <a:t>increases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negative</a:t>
            </a:r>
            <a:r>
              <a:rPr lang="ar-EG" sz="3200" dirty="0"/>
              <a:t> </a:t>
            </a:r>
            <a:r>
              <a:rPr lang="ar-EG" sz="3200" dirty="0" err="1"/>
              <a:t>slope</a:t>
            </a:r>
            <a:r>
              <a:rPr lang="ar-EG" sz="3200" dirty="0"/>
              <a:t> </a:t>
            </a:r>
            <a:r>
              <a:rPr lang="ar-EG" sz="3200" dirty="0" err="1"/>
              <a:t>indicates</a:t>
            </a:r>
            <a:r>
              <a:rPr lang="ar-EG" sz="3200" dirty="0"/>
              <a:t> that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decreases</a:t>
            </a:r>
            <a:r>
              <a:rPr lang="ar-EG" sz="3200" dirty="0"/>
              <a:t> as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feature</a:t>
            </a:r>
            <a:r>
              <a:rPr lang="ar-EG" sz="3200" dirty="0"/>
              <a:t> </a:t>
            </a:r>
            <a:r>
              <a:rPr lang="ar-EG" sz="3200" dirty="0" err="1"/>
              <a:t>increases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zero</a:t>
            </a:r>
            <a:r>
              <a:rPr lang="ar-EG" sz="3200" dirty="0"/>
              <a:t> </a:t>
            </a:r>
            <a:r>
              <a:rPr lang="ar-EG" sz="3200" dirty="0" err="1"/>
              <a:t>slope</a:t>
            </a:r>
            <a:r>
              <a:rPr lang="ar-EG" sz="3200" dirty="0"/>
              <a:t> </a:t>
            </a:r>
            <a:r>
              <a:rPr lang="ar-EG" sz="3200" dirty="0" err="1"/>
              <a:t>indicates</a:t>
            </a:r>
            <a:r>
              <a:rPr lang="ar-EG" sz="3200" dirty="0"/>
              <a:t> that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prediction</a:t>
            </a:r>
            <a:r>
              <a:rPr lang="ar-EG" sz="3200" dirty="0"/>
              <a:t> </a:t>
            </a:r>
            <a:r>
              <a:rPr lang="ar-EG" sz="3200" dirty="0" err="1"/>
              <a:t>does</a:t>
            </a:r>
            <a:r>
              <a:rPr lang="ar-EG" sz="3200" dirty="0"/>
              <a:t> </a:t>
            </a:r>
            <a:r>
              <a:rPr lang="ar-EG" sz="3200" dirty="0" err="1"/>
              <a:t>not</a:t>
            </a:r>
            <a:r>
              <a:rPr lang="ar-EG" sz="3200" dirty="0"/>
              <a:t> </a:t>
            </a:r>
            <a:r>
              <a:rPr lang="ar-EG" sz="3200" dirty="0" err="1"/>
              <a:t>change</a:t>
            </a:r>
            <a:r>
              <a:rPr lang="ar-EG" sz="3200" dirty="0"/>
              <a:t> with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feature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intercept</a:t>
            </a:r>
            <a:r>
              <a:rPr lang="ar-EG" sz="3200" dirty="0"/>
              <a:t> and </a:t>
            </a:r>
            <a:r>
              <a:rPr lang="ar-EG" sz="3200" dirty="0" err="1"/>
              <a:t>slope</a:t>
            </a:r>
            <a:r>
              <a:rPr lang="ar-EG" sz="3200" dirty="0"/>
              <a:t> are </a:t>
            </a:r>
            <a:r>
              <a:rPr lang="ar-EG" sz="3200" dirty="0" err="1"/>
              <a:t>estimated</a:t>
            </a:r>
            <a:r>
              <a:rPr lang="ar-EG" sz="3200" dirty="0"/>
              <a:t> </a:t>
            </a:r>
            <a:r>
              <a:rPr lang="ar-EG" sz="3200" dirty="0" err="1"/>
              <a:t>during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DABDAC-7E4D-1230-2EA8-5B2EE6CD5C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4656" y="3191119"/>
            <a:ext cx="2238687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69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93EE6-CE27-A085-F466-1D51807A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39B45D-231A-47A4-5D27-8A05E122E22D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60F326B-D5FA-9ED8-92C5-C1726C3E0914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02C4779-5C1A-DD08-1FAF-8B15A6E38497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EFA6583-F4BF-90A6-E157-BAB44168C7EF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B4EC233-86F2-5A0E-C8D7-69292A6AD9AC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E9A160C-2EF2-6067-8501-906AFFC2F8CA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EDBDAB8-2265-2A40-10FE-99F74794C5D8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2AD4D41-FF50-C1DF-14AB-F9117EB19ADC}"/>
              </a:ext>
            </a:extLst>
          </p:cNvPr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8BBE9F7-AD17-3F83-B5C8-CED6DF94C4B0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38C5B84-F7F9-E9B4-742E-B06B2413541D}"/>
              </a:ext>
            </a:extLst>
          </p:cNvPr>
          <p:cNvSpPr txBox="1"/>
          <p:nvPr/>
        </p:nvSpPr>
        <p:spPr>
          <a:xfrm>
            <a:off x="1358784" y="557212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Visualizing</a:t>
            </a:r>
            <a:r>
              <a:rPr lang="ar-EG" sz="6000" dirty="0"/>
              <a:t> </a:t>
            </a:r>
            <a:r>
              <a:rPr lang="ar-EG" sz="6000" dirty="0" err="1"/>
              <a:t>Linear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A5F26F-BCEE-B13D-1425-B2230BADE15F}"/>
              </a:ext>
            </a:extLst>
          </p:cNvPr>
          <p:cNvSpPr txBox="1"/>
          <p:nvPr/>
        </p:nvSpPr>
        <p:spPr>
          <a:xfrm>
            <a:off x="1680219" y="1981480"/>
            <a:ext cx="161363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3200" b="1" dirty="0" err="1"/>
              <a:t>The</a:t>
            </a:r>
            <a:r>
              <a:rPr lang="ar-EG" sz="3200" b="1" dirty="0"/>
              <a:t> </a:t>
            </a:r>
            <a:r>
              <a:rPr lang="ar-EG" sz="3200" b="1" dirty="0" err="1"/>
              <a:t>Best-Fit</a:t>
            </a:r>
            <a:r>
              <a:rPr lang="ar-EG" sz="3200" b="1" dirty="0"/>
              <a:t> </a:t>
            </a:r>
            <a:r>
              <a:rPr lang="ar-EG" sz="3200" b="1" dirty="0" err="1"/>
              <a:t>Line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represents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relationship</a:t>
            </a:r>
            <a:r>
              <a:rPr lang="ar-EG" sz="3200" dirty="0"/>
              <a:t> between an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</a:t>
            </a:r>
            <a:r>
              <a:rPr lang="ar-EG" sz="3200" dirty="0"/>
              <a:t> and a </a:t>
            </a: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variable</a:t>
            </a:r>
            <a:r>
              <a:rPr lang="ar-EG" sz="3200" dirty="0"/>
              <a:t> </a:t>
            </a:r>
            <a:r>
              <a:rPr lang="ar-EG" sz="3200" dirty="0" err="1"/>
              <a:t>using</a:t>
            </a:r>
            <a:r>
              <a:rPr lang="ar-EG" sz="3200" dirty="0"/>
              <a:t> a </a:t>
            </a:r>
            <a:r>
              <a:rPr lang="ar-EG" sz="3200" dirty="0" err="1"/>
              <a:t>straight</a:t>
            </a:r>
            <a:r>
              <a:rPr lang="ar-EG" sz="3200" dirty="0"/>
              <a:t> </a:t>
            </a:r>
            <a:r>
              <a:rPr lang="ar-EG" sz="3200" dirty="0" err="1"/>
              <a:t>line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Each</a:t>
            </a:r>
            <a:r>
              <a:rPr lang="ar-EG" sz="3200" dirty="0"/>
              <a:t> </a:t>
            </a:r>
            <a:r>
              <a:rPr lang="ar-EG" sz="3200" dirty="0" err="1"/>
              <a:t>point</a:t>
            </a:r>
            <a:r>
              <a:rPr lang="ar-EG" sz="3200" dirty="0"/>
              <a:t> </a:t>
            </a:r>
            <a:r>
              <a:rPr lang="ar-EG" sz="3200" dirty="0" err="1"/>
              <a:t>in</a:t>
            </a:r>
            <a:r>
              <a:rPr lang="ar-EG" sz="3200" dirty="0"/>
              <a:t> a </a:t>
            </a:r>
            <a:r>
              <a:rPr lang="ar-EG" sz="3200" dirty="0" err="1"/>
              <a:t>scatter</a:t>
            </a:r>
            <a:r>
              <a:rPr lang="ar-EG" sz="3200" dirty="0"/>
              <a:t> </a:t>
            </a:r>
            <a:r>
              <a:rPr lang="ar-EG" sz="3200" dirty="0" err="1"/>
              <a:t>plot</a:t>
            </a:r>
            <a:r>
              <a:rPr lang="ar-EG" sz="3200" dirty="0"/>
              <a:t> </a:t>
            </a:r>
            <a:r>
              <a:rPr lang="ar-EG" sz="3200" dirty="0" err="1"/>
              <a:t>represents</a:t>
            </a:r>
            <a:r>
              <a:rPr lang="ar-EG" sz="3200" dirty="0"/>
              <a:t> an </a:t>
            </a:r>
            <a:r>
              <a:rPr lang="ar-EG" sz="3200" dirty="0" err="1"/>
              <a:t>observed</a:t>
            </a:r>
            <a:r>
              <a:rPr lang="ar-EG" sz="3200" dirty="0"/>
              <a:t> data </a:t>
            </a:r>
            <a:r>
              <a:rPr lang="ar-EG" sz="3200" dirty="0" err="1"/>
              <a:t>sample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vertical</a:t>
            </a:r>
            <a:r>
              <a:rPr lang="ar-EG" sz="3200" dirty="0"/>
              <a:t> </a:t>
            </a:r>
            <a:r>
              <a:rPr lang="ar-EG" sz="3200" dirty="0" err="1"/>
              <a:t>distance</a:t>
            </a:r>
            <a:r>
              <a:rPr lang="ar-EG" sz="3200" dirty="0"/>
              <a:t> between an </a:t>
            </a:r>
            <a:r>
              <a:rPr lang="ar-EG" sz="3200" dirty="0" err="1"/>
              <a:t>observed</a:t>
            </a:r>
            <a:r>
              <a:rPr lang="ar-EG" sz="3200" dirty="0"/>
              <a:t> </a:t>
            </a:r>
            <a:r>
              <a:rPr lang="ar-EG" sz="3200" dirty="0" err="1"/>
              <a:t>point</a:t>
            </a:r>
            <a:r>
              <a:rPr lang="ar-EG" sz="3200" dirty="0"/>
              <a:t> and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line</a:t>
            </a:r>
            <a:r>
              <a:rPr lang="ar-EG" sz="3200" dirty="0"/>
              <a:t> </a:t>
            </a:r>
            <a:r>
              <a:rPr lang="ar-EG" sz="3200" dirty="0" err="1"/>
              <a:t>represents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prediction</a:t>
            </a:r>
            <a:r>
              <a:rPr lang="ar-EG" sz="3200" dirty="0"/>
              <a:t> </a:t>
            </a:r>
            <a:r>
              <a:rPr lang="ar-EG" sz="3200" dirty="0" err="1"/>
              <a:t>error</a:t>
            </a:r>
            <a:r>
              <a:rPr lang="ar-EG" sz="3200" dirty="0"/>
              <a:t>, </a:t>
            </a:r>
            <a:r>
              <a:rPr lang="ar-EG" sz="3200" dirty="0" err="1"/>
              <a:t>called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residual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estimates</a:t>
            </a:r>
            <a:r>
              <a:rPr lang="ar-EG" sz="3200" dirty="0"/>
              <a:t> a </a:t>
            </a:r>
            <a:r>
              <a:rPr lang="ar-EG" sz="3200" dirty="0" err="1"/>
              <a:t>line</a:t>
            </a:r>
            <a:r>
              <a:rPr lang="ar-EG" sz="3200" dirty="0"/>
              <a:t> that </a:t>
            </a:r>
            <a:r>
              <a:rPr lang="ar-EG" sz="3200" dirty="0" err="1"/>
              <a:t>minimizes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sum</a:t>
            </a:r>
            <a:r>
              <a:rPr lang="ar-EG" sz="3200" dirty="0"/>
              <a:t> of </a:t>
            </a:r>
            <a:r>
              <a:rPr lang="ar-EG" sz="3200" dirty="0" err="1"/>
              <a:t>squared</a:t>
            </a:r>
            <a:r>
              <a:rPr lang="ar-EG" sz="3200" dirty="0"/>
              <a:t> </a:t>
            </a:r>
            <a:r>
              <a:rPr lang="ar-EG" sz="3200" dirty="0" err="1"/>
              <a:t>residuals</a:t>
            </a:r>
            <a:r>
              <a:rPr lang="ar-EG" sz="3200" dirty="0"/>
              <a:t> </a:t>
            </a:r>
            <a:r>
              <a:rPr lang="ar-EG" sz="3200" dirty="0" err="1"/>
              <a:t>when</a:t>
            </a:r>
            <a:r>
              <a:rPr lang="ar-EG" sz="3200" dirty="0"/>
              <a:t> </a:t>
            </a:r>
            <a:r>
              <a:rPr lang="ar-EG" sz="3200" dirty="0" err="1"/>
              <a:t>using</a:t>
            </a:r>
            <a:r>
              <a:rPr lang="ar-EG" sz="3200" dirty="0"/>
              <a:t> </a:t>
            </a:r>
            <a:r>
              <a:rPr lang="ar-EG" sz="3200" dirty="0" err="1"/>
              <a:t>Ordinary</a:t>
            </a:r>
            <a:r>
              <a:rPr lang="ar-EG" sz="3200" dirty="0"/>
              <a:t> </a:t>
            </a:r>
            <a:r>
              <a:rPr lang="ar-EG" sz="3200" dirty="0" err="1"/>
              <a:t>Least</a:t>
            </a:r>
            <a:r>
              <a:rPr lang="ar-EG" sz="3200" dirty="0"/>
              <a:t> </a:t>
            </a:r>
            <a:r>
              <a:rPr lang="ar-EG" sz="3200" dirty="0" err="1"/>
              <a:t>Squares</a:t>
            </a:r>
            <a:r>
              <a:rPr lang="ar-EG" sz="3200" dirty="0"/>
              <a:t> (OLS).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fitted</a:t>
            </a:r>
            <a:r>
              <a:rPr lang="ar-EG" sz="3200" dirty="0"/>
              <a:t> </a:t>
            </a:r>
            <a:r>
              <a:rPr lang="ar-EG" sz="3200" dirty="0" err="1"/>
              <a:t>line</a:t>
            </a:r>
            <a:r>
              <a:rPr lang="ar-EG" sz="3200" dirty="0"/>
              <a:t> can then be </a:t>
            </a:r>
            <a:r>
              <a:rPr lang="ar-EG" sz="3200" dirty="0" err="1"/>
              <a:t>used</a:t>
            </a:r>
            <a:r>
              <a:rPr lang="ar-EG" sz="3200" dirty="0"/>
              <a:t> to </a:t>
            </a:r>
            <a:r>
              <a:rPr lang="ar-EG" sz="3200" dirty="0" err="1"/>
              <a:t>predict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values</a:t>
            </a:r>
            <a:r>
              <a:rPr lang="ar-EG" sz="3200" dirty="0"/>
              <a:t> for new </a:t>
            </a:r>
            <a:r>
              <a:rPr lang="ar-EG" sz="3200" dirty="0" err="1"/>
              <a:t>observations</a:t>
            </a:r>
            <a:r>
              <a:rPr lang="ar-EG" sz="3200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0E2E5C-C6AF-779B-41AD-5CF4841F76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7760" y="6596904"/>
            <a:ext cx="3872480" cy="353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5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91901-5A2E-90C8-316D-1B4A6841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CF75265-F03B-8A11-80F7-6BA9ED446D1A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D09A337-B1FA-3BA1-83A1-C83D23E8826C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13242C0-4CA5-C361-3247-60E863EA0C73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175009D-C568-0E5F-745F-36A1B108EC7E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611850E-BE36-7285-63EC-CE0C6C84F3D0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21A1D58-21BF-3126-92B4-26EC32D34E46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E842FBF-561B-8B6A-9364-B0E0EB15CAD7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4B4C618-EC58-BE88-DFE9-B38835501AA7}"/>
              </a:ext>
            </a:extLst>
          </p:cNvPr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6318C94-0D40-8CD1-F05D-1EDEE501C5CC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1AB3AEE-F983-40F7-9F1D-AFFCF3C9480B}"/>
              </a:ext>
            </a:extLst>
          </p:cNvPr>
          <p:cNvSpPr txBox="1"/>
          <p:nvPr/>
        </p:nvSpPr>
        <p:spPr>
          <a:xfrm>
            <a:off x="1358784" y="557212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Linear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r>
              <a:rPr lang="ar-EG" sz="6000" dirty="0"/>
              <a:t> Model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pic>
        <p:nvPicPr>
          <p:cNvPr id="12" name="Picture 11" descr="Linear Regression: The Straightforward Path to Predicting the Future | by KararHaiderDeepVision | Medium">
            <a:extLst>
              <a:ext uri="{FF2B5EF4-FFF2-40B4-BE49-F238E27FC236}">
                <a16:creationId xmlns:a16="http://schemas.microsoft.com/office/drawing/2014/main" id="{1392BCF6-29A2-0546-4A80-31FFDFE74C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0562" y="1724484"/>
            <a:ext cx="9286875" cy="822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283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81C94-8841-86F7-2666-D38B8BB94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57928E-C9F0-EA2D-98FA-CD00C681DC4A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EDAC682-D3E0-6478-1DE2-A4422DD44E34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600EB19-7A1B-DBB3-3522-22C2CB17CEBF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633BB98-3666-85AA-3A8C-73953A4325E5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1E19B60-B55A-B9EA-6788-314C91A06EF3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2FC4A90-EABF-D8E0-3D94-09D0B17DD1D4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EE08625-4234-F247-82F1-D834ACB8BA83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1B864E8-F35B-F10E-D026-B7A126066C19}"/>
              </a:ext>
            </a:extLst>
          </p:cNvPr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87697A8-304E-EC7C-F425-0A09CDAE2BA7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6B1694D-37F8-4268-A848-4AE286E8D4F0}"/>
              </a:ext>
            </a:extLst>
          </p:cNvPr>
          <p:cNvSpPr txBox="1"/>
          <p:nvPr/>
        </p:nvSpPr>
        <p:spPr>
          <a:xfrm>
            <a:off x="1358784" y="557212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/>
              <a:t>Model </a:t>
            </a:r>
            <a:r>
              <a:rPr lang="ar-EG" sz="6000" dirty="0" err="1"/>
              <a:t>Parameters</a:t>
            </a:r>
            <a:r>
              <a:rPr lang="ar-EG" sz="6000" dirty="0"/>
              <a:t>: </a:t>
            </a:r>
            <a:r>
              <a:rPr lang="ar-EG" sz="6000" dirty="0" err="1"/>
              <a:t>Slope</a:t>
            </a:r>
            <a:r>
              <a:rPr lang="ar-EG" sz="6000" dirty="0"/>
              <a:t> and </a:t>
            </a:r>
            <a:r>
              <a:rPr lang="ar-EG" sz="6000" dirty="0" err="1"/>
              <a:t>Intercept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6A2516-A631-1585-1DDB-CA24015CBFF8}"/>
              </a:ext>
            </a:extLst>
          </p:cNvPr>
          <p:cNvSpPr txBox="1"/>
          <p:nvPr/>
        </p:nvSpPr>
        <p:spPr>
          <a:xfrm>
            <a:off x="1680219" y="1981480"/>
            <a:ext cx="16136379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3200" b="1" dirty="0" err="1"/>
              <a:t>The</a:t>
            </a:r>
            <a:r>
              <a:rPr lang="ar-EG" sz="3200" b="1" dirty="0"/>
              <a:t> </a:t>
            </a:r>
            <a:r>
              <a:rPr lang="ar-EG" sz="3200" b="1" dirty="0" err="1"/>
              <a:t>Role</a:t>
            </a:r>
            <a:r>
              <a:rPr lang="ar-EG" sz="3200" b="1" dirty="0"/>
              <a:t> of </a:t>
            </a:r>
            <a:r>
              <a:rPr lang="ar-EG" sz="3200" b="1" dirty="0" err="1"/>
              <a:t>the</a:t>
            </a:r>
            <a:r>
              <a:rPr lang="ar-EG" sz="3200" b="1" dirty="0"/>
              <a:t> Model </a:t>
            </a:r>
            <a:r>
              <a:rPr lang="ar-EG" sz="3200" b="1" dirty="0" err="1"/>
              <a:t>Parameters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slope</a:t>
            </a:r>
            <a:r>
              <a:rPr lang="ar-EG" sz="3200" dirty="0"/>
              <a:t> </a:t>
            </a:r>
            <a:r>
              <a:rPr lang="en-US" sz="3200" dirty="0"/>
              <a:t>b1</a:t>
            </a:r>
            <a:r>
              <a:rPr lang="ar-EG" sz="3200" dirty="0"/>
              <a:t> </a:t>
            </a:r>
            <a:r>
              <a:rPr lang="ar-EG" sz="3200" dirty="0" err="1"/>
              <a:t>determines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direction</a:t>
            </a:r>
            <a:r>
              <a:rPr lang="ar-EG" sz="3200" dirty="0"/>
              <a:t> and </a:t>
            </a:r>
            <a:r>
              <a:rPr lang="ar-EG" sz="3200" dirty="0" err="1"/>
              <a:t>rate</a:t>
            </a:r>
            <a:r>
              <a:rPr lang="ar-EG" sz="3200" dirty="0"/>
              <a:t> of </a:t>
            </a:r>
            <a:r>
              <a:rPr lang="ar-EG" sz="3200" dirty="0" err="1"/>
              <a:t>change</a:t>
            </a:r>
            <a:r>
              <a:rPr lang="ar-EG" sz="3200" dirty="0"/>
              <a:t> </a:t>
            </a: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intercept</a:t>
            </a:r>
            <a:r>
              <a:rPr lang="ar-EG" sz="3200" dirty="0"/>
              <a:t> </a:t>
            </a:r>
            <a:r>
              <a:rPr lang="en-US" sz="3200" dirty="0"/>
              <a:t>b0 </a:t>
            </a:r>
            <a:r>
              <a:rPr lang="ar-EG" sz="3200" dirty="0" err="1"/>
              <a:t>determines</a:t>
            </a:r>
            <a:r>
              <a:rPr lang="ar-EG" sz="3200" dirty="0"/>
              <a:t> </a:t>
            </a:r>
            <a:r>
              <a:rPr lang="ar-EG" sz="3200" dirty="0" err="1"/>
              <a:t>where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line</a:t>
            </a:r>
            <a:r>
              <a:rPr lang="ar-EG" sz="3200" dirty="0"/>
              <a:t> </a:t>
            </a:r>
            <a:r>
              <a:rPr lang="ar-EG" sz="3200" dirty="0" err="1"/>
              <a:t>crosses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vertical</a:t>
            </a:r>
            <a:r>
              <a:rPr lang="ar-EG" sz="3200" dirty="0"/>
              <a:t> </a:t>
            </a:r>
            <a:r>
              <a:rPr lang="ar-EG" sz="3200" dirty="0" err="1"/>
              <a:t>axis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Both</a:t>
            </a:r>
            <a:r>
              <a:rPr lang="ar-EG" sz="3200" dirty="0"/>
              <a:t> </a:t>
            </a:r>
            <a:r>
              <a:rPr lang="ar-EG" sz="3200" dirty="0" err="1"/>
              <a:t>parameters</a:t>
            </a:r>
            <a:r>
              <a:rPr lang="ar-EG" sz="3200" dirty="0"/>
              <a:t> </a:t>
            </a:r>
            <a:r>
              <a:rPr lang="ar-EG" sz="3200" dirty="0" err="1"/>
              <a:t>affect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position</a:t>
            </a:r>
            <a:r>
              <a:rPr lang="ar-EG" sz="3200" dirty="0"/>
              <a:t> and </a:t>
            </a:r>
            <a:r>
              <a:rPr lang="ar-EG" sz="3200" dirty="0" err="1"/>
              <a:t>orientation</a:t>
            </a:r>
            <a:r>
              <a:rPr lang="ar-EG" sz="3200" dirty="0"/>
              <a:t> of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line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learning </a:t>
            </a:r>
            <a:r>
              <a:rPr lang="ar-EG" sz="3200" dirty="0" err="1"/>
              <a:t>process</a:t>
            </a:r>
            <a:r>
              <a:rPr lang="ar-EG" sz="3200" dirty="0"/>
              <a:t> </a:t>
            </a:r>
            <a:r>
              <a:rPr lang="ar-EG" sz="3200" dirty="0" err="1"/>
              <a:t>estimates</a:t>
            </a:r>
            <a:r>
              <a:rPr lang="ar-EG" sz="3200" dirty="0"/>
              <a:t> these </a:t>
            </a:r>
            <a:r>
              <a:rPr lang="ar-EG" sz="3200" dirty="0" err="1"/>
              <a:t>parameters</a:t>
            </a:r>
            <a:r>
              <a:rPr lang="ar-EG" sz="3200" dirty="0"/>
              <a:t> </a:t>
            </a:r>
            <a:r>
              <a:rPr lang="ar-EG" sz="3200" dirty="0" err="1"/>
              <a:t>from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 data.</a:t>
            </a:r>
            <a:endParaRPr lang="en-US" sz="3200" dirty="0"/>
          </a:p>
          <a:p>
            <a:r>
              <a:rPr lang="ar-EG" sz="3200" dirty="0" err="1"/>
              <a:t>Suppose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learned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is:</a:t>
            </a:r>
          </a:p>
          <a:p>
            <a:pPr algn="ctr"/>
            <a:r>
              <a:rPr lang="en-US" sz="3200" dirty="0"/>
              <a:t>Y = 40 +8x</a:t>
            </a:r>
            <a:endParaRPr lang="ar-EG" sz="3200" dirty="0"/>
          </a:p>
          <a:p>
            <a:r>
              <a:rPr lang="ar-EG" sz="3200" dirty="0"/>
              <a:t>For a </a:t>
            </a:r>
            <a:r>
              <a:rPr lang="ar-EG" sz="3200" dirty="0" err="1"/>
              <a:t>student</a:t>
            </a:r>
            <a:r>
              <a:rPr lang="ar-EG" sz="3200" dirty="0"/>
              <a:t> </a:t>
            </a:r>
            <a:r>
              <a:rPr lang="ar-EG" sz="3200" dirty="0" err="1"/>
              <a:t>who</a:t>
            </a:r>
            <a:r>
              <a:rPr lang="ar-EG" sz="3200" dirty="0"/>
              <a:t> </a:t>
            </a:r>
            <a:r>
              <a:rPr lang="ar-EG" sz="3200" dirty="0" err="1"/>
              <a:t>studies</a:t>
            </a:r>
            <a:r>
              <a:rPr lang="ar-EG" sz="3200" dirty="0"/>
              <a:t> for </a:t>
            </a:r>
            <a:r>
              <a:rPr lang="ar-EG" sz="3200" dirty="0" err="1"/>
              <a:t>five</a:t>
            </a:r>
            <a:r>
              <a:rPr lang="ar-EG" sz="3200" dirty="0"/>
              <a:t> </a:t>
            </a:r>
            <a:r>
              <a:rPr lang="ar-EG" sz="3200" dirty="0" err="1"/>
              <a:t>hours</a:t>
            </a:r>
            <a:r>
              <a:rPr lang="ar-EG" sz="3200" dirty="0"/>
              <a:t>:</a:t>
            </a:r>
            <a:endParaRPr lang="en-US" sz="3200" dirty="0"/>
          </a:p>
          <a:p>
            <a:pPr algn="ctr"/>
            <a:r>
              <a:rPr lang="en-US" sz="3200" dirty="0"/>
              <a:t>Y = 40+8*5 = 80</a:t>
            </a:r>
            <a:endParaRPr lang="ar-EG" sz="3200" dirty="0"/>
          </a:p>
          <a:p>
            <a:pPr lvl="0"/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intercept</a:t>
            </a:r>
            <a:r>
              <a:rPr lang="ar-EG" sz="3200" dirty="0"/>
              <a:t> is 40.</a:t>
            </a:r>
            <a:r>
              <a:rPr lang="en-US" sz="3200" dirty="0"/>
              <a:t>,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slope</a:t>
            </a:r>
            <a:r>
              <a:rPr lang="ar-EG" sz="3200" dirty="0"/>
              <a:t> is 8.</a:t>
            </a:r>
          </a:p>
          <a:p>
            <a:pPr lvl="0"/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exam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is 80.</a:t>
            </a:r>
          </a:p>
          <a:p>
            <a:r>
              <a:rPr lang="ar-EG" sz="3200" b="1" dirty="0" err="1"/>
              <a:t>Interpretatio</a:t>
            </a:r>
            <a:r>
              <a:rPr lang="en-US" sz="3200" b="1" dirty="0"/>
              <a:t>n: </a:t>
            </a:r>
            <a:r>
              <a:rPr lang="en-US" sz="3200" dirty="0"/>
              <a:t>According to this model, each additional study hour is associated with an increase of 8 points in the predicted score. This interpretation describes the fitted model and does not establish causation.</a:t>
            </a:r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71185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E1256-D836-230A-6CEE-08DCD3E9D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45128C-9C32-18A9-E534-71CB45EF6FB5}"/>
              </a:ext>
            </a:extLst>
          </p:cNvPr>
          <p:cNvSpPr/>
          <p:nvPr/>
        </p:nvSpPr>
        <p:spPr>
          <a:xfrm rot="-2700000">
            <a:off x="-1728006" y="7952100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DA0DD9F-7CD7-E962-1C42-4B7E194F587C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DFABC6A-A951-9313-C6E6-719FC08F48C5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898C5A2-3963-20A6-7A53-49347D774838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50375EC-2CE6-55E7-0001-85ACF64BDF7D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1EA9C39-4C9D-DF12-9B6E-BB28672C0106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70DE93A-4438-269B-D09B-7B57DAD59DC8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7091F0F-702F-2A4D-3EE0-D0568FB90721}"/>
              </a:ext>
            </a:extLst>
          </p:cNvPr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CEE5D79-5931-3D64-5B32-4C842B5278FE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5E2AC9-6A96-D937-6477-404BDF0B7A41}"/>
              </a:ext>
            </a:extLst>
          </p:cNvPr>
          <p:cNvSpPr txBox="1"/>
          <p:nvPr/>
        </p:nvSpPr>
        <p:spPr>
          <a:xfrm>
            <a:off x="1358784" y="557212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Prediction</a:t>
            </a:r>
            <a:r>
              <a:rPr lang="ar-EG" sz="6000" dirty="0"/>
              <a:t> </a:t>
            </a:r>
            <a:r>
              <a:rPr lang="ar-EG" sz="6000" dirty="0" err="1"/>
              <a:t>Errors</a:t>
            </a:r>
            <a:r>
              <a:rPr lang="ar-EG" sz="6000" dirty="0"/>
              <a:t> and </a:t>
            </a:r>
            <a:r>
              <a:rPr lang="ar-EG" sz="6000" dirty="0" err="1"/>
              <a:t>Residuals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C07907-2277-8CF5-1DA6-769627758D02}"/>
              </a:ext>
            </a:extLst>
          </p:cNvPr>
          <p:cNvSpPr txBox="1"/>
          <p:nvPr/>
        </p:nvSpPr>
        <p:spPr>
          <a:xfrm>
            <a:off x="1680219" y="1826701"/>
            <a:ext cx="16136379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3200" b="1" dirty="0"/>
              <a:t>Understanding </a:t>
            </a:r>
            <a:r>
              <a:rPr lang="ar-EG" sz="3200" b="1" dirty="0" err="1"/>
              <a:t>Residuals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prediction</a:t>
            </a:r>
            <a:r>
              <a:rPr lang="ar-EG" sz="3200" dirty="0"/>
              <a:t> </a:t>
            </a:r>
            <a:r>
              <a:rPr lang="ar-EG" sz="3200" dirty="0" err="1"/>
              <a:t>error</a:t>
            </a:r>
            <a:r>
              <a:rPr lang="ar-EG" sz="3200" dirty="0"/>
              <a:t> </a:t>
            </a:r>
            <a:r>
              <a:rPr lang="ar-EG" sz="3200" dirty="0" err="1"/>
              <a:t>occurs</a:t>
            </a:r>
            <a:r>
              <a:rPr lang="ar-EG" sz="3200" dirty="0"/>
              <a:t> </a:t>
            </a:r>
            <a:r>
              <a:rPr lang="ar-EG" sz="3200" dirty="0" err="1"/>
              <a:t>when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 </a:t>
            </a:r>
            <a:r>
              <a:rPr lang="ar-EG" sz="3200" dirty="0" err="1"/>
              <a:t>differs</a:t>
            </a:r>
            <a:r>
              <a:rPr lang="ar-EG" sz="3200" dirty="0"/>
              <a:t> </a:t>
            </a:r>
            <a:r>
              <a:rPr lang="ar-EG" sz="3200" dirty="0" err="1"/>
              <a:t>from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actual</a:t>
            </a:r>
            <a:r>
              <a:rPr lang="ar-EG" sz="3200" dirty="0"/>
              <a:t> </a:t>
            </a:r>
            <a:r>
              <a:rPr lang="ar-EG" sz="3200" dirty="0" err="1"/>
              <a:t>observed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residual</a:t>
            </a:r>
            <a:r>
              <a:rPr lang="ar-EG" sz="3200" dirty="0"/>
              <a:t> is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difference</a:t>
            </a:r>
            <a:r>
              <a:rPr lang="ar-EG" sz="3200" dirty="0"/>
              <a:t> between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actual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 and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Residuals</a:t>
            </a:r>
            <a:r>
              <a:rPr lang="ar-EG" sz="3200" dirty="0"/>
              <a:t> </a:t>
            </a:r>
            <a:r>
              <a:rPr lang="ar-EG" sz="3200" dirty="0" err="1"/>
              <a:t>help</a:t>
            </a:r>
            <a:r>
              <a:rPr lang="ar-EG" sz="3200" dirty="0"/>
              <a:t> </a:t>
            </a:r>
            <a:r>
              <a:rPr lang="ar-EG" sz="3200" dirty="0" err="1"/>
              <a:t>measure</a:t>
            </a:r>
            <a:r>
              <a:rPr lang="ar-EG" sz="3200" dirty="0"/>
              <a:t> </a:t>
            </a:r>
            <a:r>
              <a:rPr lang="ar-EG" sz="3200" dirty="0" err="1"/>
              <a:t>how</a:t>
            </a:r>
            <a:r>
              <a:rPr lang="ar-EG" sz="3200" dirty="0"/>
              <a:t> </a:t>
            </a:r>
            <a:r>
              <a:rPr lang="ar-EG" sz="3200" dirty="0" err="1"/>
              <a:t>closely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fits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observed</a:t>
            </a:r>
            <a:r>
              <a:rPr lang="ar-EG" sz="3200" dirty="0"/>
              <a:t> data.</a:t>
            </a:r>
          </a:p>
          <a:p>
            <a:endParaRPr lang="ar-EG" sz="3200" dirty="0"/>
          </a:p>
          <a:p>
            <a:endParaRPr lang="ar-EG" sz="3200" dirty="0"/>
          </a:p>
          <a:p>
            <a:r>
              <a:rPr lang="ar-EG" sz="3200" dirty="0" err="1"/>
              <a:t>Example</a:t>
            </a:r>
            <a:endParaRPr lang="ar-EG" sz="3200" dirty="0"/>
          </a:p>
          <a:p>
            <a:r>
              <a:rPr lang="ar-EG" sz="3200" dirty="0"/>
              <a:t>If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actual</a:t>
            </a:r>
            <a:r>
              <a:rPr lang="ar-EG" sz="3200" dirty="0"/>
              <a:t> </a:t>
            </a:r>
            <a:r>
              <a:rPr lang="ar-EG" sz="3200" dirty="0" err="1"/>
              <a:t>exam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is 65 and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is 64:</a:t>
            </a:r>
          </a:p>
          <a:p>
            <a:pPr algn="ctr"/>
            <a:r>
              <a:rPr lang="en-US" sz="3200" dirty="0"/>
              <a:t>E = 65 – 64 = 1</a:t>
            </a:r>
            <a:endParaRPr lang="ar-EG" sz="3200" dirty="0"/>
          </a:p>
          <a:p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underestimates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by </a:t>
            </a:r>
            <a:r>
              <a:rPr lang="ar-EG" sz="3200" dirty="0" err="1"/>
              <a:t>one</a:t>
            </a:r>
            <a:r>
              <a:rPr lang="ar-EG" sz="3200" dirty="0"/>
              <a:t> </a:t>
            </a:r>
            <a:r>
              <a:rPr lang="ar-EG" sz="3200" dirty="0" err="1"/>
              <a:t>point</a:t>
            </a:r>
            <a:r>
              <a:rPr lang="ar-EG" sz="3200" dirty="0"/>
              <a:t>.</a:t>
            </a:r>
          </a:p>
          <a:p>
            <a:r>
              <a:rPr lang="ar-EG" sz="3200" dirty="0"/>
              <a:t>If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is 70:</a:t>
            </a:r>
          </a:p>
          <a:p>
            <a:pPr algn="ctr"/>
            <a:r>
              <a:rPr lang="en-US" sz="3200" dirty="0"/>
              <a:t>E = 65 – 70 = -5 </a:t>
            </a:r>
            <a:endParaRPr lang="ar-EG" sz="3200" dirty="0"/>
          </a:p>
          <a:p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overestimates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by </a:t>
            </a:r>
            <a:r>
              <a:rPr lang="ar-EG" sz="3200" dirty="0" err="1"/>
              <a:t>five</a:t>
            </a:r>
            <a:r>
              <a:rPr lang="ar-EG" sz="3200" dirty="0"/>
              <a:t> </a:t>
            </a:r>
            <a:r>
              <a:rPr lang="ar-EG" sz="3200" dirty="0" err="1"/>
              <a:t>points</a:t>
            </a:r>
            <a:r>
              <a:rPr lang="ar-EG" sz="3200" dirty="0"/>
              <a:t>.</a:t>
            </a:r>
          </a:p>
          <a:p>
            <a:r>
              <a:rPr lang="ar-EG" sz="3200" b="1" dirty="0" err="1"/>
              <a:t>Key</a:t>
            </a:r>
            <a:r>
              <a:rPr lang="ar-EG" sz="3200" b="1" dirty="0"/>
              <a:t> </a:t>
            </a:r>
            <a:r>
              <a:rPr lang="ar-EG" sz="3200" b="1" dirty="0" err="1"/>
              <a:t>Point</a:t>
            </a:r>
            <a:r>
              <a:rPr lang="ar-EG" sz="3200" dirty="0"/>
              <a:t>: A </a:t>
            </a:r>
            <a:r>
              <a:rPr lang="ar-EG" sz="3200" dirty="0" err="1"/>
              <a:t>positive</a:t>
            </a:r>
            <a:r>
              <a:rPr lang="ar-EG" sz="3200" dirty="0"/>
              <a:t> </a:t>
            </a:r>
            <a:r>
              <a:rPr lang="ar-EG" sz="3200" dirty="0" err="1"/>
              <a:t>residual</a:t>
            </a:r>
            <a:r>
              <a:rPr lang="ar-EG" sz="3200" dirty="0"/>
              <a:t> </a:t>
            </a:r>
            <a:r>
              <a:rPr lang="ar-EG" sz="3200" dirty="0" err="1"/>
              <a:t>indicates</a:t>
            </a:r>
            <a:r>
              <a:rPr lang="ar-EG" sz="3200" dirty="0"/>
              <a:t> </a:t>
            </a:r>
            <a:r>
              <a:rPr lang="ar-EG" sz="3200" dirty="0" err="1"/>
              <a:t>underprediction</a:t>
            </a:r>
            <a:r>
              <a:rPr lang="ar-EG" sz="3200" dirty="0"/>
              <a:t>, </a:t>
            </a:r>
            <a:r>
              <a:rPr lang="ar-EG" sz="3200" dirty="0" err="1"/>
              <a:t>while</a:t>
            </a:r>
            <a:r>
              <a:rPr lang="ar-EG" sz="3200" dirty="0"/>
              <a:t> a </a:t>
            </a:r>
            <a:r>
              <a:rPr lang="ar-EG" sz="3200" dirty="0" err="1"/>
              <a:t>negative</a:t>
            </a:r>
            <a:r>
              <a:rPr lang="ar-EG" sz="3200" dirty="0"/>
              <a:t> </a:t>
            </a:r>
            <a:r>
              <a:rPr lang="ar-EG" sz="3200" dirty="0" err="1"/>
              <a:t>residual</a:t>
            </a:r>
            <a:r>
              <a:rPr lang="ar-EG" sz="3200" dirty="0"/>
              <a:t> </a:t>
            </a:r>
            <a:r>
              <a:rPr lang="ar-EG" sz="3200" dirty="0" err="1"/>
              <a:t>indicates</a:t>
            </a:r>
            <a:r>
              <a:rPr lang="ar-EG" sz="3200" dirty="0"/>
              <a:t> </a:t>
            </a:r>
            <a:r>
              <a:rPr lang="ar-EG" sz="3200" dirty="0" err="1"/>
              <a:t>overprediction</a:t>
            </a:r>
            <a:r>
              <a:rPr lang="ar-EG" sz="3200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BF1B6F-356F-07C7-C7E1-33212417B1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5287" y="4152900"/>
            <a:ext cx="225742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1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587D3-912E-48B1-FF58-8F69E02D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FF4BF0-4089-AF92-26E9-19400BCAB95B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BC21565-60F2-054D-887A-42D34566C2E1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97DBC5B-6959-4082-57B5-B25E8811E0DA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35414A4-FDEA-B513-610E-CBD8A8E38A48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79421D7-C228-4184-E507-361A6C0168F1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A9E6D5B-8AC6-7102-99F7-75F08FCE2009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84012A2-C7E8-F402-907D-71425F4ECB94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7716052-F591-04FF-6337-437351028505}"/>
              </a:ext>
            </a:extLst>
          </p:cNvPr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AE976B4-618D-6324-0182-026B4736CA40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3CE8619-D91C-BCA8-9BBA-484E0D32D178}"/>
              </a:ext>
            </a:extLst>
          </p:cNvPr>
          <p:cNvSpPr txBox="1"/>
          <p:nvPr/>
        </p:nvSpPr>
        <p:spPr>
          <a:xfrm>
            <a:off x="1358784" y="557212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Least</a:t>
            </a:r>
            <a:r>
              <a:rPr lang="ar-EG" sz="6000" dirty="0"/>
              <a:t> </a:t>
            </a:r>
            <a:r>
              <a:rPr lang="ar-EG" sz="6000" dirty="0" err="1"/>
              <a:t>Squares</a:t>
            </a:r>
            <a:r>
              <a:rPr lang="ar-EG" sz="6000" dirty="0"/>
              <a:t> </a:t>
            </a:r>
            <a:r>
              <a:rPr lang="ar-EG" sz="6000" dirty="0" err="1"/>
              <a:t>Objective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2372F-50CC-1F89-D61E-0451145EF1E5}"/>
              </a:ext>
            </a:extLst>
          </p:cNvPr>
          <p:cNvSpPr txBox="1"/>
          <p:nvPr/>
        </p:nvSpPr>
        <p:spPr>
          <a:xfrm>
            <a:off x="1680219" y="1707759"/>
            <a:ext cx="16136379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3200" b="1" dirty="0" err="1"/>
              <a:t>How</a:t>
            </a:r>
            <a:r>
              <a:rPr lang="ar-EG" sz="3200" b="1" dirty="0"/>
              <a:t> </a:t>
            </a:r>
            <a:r>
              <a:rPr lang="ar-EG" sz="3200" b="1" dirty="0" err="1"/>
              <a:t>Does</a:t>
            </a:r>
            <a:r>
              <a:rPr lang="ar-EG" sz="3200" b="1" dirty="0"/>
              <a:t> </a:t>
            </a:r>
            <a:r>
              <a:rPr lang="ar-EG" sz="3200" b="1" dirty="0" err="1"/>
              <a:t>Linear</a:t>
            </a:r>
            <a:r>
              <a:rPr lang="ar-EG" sz="3200" b="1" dirty="0"/>
              <a:t> </a:t>
            </a:r>
            <a:r>
              <a:rPr lang="ar-EG" sz="3200" b="1" dirty="0" err="1"/>
              <a:t>Regression</a:t>
            </a:r>
            <a:r>
              <a:rPr lang="ar-EG" sz="3200" b="1" dirty="0"/>
              <a:t> </a:t>
            </a:r>
            <a:r>
              <a:rPr lang="ar-EG" sz="3200" b="1" dirty="0" err="1"/>
              <a:t>Find</a:t>
            </a:r>
            <a:r>
              <a:rPr lang="ar-EG" sz="3200" b="1" dirty="0"/>
              <a:t> </a:t>
            </a:r>
            <a:r>
              <a:rPr lang="ar-EG" sz="3200" b="1" dirty="0" err="1"/>
              <a:t>the</a:t>
            </a:r>
            <a:r>
              <a:rPr lang="ar-EG" sz="3200" b="1" dirty="0"/>
              <a:t> </a:t>
            </a:r>
            <a:r>
              <a:rPr lang="ar-EG" sz="3200" b="1" dirty="0" err="1"/>
              <a:t>Best-Fit</a:t>
            </a:r>
            <a:r>
              <a:rPr lang="ar-EG" sz="3200" b="1" dirty="0"/>
              <a:t> </a:t>
            </a:r>
            <a:r>
              <a:rPr lang="ar-EG" sz="3200" b="1" dirty="0" err="1"/>
              <a:t>Line</a:t>
            </a:r>
            <a:r>
              <a:rPr lang="ar-EG" sz="3200" b="1" dirty="0"/>
              <a:t>?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can </a:t>
            </a:r>
            <a:r>
              <a:rPr lang="ar-EG" sz="3200" dirty="0" err="1"/>
              <a:t>produce</a:t>
            </a:r>
            <a:r>
              <a:rPr lang="ar-EG" sz="3200" dirty="0"/>
              <a:t> </a:t>
            </a:r>
            <a:r>
              <a:rPr lang="ar-EG" sz="3200" dirty="0" err="1"/>
              <a:t>different</a:t>
            </a:r>
            <a:r>
              <a:rPr lang="ar-EG" sz="3200" dirty="0"/>
              <a:t> </a:t>
            </a:r>
            <a:r>
              <a:rPr lang="ar-EG" sz="3200" dirty="0" err="1"/>
              <a:t>lines</a:t>
            </a:r>
            <a:r>
              <a:rPr lang="ar-EG" sz="3200" dirty="0"/>
              <a:t> by </a:t>
            </a:r>
            <a:r>
              <a:rPr lang="ar-EG" sz="3200" dirty="0" err="1"/>
              <a:t>changing</a:t>
            </a:r>
            <a:r>
              <a:rPr lang="ar-EG" sz="3200" dirty="0"/>
              <a:t> </a:t>
            </a:r>
            <a:r>
              <a:rPr lang="ar-EG" sz="3200" dirty="0" err="1"/>
              <a:t>its</a:t>
            </a:r>
            <a:r>
              <a:rPr lang="ar-EG" sz="3200" dirty="0"/>
              <a:t> </a:t>
            </a:r>
            <a:r>
              <a:rPr lang="ar-EG" sz="3200" dirty="0" err="1"/>
              <a:t>intercept</a:t>
            </a:r>
            <a:r>
              <a:rPr lang="ar-EG" sz="3200" dirty="0"/>
              <a:t> and </a:t>
            </a:r>
            <a:r>
              <a:rPr lang="ar-EG" sz="3200" dirty="0" err="1"/>
              <a:t>slope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Each</a:t>
            </a:r>
            <a:r>
              <a:rPr lang="ar-EG" sz="3200" dirty="0"/>
              <a:t> </a:t>
            </a:r>
            <a:r>
              <a:rPr lang="ar-EG" sz="3200" dirty="0" err="1"/>
              <a:t>line</a:t>
            </a:r>
            <a:r>
              <a:rPr lang="ar-EG" sz="3200" dirty="0"/>
              <a:t> </a:t>
            </a:r>
            <a:r>
              <a:rPr lang="ar-EG" sz="3200" dirty="0" err="1"/>
              <a:t>produces</a:t>
            </a:r>
            <a:r>
              <a:rPr lang="ar-EG" sz="3200" dirty="0"/>
              <a:t> a </a:t>
            </a:r>
            <a:r>
              <a:rPr lang="ar-EG" sz="3200" dirty="0" err="1"/>
              <a:t>different</a:t>
            </a:r>
            <a:r>
              <a:rPr lang="ar-EG" sz="3200" dirty="0"/>
              <a:t> </a:t>
            </a:r>
            <a:r>
              <a:rPr lang="ar-EG" sz="3200" dirty="0" err="1"/>
              <a:t>set</a:t>
            </a:r>
            <a:r>
              <a:rPr lang="ar-EG" sz="3200" dirty="0"/>
              <a:t> of </a:t>
            </a:r>
            <a:r>
              <a:rPr lang="ar-EG" sz="3200" dirty="0" err="1"/>
              <a:t>predictions</a:t>
            </a:r>
            <a:r>
              <a:rPr lang="ar-EG" sz="3200" dirty="0"/>
              <a:t> and </a:t>
            </a:r>
            <a:r>
              <a:rPr lang="ar-EG" sz="3200" dirty="0" err="1"/>
              <a:t>residuals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Ordinary</a:t>
            </a:r>
            <a:r>
              <a:rPr lang="ar-EG" sz="3200" dirty="0"/>
              <a:t> </a:t>
            </a:r>
            <a:r>
              <a:rPr lang="ar-EG" sz="3200" dirty="0" err="1"/>
              <a:t>Least</a:t>
            </a:r>
            <a:r>
              <a:rPr lang="ar-EG" sz="3200" dirty="0"/>
              <a:t> </a:t>
            </a:r>
            <a:r>
              <a:rPr lang="ar-EG" sz="3200" dirty="0" err="1"/>
              <a:t>Squares</a:t>
            </a:r>
            <a:r>
              <a:rPr lang="ar-EG" sz="3200" dirty="0"/>
              <a:t> (OLS) </a:t>
            </a:r>
            <a:r>
              <a:rPr lang="ar-EG" sz="3200" dirty="0" err="1"/>
              <a:t>selects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parameters</a:t>
            </a:r>
            <a:r>
              <a:rPr lang="ar-EG" sz="3200" dirty="0"/>
              <a:t> that </a:t>
            </a:r>
            <a:r>
              <a:rPr lang="ar-EG" sz="3200" dirty="0" err="1"/>
              <a:t>minimize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sum</a:t>
            </a:r>
            <a:r>
              <a:rPr lang="ar-EG" sz="3200" dirty="0"/>
              <a:t> of </a:t>
            </a:r>
            <a:r>
              <a:rPr lang="ar-EG" sz="3200" dirty="0" err="1"/>
              <a:t>squared</a:t>
            </a:r>
            <a:r>
              <a:rPr lang="ar-EG" sz="3200" dirty="0"/>
              <a:t> </a:t>
            </a:r>
            <a:r>
              <a:rPr lang="ar-EG" sz="3200" dirty="0" err="1"/>
              <a:t>residuals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Squaring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residuals</a:t>
            </a:r>
            <a:r>
              <a:rPr lang="ar-EG" sz="3200" dirty="0"/>
              <a:t> </a:t>
            </a:r>
            <a:r>
              <a:rPr lang="ar-EG" sz="3200" dirty="0" err="1"/>
              <a:t>prevents</a:t>
            </a:r>
            <a:r>
              <a:rPr lang="ar-EG" sz="3200" dirty="0"/>
              <a:t> </a:t>
            </a:r>
            <a:r>
              <a:rPr lang="ar-EG" sz="3200" dirty="0" err="1"/>
              <a:t>positive</a:t>
            </a:r>
            <a:r>
              <a:rPr lang="ar-EG" sz="3200" dirty="0"/>
              <a:t> and </a:t>
            </a:r>
            <a:r>
              <a:rPr lang="ar-EG" sz="3200" dirty="0" err="1"/>
              <a:t>negative</a:t>
            </a:r>
            <a:r>
              <a:rPr lang="ar-EG" sz="3200" dirty="0"/>
              <a:t> </a:t>
            </a:r>
            <a:r>
              <a:rPr lang="ar-EG" sz="3200" dirty="0" err="1"/>
              <a:t>errors</a:t>
            </a:r>
            <a:r>
              <a:rPr lang="ar-EG" sz="3200" dirty="0"/>
              <a:t> </a:t>
            </a:r>
            <a:r>
              <a:rPr lang="ar-EG" sz="3200" dirty="0" err="1"/>
              <a:t>from</a:t>
            </a:r>
            <a:r>
              <a:rPr lang="ar-EG" sz="3200" dirty="0"/>
              <a:t> </a:t>
            </a:r>
            <a:r>
              <a:rPr lang="ar-EG" sz="3200" dirty="0" err="1"/>
              <a:t>cancelling</a:t>
            </a:r>
            <a:r>
              <a:rPr lang="ar-EG" sz="3200" dirty="0"/>
              <a:t> </a:t>
            </a:r>
            <a:r>
              <a:rPr lang="ar-EG" sz="3200" dirty="0" err="1"/>
              <a:t>each</a:t>
            </a:r>
            <a:r>
              <a:rPr lang="ar-EG" sz="3200" dirty="0"/>
              <a:t> other and </a:t>
            </a:r>
            <a:r>
              <a:rPr lang="ar-EG" sz="3200" dirty="0" err="1"/>
              <a:t>gives</a:t>
            </a:r>
            <a:r>
              <a:rPr lang="ar-EG" sz="3200" dirty="0"/>
              <a:t> </a:t>
            </a:r>
            <a:r>
              <a:rPr lang="ar-EG" sz="3200" dirty="0" err="1"/>
              <a:t>larger</a:t>
            </a:r>
            <a:r>
              <a:rPr lang="ar-EG" sz="3200" dirty="0"/>
              <a:t> </a:t>
            </a:r>
            <a:r>
              <a:rPr lang="ar-EG" sz="3200" dirty="0" err="1"/>
              <a:t>errors</a:t>
            </a:r>
            <a:r>
              <a:rPr lang="ar-EG" sz="3200" dirty="0"/>
              <a:t> a </a:t>
            </a:r>
            <a:r>
              <a:rPr lang="ar-EG" sz="3200" dirty="0" err="1"/>
              <a:t>greater</a:t>
            </a:r>
            <a:r>
              <a:rPr lang="ar-EG" sz="3200" dirty="0"/>
              <a:t> </a:t>
            </a:r>
            <a:r>
              <a:rPr lang="ar-EG" sz="3200" dirty="0" err="1"/>
              <a:t>contribution</a:t>
            </a:r>
            <a:r>
              <a:rPr lang="ar-EG" sz="3200" dirty="0"/>
              <a:t> to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total</a:t>
            </a:r>
            <a:r>
              <a:rPr lang="ar-EG" sz="3200" dirty="0"/>
              <a:t>.</a:t>
            </a:r>
            <a:endParaRPr lang="en-US" sz="3200" b="1" dirty="0"/>
          </a:p>
          <a:p>
            <a:pPr algn="ctr"/>
            <a:endParaRPr lang="ar-EG" sz="3200" b="1" dirty="0"/>
          </a:p>
          <a:p>
            <a:r>
              <a:rPr lang="en-US" sz="3200" dirty="0"/>
              <a:t>Where:</a:t>
            </a:r>
          </a:p>
          <a:p>
            <a:pPr marL="514350" indent="-514350">
              <a:buAutoNum type="arabicPeriod"/>
            </a:pPr>
            <a:r>
              <a:rPr lang="en-US" sz="3200" dirty="0"/>
              <a:t>SSE: Sum of Squared Errors.</a:t>
            </a:r>
          </a:p>
          <a:p>
            <a:pPr marL="514350" indent="-514350">
              <a:buAutoNum type="arabicPeriod"/>
            </a:pPr>
            <a:r>
              <a:rPr lang="en-US" sz="3200" dirty="0"/>
              <a:t>N: Number of observation.</a:t>
            </a:r>
          </a:p>
          <a:p>
            <a:pPr marL="514350" indent="-514350">
              <a:buAutoNum type="arabicPeriod"/>
            </a:pPr>
            <a:r>
              <a:rPr lang="en-US" sz="3200" dirty="0"/>
              <a:t>Y: actual target value</a:t>
            </a:r>
          </a:p>
          <a:p>
            <a:pPr marL="514350" indent="-514350">
              <a:buAutoNum type="arabicPeriod"/>
            </a:pPr>
            <a:r>
              <a:rPr lang="en-US" sz="3200" dirty="0"/>
              <a:t>Y^: predicted target value </a:t>
            </a:r>
            <a:r>
              <a:rPr lang="en-US" sz="3200" dirty="0">
                <a:sym typeface="Wingdings" panose="05000000000000000000" pitchFamily="2" charset="2"/>
              </a:rPr>
              <a:t> (b0+b1x).</a:t>
            </a:r>
            <a:endParaRPr lang="ar-EG" sz="3200" dirty="0"/>
          </a:p>
          <a:p>
            <a:r>
              <a:rPr lang="ar-EG" sz="3200" b="1" dirty="0" err="1"/>
              <a:t>Objective</a:t>
            </a:r>
            <a:r>
              <a:rPr lang="ar-EG" sz="3200" dirty="0"/>
              <a:t>: </a:t>
            </a:r>
            <a:r>
              <a:rPr lang="ar-EG" sz="3200" dirty="0" err="1"/>
              <a:t>Find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values</a:t>
            </a:r>
            <a:r>
              <a:rPr lang="ar-EG" sz="3200" dirty="0"/>
              <a:t> of </a:t>
            </a:r>
            <a:r>
              <a:rPr lang="en-US" sz="3200" dirty="0"/>
              <a:t> b0 and b1</a:t>
            </a:r>
            <a:r>
              <a:rPr lang="ar-EG" sz="3200" dirty="0"/>
              <a:t> that </a:t>
            </a:r>
            <a:r>
              <a:rPr lang="ar-EG" sz="3200" dirty="0" err="1"/>
              <a:t>minimize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SSE on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 data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1FCEE9-7492-7980-37AD-0C8F5AE2C6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9313" y="5372100"/>
            <a:ext cx="3029373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44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2AE87-424C-E22B-5AD1-EE8D8C493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79B612-F07E-9548-C1A4-35C62C7C1F34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5C28CD3-0ADA-C15B-49EF-F5382498E47A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6058506-8621-27F0-7376-D6A9FC86BFB3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355C509-0162-FF39-7565-56B0C18215A6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158B976-70DB-834F-6475-7350EB25CBD2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BF04BC4-2D1F-55FB-E00E-820950E59754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8D96FFA-1F12-57E8-6F85-D8D1C861F53C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92C4B9E-D197-5089-2A61-1CED7F41698E}"/>
              </a:ext>
            </a:extLst>
          </p:cNvPr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5634566-F29F-9F6A-D899-CB7A6A1B77C6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53253ED-9069-C00D-D8F7-55DBF0BBEEEA}"/>
              </a:ext>
            </a:extLst>
          </p:cNvPr>
          <p:cNvSpPr txBox="1"/>
          <p:nvPr/>
        </p:nvSpPr>
        <p:spPr>
          <a:xfrm>
            <a:off x="1358784" y="557212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Evaluating</a:t>
            </a:r>
            <a:r>
              <a:rPr lang="ar-EG" sz="6000" dirty="0"/>
              <a:t> </a:t>
            </a:r>
            <a:r>
              <a:rPr lang="ar-EG" sz="6000" dirty="0" err="1"/>
              <a:t>Linear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79FB26-5ED4-2357-6E2C-757DE91F7E28}"/>
              </a:ext>
            </a:extLst>
          </p:cNvPr>
          <p:cNvSpPr txBox="1"/>
          <p:nvPr/>
        </p:nvSpPr>
        <p:spPr>
          <a:xfrm>
            <a:off x="1680219" y="1707759"/>
            <a:ext cx="16136379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3200" b="1" dirty="0" err="1"/>
              <a:t>Common</a:t>
            </a:r>
            <a:r>
              <a:rPr lang="ar-EG" sz="3200" b="1" dirty="0"/>
              <a:t> </a:t>
            </a:r>
            <a:r>
              <a:rPr lang="ar-EG" sz="3200" b="1" dirty="0" err="1"/>
              <a:t>Regression</a:t>
            </a:r>
            <a:r>
              <a:rPr lang="ar-EG" sz="3200" b="1" dirty="0"/>
              <a:t> </a:t>
            </a:r>
            <a:r>
              <a:rPr lang="ar-EG" sz="3200" b="1" dirty="0" err="1"/>
              <a:t>Evaluation</a:t>
            </a:r>
            <a:r>
              <a:rPr lang="ar-EG" sz="3200" b="1" dirty="0"/>
              <a:t> </a:t>
            </a:r>
            <a:r>
              <a:rPr lang="ar-EG" sz="3200" b="1" dirty="0" err="1"/>
              <a:t>Metrics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Mean</a:t>
            </a:r>
            <a:r>
              <a:rPr lang="ar-EG" sz="3200" dirty="0"/>
              <a:t> </a:t>
            </a:r>
            <a:r>
              <a:rPr lang="ar-EG" sz="3200" dirty="0" err="1"/>
              <a:t>Absolute</a:t>
            </a:r>
            <a:r>
              <a:rPr lang="ar-EG" sz="3200" dirty="0"/>
              <a:t> </a:t>
            </a:r>
            <a:r>
              <a:rPr lang="ar-EG" sz="3200" dirty="0" err="1"/>
              <a:t>Error</a:t>
            </a:r>
            <a:r>
              <a:rPr lang="ar-EG" sz="3200" dirty="0"/>
              <a:t> (MAE): </a:t>
            </a:r>
            <a:r>
              <a:rPr lang="ar-EG" sz="3200" dirty="0" err="1"/>
              <a:t>Measures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average</a:t>
            </a:r>
            <a:r>
              <a:rPr lang="ar-EG" sz="3200" dirty="0"/>
              <a:t> </a:t>
            </a:r>
            <a:r>
              <a:rPr lang="ar-EG" sz="3200" dirty="0" err="1"/>
              <a:t>absolute</a:t>
            </a:r>
            <a:r>
              <a:rPr lang="ar-EG" sz="3200" dirty="0"/>
              <a:t> </a:t>
            </a:r>
            <a:r>
              <a:rPr lang="ar-EG" sz="3200" dirty="0" err="1"/>
              <a:t>difference</a:t>
            </a:r>
            <a:r>
              <a:rPr lang="ar-EG" sz="3200" dirty="0"/>
              <a:t> between </a:t>
            </a:r>
            <a:r>
              <a:rPr lang="ar-EG" sz="3200" dirty="0" err="1"/>
              <a:t>actual</a:t>
            </a:r>
            <a:r>
              <a:rPr lang="ar-EG" sz="3200" dirty="0"/>
              <a:t> and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values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Mean</a:t>
            </a:r>
            <a:r>
              <a:rPr lang="ar-EG" sz="3200" dirty="0"/>
              <a:t> </a:t>
            </a:r>
            <a:r>
              <a:rPr lang="ar-EG" sz="3200" dirty="0" err="1"/>
              <a:t>Squared</a:t>
            </a:r>
            <a:r>
              <a:rPr lang="ar-EG" sz="3200" dirty="0"/>
              <a:t> </a:t>
            </a:r>
            <a:r>
              <a:rPr lang="ar-EG" sz="3200" dirty="0" err="1"/>
              <a:t>Error</a:t>
            </a:r>
            <a:r>
              <a:rPr lang="ar-EG" sz="3200" dirty="0"/>
              <a:t> (MSE): </a:t>
            </a:r>
            <a:r>
              <a:rPr lang="ar-EG" sz="3200" dirty="0" err="1"/>
              <a:t>Measures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average</a:t>
            </a:r>
            <a:r>
              <a:rPr lang="ar-EG" sz="3200" dirty="0"/>
              <a:t> </a:t>
            </a:r>
            <a:r>
              <a:rPr lang="ar-EG" sz="3200" dirty="0" err="1"/>
              <a:t>squared</a:t>
            </a:r>
            <a:r>
              <a:rPr lang="ar-EG" sz="3200" dirty="0"/>
              <a:t> </a:t>
            </a:r>
            <a:r>
              <a:rPr lang="ar-EG" sz="3200" dirty="0" err="1"/>
              <a:t>prediction</a:t>
            </a:r>
            <a:r>
              <a:rPr lang="ar-EG" sz="3200" dirty="0"/>
              <a:t> </a:t>
            </a:r>
            <a:r>
              <a:rPr lang="ar-EG" sz="3200" dirty="0" err="1"/>
              <a:t>error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Root</a:t>
            </a:r>
            <a:r>
              <a:rPr lang="ar-EG" sz="3200" dirty="0"/>
              <a:t> </a:t>
            </a:r>
            <a:r>
              <a:rPr lang="ar-EG" sz="3200" dirty="0" err="1"/>
              <a:t>Mean</a:t>
            </a:r>
            <a:r>
              <a:rPr lang="ar-EG" sz="3200" dirty="0"/>
              <a:t> </a:t>
            </a:r>
            <a:r>
              <a:rPr lang="ar-EG" sz="3200" dirty="0" err="1"/>
              <a:t>Squared</a:t>
            </a:r>
            <a:r>
              <a:rPr lang="ar-EG" sz="3200" dirty="0"/>
              <a:t> </a:t>
            </a:r>
            <a:r>
              <a:rPr lang="ar-EG" sz="3200" dirty="0" err="1"/>
              <a:t>Error</a:t>
            </a:r>
            <a:r>
              <a:rPr lang="ar-EG" sz="3200" dirty="0"/>
              <a:t> (RMSE):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square</a:t>
            </a:r>
            <a:r>
              <a:rPr lang="ar-EG" sz="3200" dirty="0"/>
              <a:t> </a:t>
            </a:r>
            <a:r>
              <a:rPr lang="ar-EG" sz="3200" dirty="0" err="1"/>
              <a:t>root</a:t>
            </a:r>
            <a:r>
              <a:rPr lang="ar-EG" sz="3200" dirty="0"/>
              <a:t> of MSE, </a:t>
            </a:r>
            <a:r>
              <a:rPr lang="ar-EG" sz="3200" dirty="0" err="1"/>
              <a:t>expressed</a:t>
            </a:r>
            <a:r>
              <a:rPr lang="ar-EG" sz="3200" dirty="0"/>
              <a:t> </a:t>
            </a: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same</a:t>
            </a:r>
            <a:r>
              <a:rPr lang="ar-EG" sz="3200" dirty="0"/>
              <a:t> </a:t>
            </a:r>
            <a:r>
              <a:rPr lang="ar-EG" sz="3200" dirty="0" err="1"/>
              <a:t>units</a:t>
            </a:r>
            <a:r>
              <a:rPr lang="ar-EG" sz="3200" dirty="0"/>
              <a:t> as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Coefficient</a:t>
            </a:r>
            <a:r>
              <a:rPr lang="ar-EG" sz="3200" dirty="0"/>
              <a:t> of </a:t>
            </a:r>
            <a:r>
              <a:rPr lang="ar-EG" sz="3200" dirty="0" err="1"/>
              <a:t>Determination</a:t>
            </a:r>
            <a:r>
              <a:rPr lang="ar-EG" sz="3200" dirty="0"/>
              <a:t> </a:t>
            </a:r>
            <a:r>
              <a:rPr lang="en-US" sz="3200" dirty="0"/>
              <a:t>(R2)</a:t>
            </a:r>
            <a:r>
              <a:rPr lang="ar-EG" sz="3200" dirty="0"/>
              <a:t>: </a:t>
            </a:r>
            <a:r>
              <a:rPr lang="ar-EG" sz="3200" dirty="0" err="1"/>
              <a:t>Measures</a:t>
            </a:r>
            <a:r>
              <a:rPr lang="ar-EG" sz="3200" dirty="0"/>
              <a:t> </a:t>
            </a:r>
            <a:r>
              <a:rPr lang="ar-EG" sz="3200" dirty="0" err="1"/>
              <a:t>how</a:t>
            </a:r>
            <a:r>
              <a:rPr lang="ar-EG" sz="3200" dirty="0"/>
              <a:t> </a:t>
            </a:r>
            <a:r>
              <a:rPr lang="ar-EG" sz="3200" dirty="0" err="1"/>
              <a:t>much</a:t>
            </a:r>
            <a:r>
              <a:rPr lang="ar-EG" sz="3200" dirty="0"/>
              <a:t> of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target's</a:t>
            </a:r>
            <a:r>
              <a:rPr lang="ar-EG" sz="3200" dirty="0"/>
              <a:t> </a:t>
            </a:r>
            <a:r>
              <a:rPr lang="ar-EG" sz="3200" dirty="0" err="1"/>
              <a:t>variation</a:t>
            </a:r>
            <a:r>
              <a:rPr lang="ar-EG" sz="3200" dirty="0"/>
              <a:t> is </a:t>
            </a:r>
            <a:r>
              <a:rPr lang="ar-EG" sz="3200" dirty="0" err="1"/>
              <a:t>explained</a:t>
            </a:r>
            <a:r>
              <a:rPr lang="ar-EG" sz="3200" dirty="0"/>
              <a:t> by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relative</a:t>
            </a:r>
            <a:r>
              <a:rPr lang="ar-EG" sz="3200" dirty="0"/>
              <a:t> to </a:t>
            </a:r>
            <a:r>
              <a:rPr lang="ar-EG" sz="3200" dirty="0" err="1"/>
              <a:t>predicting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mean</a:t>
            </a:r>
            <a:r>
              <a:rPr lang="ar-EG" sz="3200" dirty="0"/>
              <a:t>.</a:t>
            </a:r>
            <a:endParaRPr lang="ar-EG" sz="3200" b="1" dirty="0"/>
          </a:p>
          <a:p>
            <a:r>
              <a:rPr lang="ar-EG" sz="3200" b="1" dirty="0" err="1"/>
              <a:t>Interpretation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Lower</a:t>
            </a:r>
            <a:r>
              <a:rPr lang="ar-EG" sz="3200" dirty="0"/>
              <a:t> MAE, MSE, and RMSE </a:t>
            </a:r>
            <a:r>
              <a:rPr lang="ar-EG" sz="3200" dirty="0" err="1"/>
              <a:t>generally</a:t>
            </a:r>
            <a:r>
              <a:rPr lang="ar-EG" sz="3200" dirty="0"/>
              <a:t> </a:t>
            </a:r>
            <a:r>
              <a:rPr lang="ar-EG" sz="3200" dirty="0" err="1"/>
              <a:t>indicate</a:t>
            </a:r>
            <a:r>
              <a:rPr lang="ar-EG" sz="3200" dirty="0"/>
              <a:t> </a:t>
            </a:r>
            <a:r>
              <a:rPr lang="ar-EG" sz="3200" dirty="0" err="1"/>
              <a:t>smaller</a:t>
            </a:r>
            <a:r>
              <a:rPr lang="ar-EG" sz="3200" dirty="0"/>
              <a:t> </a:t>
            </a:r>
            <a:r>
              <a:rPr lang="ar-EG" sz="3200" dirty="0" err="1"/>
              <a:t>prediction</a:t>
            </a:r>
            <a:r>
              <a:rPr lang="ar-EG" sz="3200" dirty="0"/>
              <a:t> </a:t>
            </a:r>
            <a:r>
              <a:rPr lang="ar-EG" sz="3200" dirty="0" err="1"/>
              <a:t>errors</a:t>
            </a:r>
            <a:r>
              <a:rPr lang="ar-EG" sz="3200" dirty="0"/>
              <a:t> </a:t>
            </a:r>
            <a:r>
              <a:rPr lang="ar-EG" sz="3200" dirty="0" err="1"/>
              <a:t>when</a:t>
            </a:r>
            <a:r>
              <a:rPr lang="ar-EG" sz="3200" dirty="0"/>
              <a:t> </a:t>
            </a:r>
            <a:r>
              <a:rPr lang="ar-EG" sz="3200" dirty="0" err="1"/>
              <a:t>evaluating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same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 and </a:t>
            </a:r>
            <a:r>
              <a:rPr lang="ar-EG" sz="3200" dirty="0" err="1"/>
              <a:t>dataset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An </a:t>
            </a:r>
            <a:r>
              <a:rPr lang="en-US" sz="3200" dirty="0"/>
              <a:t>R2 </a:t>
            </a:r>
            <a:r>
              <a:rPr lang="ar-EG" sz="3200" dirty="0" err="1"/>
              <a:t>value</a:t>
            </a:r>
            <a:r>
              <a:rPr lang="ar-EG" sz="3200" dirty="0"/>
              <a:t> </a:t>
            </a:r>
            <a:r>
              <a:rPr lang="ar-EG" sz="3200" dirty="0" err="1"/>
              <a:t>closer</a:t>
            </a:r>
            <a:r>
              <a:rPr lang="ar-EG" sz="3200" dirty="0"/>
              <a:t> to 1 </a:t>
            </a:r>
            <a:r>
              <a:rPr lang="ar-EG" sz="3200" dirty="0" err="1"/>
              <a:t>generally</a:t>
            </a:r>
            <a:r>
              <a:rPr lang="ar-EG" sz="3200" dirty="0"/>
              <a:t> </a:t>
            </a:r>
            <a:r>
              <a:rPr lang="ar-EG" sz="3200" dirty="0" err="1"/>
              <a:t>indicates</a:t>
            </a:r>
            <a:r>
              <a:rPr lang="ar-EG" sz="3200" dirty="0"/>
              <a:t> a </a:t>
            </a:r>
            <a:r>
              <a:rPr lang="ar-EG" sz="3200" dirty="0" err="1"/>
              <a:t>better</a:t>
            </a:r>
            <a:r>
              <a:rPr lang="ar-EG" sz="3200" dirty="0"/>
              <a:t> </a:t>
            </a:r>
            <a:r>
              <a:rPr lang="ar-EG" sz="3200" dirty="0" err="1"/>
              <a:t>fit</a:t>
            </a:r>
            <a:r>
              <a:rPr lang="ar-EG" sz="3200" dirty="0"/>
              <a:t> </a:t>
            </a:r>
            <a:r>
              <a:rPr lang="ar-EG" sz="3200" dirty="0" err="1"/>
              <a:t>relative</a:t>
            </a:r>
            <a:r>
              <a:rPr lang="ar-EG" sz="3200" dirty="0"/>
              <a:t> to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mean</a:t>
            </a:r>
            <a:r>
              <a:rPr lang="ar-EG" sz="3200" dirty="0"/>
              <a:t> </a:t>
            </a:r>
            <a:r>
              <a:rPr lang="ar-EG" sz="3200" dirty="0" err="1"/>
              <a:t>baseline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R2 </a:t>
            </a:r>
            <a:r>
              <a:rPr lang="ar-EG" sz="3200" dirty="0"/>
              <a:t>can be </a:t>
            </a:r>
            <a:r>
              <a:rPr lang="ar-EG" sz="3200" dirty="0" err="1"/>
              <a:t>negative</a:t>
            </a:r>
            <a:r>
              <a:rPr lang="ar-EG" sz="3200" dirty="0"/>
              <a:t> on </a:t>
            </a:r>
            <a:r>
              <a:rPr lang="ar-EG" sz="3200" dirty="0" err="1"/>
              <a:t>test</a:t>
            </a:r>
            <a:r>
              <a:rPr lang="ar-EG" sz="3200" dirty="0"/>
              <a:t> data </a:t>
            </a:r>
            <a:r>
              <a:rPr lang="ar-EG" sz="3200" dirty="0" err="1"/>
              <a:t>when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performs</a:t>
            </a:r>
            <a:r>
              <a:rPr lang="ar-EG" sz="3200" dirty="0"/>
              <a:t> </a:t>
            </a:r>
            <a:r>
              <a:rPr lang="ar-EG" sz="3200" dirty="0" err="1"/>
              <a:t>worse</a:t>
            </a:r>
            <a:r>
              <a:rPr lang="ar-EG" sz="3200" dirty="0"/>
              <a:t> </a:t>
            </a:r>
            <a:r>
              <a:rPr lang="ar-EG" sz="3200" dirty="0" err="1"/>
              <a:t>than</a:t>
            </a:r>
            <a:r>
              <a:rPr lang="ar-EG" sz="3200" dirty="0"/>
              <a:t> </a:t>
            </a:r>
            <a:r>
              <a:rPr lang="ar-EG" sz="3200" dirty="0" err="1"/>
              <a:t>predicting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mean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Evaluation</a:t>
            </a:r>
            <a:r>
              <a:rPr lang="ar-EG" sz="3200" dirty="0"/>
              <a:t> </a:t>
            </a:r>
            <a:r>
              <a:rPr lang="ar-EG" sz="3200" dirty="0" err="1"/>
              <a:t>should</a:t>
            </a:r>
            <a:r>
              <a:rPr lang="ar-EG" sz="3200" dirty="0"/>
              <a:t> be </a:t>
            </a:r>
            <a:r>
              <a:rPr lang="ar-EG" sz="3200" dirty="0" err="1"/>
              <a:t>performed</a:t>
            </a:r>
            <a:r>
              <a:rPr lang="ar-EG" sz="3200" dirty="0"/>
              <a:t> on data that </a:t>
            </a:r>
            <a:r>
              <a:rPr lang="ar-EG" sz="3200" dirty="0" err="1"/>
              <a:t>was</a:t>
            </a:r>
            <a:r>
              <a:rPr lang="ar-EG" sz="3200" dirty="0"/>
              <a:t> </a:t>
            </a:r>
            <a:r>
              <a:rPr lang="ar-EG" sz="3200" dirty="0" err="1"/>
              <a:t>not</a:t>
            </a:r>
            <a:r>
              <a:rPr lang="ar-EG" sz="3200" dirty="0"/>
              <a:t> </a:t>
            </a:r>
            <a:r>
              <a:rPr lang="ar-EG" sz="3200" dirty="0" err="1"/>
              <a:t>used</a:t>
            </a:r>
            <a:r>
              <a:rPr lang="ar-EG" sz="3200" dirty="0"/>
              <a:t> to </a:t>
            </a:r>
            <a:r>
              <a:rPr lang="ar-EG" sz="3200" dirty="0" err="1"/>
              <a:t>train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1078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140FD-AEA3-51C2-3C15-569DFA7F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559392-0AF7-3B3F-6471-0AF5B04D8AFA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33AC993-DE72-FE30-69CB-1CDEFDBD0466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20EA070-EDE4-9629-F7B3-B83212085878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D9BA12E-AD51-DB28-7A0E-0106C92E3E3F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BFFC9F1-37C6-BEBC-341C-192A869B2A36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8C814E8-2E39-ED0C-3DEF-112D02309D89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8F78597-A938-86BE-E786-63AB5C895F26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D1A4836-BF74-1242-485C-48D6890DB690}"/>
              </a:ext>
            </a:extLst>
          </p:cNvPr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012D0C7-73DB-ECDB-87D5-BFA89D7F6409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E2A470B-5AAF-01B5-ADA1-EE4F2A1EAB1B}"/>
              </a:ext>
            </a:extLst>
          </p:cNvPr>
          <p:cNvSpPr txBox="1"/>
          <p:nvPr/>
        </p:nvSpPr>
        <p:spPr>
          <a:xfrm>
            <a:off x="1358784" y="557212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Evaluating</a:t>
            </a:r>
            <a:r>
              <a:rPr lang="ar-EG" sz="6000" dirty="0"/>
              <a:t> </a:t>
            </a:r>
            <a:r>
              <a:rPr lang="ar-EG" sz="6000" dirty="0" err="1"/>
              <a:t>Linear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750E61-0342-0C24-33CA-2C10B6A7E4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465" y="2131118"/>
            <a:ext cx="5905069" cy="602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700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1457E-6BB9-B585-D1DA-CC6221EFD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5BB3E5-80A9-CBFE-49F1-DD1FEA48D1C0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213D86A-AB90-F66F-A4E8-32F1DF64656A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31CCE02-435D-6D65-5C91-5CCE25B6416E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D81168F-A4B6-8051-B575-C8F3F231CE25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0978194-0E73-2741-9BD7-DADD61AE1F54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1E4282B-4200-F4EE-385E-6928891AE344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271FCF0-525C-D782-995A-21681F0DC4D3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C73AE0D-6E82-36CC-3283-4F922E61A4C2}"/>
              </a:ext>
            </a:extLst>
          </p:cNvPr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612FFAC-89CA-E8B2-BE0D-85AC26913DA8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440FA94-9516-6B30-4677-5B6620D18F5F}"/>
              </a:ext>
            </a:extLst>
          </p:cNvPr>
          <p:cNvSpPr txBox="1"/>
          <p:nvPr/>
        </p:nvSpPr>
        <p:spPr>
          <a:xfrm>
            <a:off x="1358784" y="557212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Evaluating</a:t>
            </a:r>
            <a:r>
              <a:rPr lang="ar-EG" sz="6000" dirty="0"/>
              <a:t> </a:t>
            </a:r>
            <a:r>
              <a:rPr lang="ar-EG" sz="6000" dirty="0" err="1"/>
              <a:t>Linear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715DB5-9013-9CC7-EF0B-EDCD63BF41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1666" y="2062643"/>
            <a:ext cx="12592050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85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/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/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/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/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/>
          <p:cNvSpPr txBox="1"/>
          <p:nvPr/>
        </p:nvSpPr>
        <p:spPr>
          <a:xfrm>
            <a:off x="3689292" y="210741"/>
            <a:ext cx="1090941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Advantages</a:t>
            </a:r>
            <a:r>
              <a:rPr lang="ar-EG" sz="6000" dirty="0"/>
              <a:t> and </a:t>
            </a:r>
            <a:r>
              <a:rPr lang="ar-EG" sz="6000" dirty="0" err="1"/>
              <a:t>Limitations</a:t>
            </a:r>
            <a:r>
              <a:rPr lang="ar-EG" sz="6000" dirty="0"/>
              <a:t> of </a:t>
            </a:r>
            <a:r>
              <a:rPr lang="ar-EG" sz="6000" dirty="0" err="1"/>
              <a:t>Linear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86577" y="2339796"/>
            <a:ext cx="16802229" cy="640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ar-EG" sz="3200" b="1" dirty="0" err="1"/>
              <a:t>Advantages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Simple</a:t>
            </a:r>
            <a:r>
              <a:rPr lang="ar-EG" sz="3200" dirty="0"/>
              <a:t> to </a:t>
            </a:r>
            <a:r>
              <a:rPr lang="ar-EG" sz="3200" dirty="0" err="1"/>
              <a:t>understand</a:t>
            </a:r>
            <a:r>
              <a:rPr lang="ar-EG" sz="3200" dirty="0"/>
              <a:t>, </a:t>
            </a:r>
            <a:r>
              <a:rPr lang="ar-EG" sz="3200" dirty="0" err="1"/>
              <a:t>implement</a:t>
            </a:r>
            <a:r>
              <a:rPr lang="ar-EG" sz="3200" dirty="0"/>
              <a:t>, and </a:t>
            </a:r>
            <a:r>
              <a:rPr lang="ar-EG" sz="3200" dirty="0" err="1"/>
              <a:t>interpret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Computationally</a:t>
            </a:r>
            <a:r>
              <a:rPr lang="ar-EG" sz="3200" dirty="0"/>
              <a:t> </a:t>
            </a:r>
            <a:r>
              <a:rPr lang="ar-EG" sz="3200" dirty="0" err="1"/>
              <a:t>efficient</a:t>
            </a:r>
            <a:r>
              <a:rPr lang="ar-EG" sz="3200" dirty="0"/>
              <a:t> for </a:t>
            </a:r>
            <a:r>
              <a:rPr lang="ar-EG" sz="3200" dirty="0" err="1"/>
              <a:t>many</a:t>
            </a:r>
            <a:r>
              <a:rPr lang="ar-EG" sz="3200" dirty="0"/>
              <a:t> </a:t>
            </a:r>
            <a:r>
              <a:rPr lang="ar-EG" sz="3200" dirty="0" err="1"/>
              <a:t>small</a:t>
            </a:r>
            <a:r>
              <a:rPr lang="ar-EG" sz="3200" dirty="0"/>
              <a:t> and </a:t>
            </a:r>
            <a:r>
              <a:rPr lang="ar-EG" sz="3200" dirty="0" err="1"/>
              <a:t>medium-sized</a:t>
            </a:r>
            <a:r>
              <a:rPr lang="ar-EG" sz="3200" dirty="0"/>
              <a:t> </a:t>
            </a:r>
            <a:r>
              <a:rPr lang="ar-EG" sz="3200" dirty="0" err="1"/>
              <a:t>datasets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Provides</a:t>
            </a:r>
            <a:r>
              <a:rPr lang="ar-EG" sz="3200" dirty="0"/>
              <a:t> </a:t>
            </a:r>
            <a:r>
              <a:rPr lang="ar-EG" sz="3200" dirty="0" err="1"/>
              <a:t>interpretable</a:t>
            </a:r>
            <a:r>
              <a:rPr lang="ar-EG" sz="3200" dirty="0"/>
              <a:t> </a:t>
            </a:r>
            <a:r>
              <a:rPr lang="ar-EG" sz="3200" dirty="0" err="1"/>
              <a:t>coefficients</a:t>
            </a:r>
            <a:r>
              <a:rPr lang="ar-EG" sz="3200" dirty="0"/>
              <a:t> that </a:t>
            </a:r>
            <a:r>
              <a:rPr lang="ar-EG" sz="3200" dirty="0" err="1"/>
              <a:t>describe</a:t>
            </a:r>
            <a:r>
              <a:rPr lang="ar-EG" sz="3200" dirty="0"/>
              <a:t> </a:t>
            </a:r>
            <a:r>
              <a:rPr lang="ar-EG" sz="3200" dirty="0" err="1"/>
              <a:t>fitted</a:t>
            </a:r>
            <a:r>
              <a:rPr lang="ar-EG" sz="3200" dirty="0"/>
              <a:t> </a:t>
            </a:r>
            <a:r>
              <a:rPr lang="ar-EG" sz="3200" dirty="0" err="1"/>
              <a:t>relationships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Serves</a:t>
            </a:r>
            <a:r>
              <a:rPr lang="ar-EG" sz="3200" dirty="0"/>
              <a:t> as a </a:t>
            </a:r>
            <a:r>
              <a:rPr lang="ar-EG" sz="3200" dirty="0" err="1"/>
              <a:t>useful</a:t>
            </a:r>
            <a:r>
              <a:rPr lang="ar-EG" sz="3200" dirty="0"/>
              <a:t> </a:t>
            </a:r>
            <a:r>
              <a:rPr lang="ar-EG" sz="3200" dirty="0" err="1"/>
              <a:t>baseline</a:t>
            </a:r>
            <a:r>
              <a:rPr lang="ar-EG" sz="3200" dirty="0"/>
              <a:t> for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problems</a:t>
            </a:r>
            <a:r>
              <a:rPr lang="ar-EG" sz="3200" dirty="0"/>
              <a:t>.</a:t>
            </a:r>
          </a:p>
          <a:p>
            <a:r>
              <a:rPr lang="ar-EG" sz="3200" b="1" dirty="0" err="1"/>
              <a:t>Limitations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Assumes</a:t>
            </a:r>
            <a:r>
              <a:rPr lang="ar-EG" sz="3200" dirty="0"/>
              <a:t> a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relationship</a:t>
            </a:r>
            <a:r>
              <a:rPr lang="ar-EG" sz="3200" dirty="0"/>
              <a:t> between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features</a:t>
            </a:r>
            <a:r>
              <a:rPr lang="ar-EG" sz="3200" dirty="0"/>
              <a:t> and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expected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Can be </a:t>
            </a:r>
            <a:r>
              <a:rPr lang="ar-EG" sz="3200" dirty="0" err="1"/>
              <a:t>sensitive</a:t>
            </a:r>
            <a:r>
              <a:rPr lang="ar-EG" sz="3200" dirty="0"/>
              <a:t> to </a:t>
            </a:r>
            <a:r>
              <a:rPr lang="ar-EG" sz="3200" dirty="0" err="1"/>
              <a:t>outliers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May</a:t>
            </a:r>
            <a:r>
              <a:rPr lang="ar-EG" sz="3200" dirty="0"/>
              <a:t> be </a:t>
            </a:r>
            <a:r>
              <a:rPr lang="ar-EG" sz="3200" dirty="0" err="1"/>
              <a:t>affected</a:t>
            </a:r>
            <a:r>
              <a:rPr lang="ar-EG" sz="3200" dirty="0"/>
              <a:t> by </a:t>
            </a:r>
            <a:r>
              <a:rPr lang="ar-EG" sz="3200" dirty="0" err="1"/>
              <a:t>strong</a:t>
            </a:r>
            <a:r>
              <a:rPr lang="ar-EG" sz="3200" dirty="0"/>
              <a:t> </a:t>
            </a:r>
            <a:r>
              <a:rPr lang="ar-EG" sz="3200" dirty="0" err="1"/>
              <a:t>multicollinearity</a:t>
            </a:r>
            <a:r>
              <a:rPr lang="ar-EG" sz="3200" dirty="0"/>
              <a:t> </a:t>
            </a:r>
            <a:r>
              <a:rPr lang="ar-EG" sz="3200" dirty="0" err="1"/>
              <a:t>among</a:t>
            </a:r>
            <a:r>
              <a:rPr lang="ar-EG" sz="3200" dirty="0"/>
              <a:t>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Can </a:t>
            </a:r>
            <a:r>
              <a:rPr lang="ar-EG" sz="3200" dirty="0" err="1"/>
              <a:t>underfit</a:t>
            </a:r>
            <a:r>
              <a:rPr lang="ar-EG" sz="3200" dirty="0"/>
              <a:t> </a:t>
            </a:r>
            <a:r>
              <a:rPr lang="ar-EG" sz="3200" dirty="0" err="1"/>
              <a:t>complex</a:t>
            </a:r>
            <a:r>
              <a:rPr lang="ar-EG" sz="3200" dirty="0"/>
              <a:t> </a:t>
            </a:r>
            <a:r>
              <a:rPr lang="ar-EG" sz="3200" dirty="0" err="1"/>
              <a:t>nonlinear</a:t>
            </a:r>
            <a:r>
              <a:rPr lang="ar-EG" sz="3200" dirty="0"/>
              <a:t> </a:t>
            </a:r>
            <a:r>
              <a:rPr lang="ar-EG" sz="3200" dirty="0" err="1"/>
              <a:t>relationships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Extrapolation</a:t>
            </a:r>
            <a:r>
              <a:rPr lang="ar-EG" sz="3200" dirty="0"/>
              <a:t> </a:t>
            </a:r>
            <a:r>
              <a:rPr lang="ar-EG" sz="3200" dirty="0" err="1"/>
              <a:t>beyond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observed</a:t>
            </a:r>
            <a:r>
              <a:rPr lang="ar-EG" sz="3200" dirty="0"/>
              <a:t> data </a:t>
            </a:r>
            <a:r>
              <a:rPr lang="ar-EG" sz="3200" dirty="0" err="1"/>
              <a:t>range</a:t>
            </a:r>
            <a:r>
              <a:rPr lang="ar-EG" sz="3200" dirty="0"/>
              <a:t> </a:t>
            </a:r>
            <a:r>
              <a:rPr lang="ar-EG" sz="3200" dirty="0" err="1"/>
              <a:t>may</a:t>
            </a:r>
            <a:r>
              <a:rPr lang="ar-EG" sz="3200" dirty="0"/>
              <a:t> </a:t>
            </a:r>
            <a:r>
              <a:rPr lang="ar-EG" sz="3200" dirty="0" err="1"/>
              <a:t>produce</a:t>
            </a:r>
            <a:r>
              <a:rPr lang="ar-EG" sz="3200" dirty="0"/>
              <a:t> </a:t>
            </a:r>
            <a:r>
              <a:rPr lang="ar-EG" sz="3200" dirty="0" err="1"/>
              <a:t>unreliable</a:t>
            </a:r>
            <a:r>
              <a:rPr lang="ar-EG" sz="3200" dirty="0"/>
              <a:t> </a:t>
            </a:r>
            <a:r>
              <a:rPr lang="ar-EG" sz="3200" dirty="0" err="1"/>
              <a:t>predictions</a:t>
            </a:r>
            <a:r>
              <a:rPr lang="ar-EG" sz="3200" dirty="0"/>
              <a:t>.</a:t>
            </a:r>
          </a:p>
          <a:p>
            <a:r>
              <a:rPr lang="ar-EG" sz="3200" b="1" dirty="0" err="1"/>
              <a:t>Typical</a:t>
            </a:r>
            <a:r>
              <a:rPr lang="ar-EG" sz="3200" b="1" dirty="0"/>
              <a:t> </a:t>
            </a:r>
            <a:r>
              <a:rPr lang="ar-EG" sz="3200" b="1" dirty="0" err="1"/>
              <a:t>Applications</a:t>
            </a:r>
            <a:r>
              <a:rPr lang="ar-EG" sz="3200" dirty="0"/>
              <a:t>: </a:t>
            </a:r>
            <a:r>
              <a:rPr lang="ar-EG" sz="3200" dirty="0" err="1"/>
              <a:t>Price</a:t>
            </a:r>
            <a:r>
              <a:rPr lang="ar-EG" sz="3200" dirty="0"/>
              <a:t> </a:t>
            </a:r>
            <a:r>
              <a:rPr lang="ar-EG" sz="3200" dirty="0" err="1"/>
              <a:t>prediction</a:t>
            </a:r>
            <a:r>
              <a:rPr lang="ar-EG" sz="3200" dirty="0"/>
              <a:t>, </a:t>
            </a:r>
            <a:r>
              <a:rPr lang="ar-EG" sz="3200" dirty="0" err="1"/>
              <a:t>sales</a:t>
            </a:r>
            <a:r>
              <a:rPr lang="ar-EG" sz="3200" dirty="0"/>
              <a:t> </a:t>
            </a:r>
            <a:r>
              <a:rPr lang="ar-EG" sz="3200" dirty="0" err="1"/>
              <a:t>forecasting</a:t>
            </a:r>
            <a:r>
              <a:rPr lang="ar-EG" sz="3200" dirty="0"/>
              <a:t>, </a:t>
            </a:r>
            <a:r>
              <a:rPr lang="ar-EG" sz="3200" dirty="0" err="1"/>
              <a:t>demand</a:t>
            </a:r>
            <a:r>
              <a:rPr lang="ar-EG" sz="3200" dirty="0"/>
              <a:t> </a:t>
            </a:r>
            <a:r>
              <a:rPr lang="ar-EG" sz="3200" dirty="0" err="1"/>
              <a:t>estimation</a:t>
            </a:r>
            <a:r>
              <a:rPr lang="ar-EG" sz="3200" dirty="0"/>
              <a:t>, and </a:t>
            </a:r>
            <a:r>
              <a:rPr lang="ar-EG" sz="3200" dirty="0" err="1"/>
              <a:t>numerical</a:t>
            </a:r>
            <a:r>
              <a:rPr lang="ar-EG" sz="3200" dirty="0"/>
              <a:t> </a:t>
            </a:r>
            <a:r>
              <a:rPr lang="ar-EG" sz="3200" dirty="0" err="1"/>
              <a:t>trend</a:t>
            </a:r>
            <a:r>
              <a:rPr lang="ar-EG" sz="3200" dirty="0"/>
              <a:t> </a:t>
            </a:r>
            <a:r>
              <a:rPr lang="ar-EG" sz="3200" dirty="0" err="1"/>
              <a:t>analysis</a:t>
            </a:r>
            <a:r>
              <a:rPr lang="ar-EG" sz="32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/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/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/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/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/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From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r>
              <a:rPr lang="ar-EG" sz="6000" dirty="0"/>
              <a:t> to </a:t>
            </a:r>
            <a:r>
              <a:rPr lang="ar-EG" sz="6000" dirty="0" err="1"/>
              <a:t>Classification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5AA44EF-6F48-517F-9DD0-C9109A256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892203"/>
              </p:ext>
            </p:extLst>
          </p:nvPr>
        </p:nvGraphicFramePr>
        <p:xfrm>
          <a:off x="3569244" y="6362699"/>
          <a:ext cx="11149512" cy="289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6504">
                  <a:extLst>
                    <a:ext uri="{9D8B030D-6E8A-4147-A177-3AD203B41FA5}">
                      <a16:colId xmlns:a16="http://schemas.microsoft.com/office/drawing/2014/main" val="898660158"/>
                    </a:ext>
                  </a:extLst>
                </a:gridCol>
                <a:gridCol w="3716504">
                  <a:extLst>
                    <a:ext uri="{9D8B030D-6E8A-4147-A177-3AD203B41FA5}">
                      <a16:colId xmlns:a16="http://schemas.microsoft.com/office/drawing/2014/main" val="2065736695"/>
                    </a:ext>
                  </a:extLst>
                </a:gridCol>
                <a:gridCol w="3716504">
                  <a:extLst>
                    <a:ext uri="{9D8B030D-6E8A-4147-A177-3AD203B41FA5}">
                      <a16:colId xmlns:a16="http://schemas.microsoft.com/office/drawing/2014/main" val="1043031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Class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Class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802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Student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Fail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168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Email filtering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Not Spam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Spam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16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Medical screening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 dirty="0" err="1"/>
                        <a:t>Negative</a:t>
                      </a:r>
                      <a:endParaRPr lang="ar-EG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 dirty="0" err="1"/>
                        <a:t>Positive</a:t>
                      </a:r>
                      <a:endParaRPr lang="ar-EG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943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 dirty="0" err="1"/>
                        <a:t>Customer</a:t>
                      </a:r>
                      <a:r>
                        <a:rPr lang="ar-EG" sz="3200" dirty="0"/>
                        <a:t> </a:t>
                      </a:r>
                      <a:r>
                        <a:rPr lang="ar-EG" sz="3200" dirty="0" err="1"/>
                        <a:t>analysis</a:t>
                      </a:r>
                      <a:endParaRPr lang="ar-EG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Will Stay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 dirty="0" err="1"/>
                        <a:t>Will</a:t>
                      </a:r>
                      <a:r>
                        <a:rPr lang="ar-EG" sz="3200" dirty="0"/>
                        <a:t> </a:t>
                      </a:r>
                      <a:r>
                        <a:rPr lang="ar-EG" sz="3200" dirty="0" err="1"/>
                        <a:t>Leave</a:t>
                      </a:r>
                      <a:endParaRPr lang="ar-EG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9262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6EE0102-4BEC-4A2E-A075-895529122A03}"/>
              </a:ext>
            </a:extLst>
          </p:cNvPr>
          <p:cNvSpPr txBox="1"/>
          <p:nvPr/>
        </p:nvSpPr>
        <p:spPr>
          <a:xfrm>
            <a:off x="2115206" y="1815969"/>
            <a:ext cx="1551074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EG" sz="3200" b="1" dirty="0" err="1"/>
              <a:t>Regression</a:t>
            </a:r>
            <a:r>
              <a:rPr lang="ar-EG" sz="3200" b="1" dirty="0"/>
              <a:t> </a:t>
            </a:r>
            <a:r>
              <a:rPr lang="ar-EG" sz="3200" b="1" dirty="0" err="1"/>
              <a:t>vs</a:t>
            </a:r>
            <a:r>
              <a:rPr lang="ar-EG" sz="3200" b="1" dirty="0"/>
              <a:t>. </a:t>
            </a:r>
            <a:r>
              <a:rPr lang="ar-EG" sz="3200" b="1" dirty="0" err="1"/>
              <a:t>Classification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predicts</a:t>
            </a:r>
            <a:r>
              <a:rPr lang="ar-EG" sz="3200" dirty="0"/>
              <a:t> a </a:t>
            </a:r>
            <a:r>
              <a:rPr lang="ar-EG" sz="3200" dirty="0" err="1"/>
              <a:t>numerical</a:t>
            </a:r>
            <a:r>
              <a:rPr lang="ar-EG" sz="3200" dirty="0"/>
              <a:t> </a:t>
            </a:r>
            <a:r>
              <a:rPr lang="ar-EG" sz="3200" dirty="0" err="1"/>
              <a:t>quantity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predicts</a:t>
            </a:r>
            <a:r>
              <a:rPr lang="ar-EG" sz="3200" dirty="0"/>
              <a:t> a </a:t>
            </a:r>
            <a:r>
              <a:rPr lang="ar-EG" sz="3200" dirty="0" err="1"/>
              <a:t>discrete</a:t>
            </a:r>
            <a:r>
              <a:rPr lang="ar-EG" sz="3200" dirty="0"/>
              <a:t> </a:t>
            </a:r>
            <a:r>
              <a:rPr lang="ar-EG" sz="3200" dirty="0" err="1"/>
              <a:t>category</a:t>
            </a:r>
            <a:r>
              <a:rPr lang="ar-EG" sz="3200" dirty="0"/>
              <a:t> or </a:t>
            </a:r>
            <a:r>
              <a:rPr lang="ar-EG" sz="3200" dirty="0" err="1"/>
              <a:t>class</a:t>
            </a:r>
            <a:r>
              <a:rPr lang="ar-EG" sz="3200" dirty="0"/>
              <a:t> </a:t>
            </a:r>
            <a:r>
              <a:rPr lang="ar-EG" sz="3200" dirty="0" err="1"/>
              <a:t>label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involves</a:t>
            </a:r>
            <a:r>
              <a:rPr lang="ar-EG" sz="3200" dirty="0"/>
              <a:t> </a:t>
            </a:r>
            <a:r>
              <a:rPr lang="ar-EG" sz="3200" dirty="0" err="1"/>
              <a:t>exactly</a:t>
            </a:r>
            <a:r>
              <a:rPr lang="ar-EG" sz="3200" dirty="0"/>
              <a:t> </a:t>
            </a:r>
            <a:r>
              <a:rPr lang="ar-EG" sz="3200" dirty="0" err="1"/>
              <a:t>two</a:t>
            </a:r>
            <a:r>
              <a:rPr lang="ar-EG" sz="3200" dirty="0"/>
              <a:t> </a:t>
            </a:r>
            <a:r>
              <a:rPr lang="ar-EG" sz="3200" dirty="0" err="1"/>
              <a:t>possible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 are </a:t>
            </a:r>
            <a:r>
              <a:rPr lang="ar-EG" sz="3200" dirty="0" err="1"/>
              <a:t>often</a:t>
            </a:r>
            <a:r>
              <a:rPr lang="ar-EG" sz="3200" dirty="0"/>
              <a:t> </a:t>
            </a:r>
            <a:r>
              <a:rPr lang="ar-EG" sz="3200" dirty="0" err="1"/>
              <a:t>represented</a:t>
            </a:r>
            <a:r>
              <a:rPr lang="ar-EG" sz="3200" dirty="0"/>
              <a:t> </a:t>
            </a:r>
            <a:r>
              <a:rPr lang="ar-EG" sz="3200" dirty="0" err="1"/>
              <a:t>numerically</a:t>
            </a:r>
            <a:r>
              <a:rPr lang="ar-EG" sz="3200" dirty="0"/>
              <a:t> as 0 and 1</a:t>
            </a:r>
            <a:r>
              <a:rPr lang="en-US" sz="3200" dirty="0"/>
              <a:t>.</a:t>
            </a:r>
          </a:p>
          <a:p>
            <a:pPr lvl="0"/>
            <a:r>
              <a:rPr lang="en-US" sz="3200" b="1" dirty="0"/>
              <a:t>Main Objective: </a:t>
            </a:r>
            <a:r>
              <a:rPr lang="en-US" sz="3200" dirty="0"/>
              <a:t>Learn a decision rule that assigns each input observation to one of the two classes.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FF2A5-2C7C-C89C-37E2-FC704174A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0F21F0-3C58-720F-AB2B-F95A0645E5D4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4E074C1-05F5-C774-6AE4-E1FBDFD5B806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74DA469-9301-E499-AE41-5B4422344483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02A0CEF-C840-EB28-CEC3-B7E48342A1EF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6A624AF-25DC-C32B-E243-B6140D4E514B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6B0C620-6F39-AC02-5438-E2D530D00270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D082FEB-70DD-B979-7DD7-2B0F45C6290B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B8A6AE1-D7E4-A7C7-968C-9B723B2DCECB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9460CF1-00A1-0CFF-C5CD-3353B057395D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CFE5444-4F39-C55F-B75C-CCB7F997D56A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What</a:t>
            </a:r>
            <a:r>
              <a:rPr lang="ar-EG" sz="6000" dirty="0"/>
              <a:t> Is a </a:t>
            </a:r>
            <a:r>
              <a:rPr lang="ar-EG" sz="6000" dirty="0" err="1"/>
              <a:t>Binary</a:t>
            </a:r>
            <a:r>
              <a:rPr lang="ar-EG" sz="6000" dirty="0"/>
              <a:t> </a:t>
            </a:r>
            <a:r>
              <a:rPr lang="ar-EG" sz="6000" dirty="0" err="1"/>
              <a:t>Linear</a:t>
            </a:r>
            <a:r>
              <a:rPr lang="ar-EG" sz="6000" dirty="0"/>
              <a:t> </a:t>
            </a:r>
            <a:r>
              <a:rPr lang="ar-EG" sz="6000" dirty="0" err="1"/>
              <a:t>Classifier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91FFBC-0A2B-178A-1A4C-E9B7F198DA0F}"/>
              </a:ext>
            </a:extLst>
          </p:cNvPr>
          <p:cNvSpPr txBox="1"/>
          <p:nvPr/>
        </p:nvSpPr>
        <p:spPr>
          <a:xfrm>
            <a:off x="2115206" y="1815969"/>
            <a:ext cx="15510741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classifier</a:t>
            </a:r>
            <a:r>
              <a:rPr lang="ar-EG" sz="3200" dirty="0"/>
              <a:t> is a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that </a:t>
            </a:r>
            <a:r>
              <a:rPr lang="ar-EG" sz="3200" dirty="0" err="1"/>
              <a:t>separates</a:t>
            </a:r>
            <a:r>
              <a:rPr lang="ar-EG" sz="3200" dirty="0"/>
              <a:t> </a:t>
            </a:r>
            <a:r>
              <a:rPr lang="ar-EG" sz="3200" dirty="0" err="1"/>
              <a:t>two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 </a:t>
            </a:r>
            <a:r>
              <a:rPr lang="ar-EG" sz="3200" dirty="0" err="1"/>
              <a:t>using</a:t>
            </a:r>
            <a:r>
              <a:rPr lang="ar-EG" sz="3200" dirty="0"/>
              <a:t> a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calculates</a:t>
            </a:r>
            <a:r>
              <a:rPr lang="ar-EG" sz="3200" dirty="0"/>
              <a:t> a </a:t>
            </a:r>
            <a:r>
              <a:rPr lang="ar-EG" sz="3200" dirty="0" err="1"/>
              <a:t>score</a:t>
            </a:r>
            <a:r>
              <a:rPr lang="ar-EG" sz="3200" dirty="0"/>
              <a:t> </a:t>
            </a:r>
            <a:r>
              <a:rPr lang="ar-EG" sz="3200" dirty="0" err="1"/>
              <a:t>from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features</a:t>
            </a:r>
            <a:r>
              <a:rPr lang="ar-EG" sz="3200" dirty="0"/>
              <a:t>, </a:t>
            </a:r>
            <a:r>
              <a:rPr lang="ar-EG" sz="3200" dirty="0" err="1"/>
              <a:t>their</a:t>
            </a:r>
            <a:r>
              <a:rPr lang="ar-EG" sz="3200" dirty="0"/>
              <a:t> </a:t>
            </a:r>
            <a:r>
              <a:rPr lang="ar-EG" sz="3200" dirty="0" err="1"/>
              <a:t>weights</a:t>
            </a:r>
            <a:r>
              <a:rPr lang="ar-EG" sz="3200" dirty="0"/>
              <a:t>, and a </a:t>
            </a:r>
            <a:r>
              <a:rPr lang="ar-EG" sz="3200" dirty="0" err="1"/>
              <a:t>bias</a:t>
            </a:r>
            <a:r>
              <a:rPr lang="ar-EG" sz="3200" dirty="0"/>
              <a:t> </a:t>
            </a:r>
            <a:r>
              <a:rPr lang="ar-EG" sz="3200" dirty="0" err="1"/>
              <a:t>term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rule</a:t>
            </a:r>
            <a:r>
              <a:rPr lang="ar-EG" sz="3200" dirty="0"/>
              <a:t> </a:t>
            </a:r>
            <a:r>
              <a:rPr lang="ar-EG" sz="3200" dirty="0" err="1"/>
              <a:t>converts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</a:t>
            </a:r>
            <a:r>
              <a:rPr lang="ar-EG" sz="3200" dirty="0" err="1"/>
              <a:t>into</a:t>
            </a:r>
            <a:r>
              <a:rPr lang="ar-EG" sz="3200" dirty="0"/>
              <a:t> </a:t>
            </a:r>
            <a:r>
              <a:rPr lang="ar-EG" sz="3200" dirty="0" err="1"/>
              <a:t>one</a:t>
            </a:r>
            <a:r>
              <a:rPr lang="ar-EG" sz="3200" dirty="0"/>
              <a:t> of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two</a:t>
            </a:r>
            <a:r>
              <a:rPr lang="ar-EG" sz="3200" dirty="0"/>
              <a:t> </a:t>
            </a:r>
            <a:r>
              <a:rPr lang="ar-EG" sz="3200" dirty="0" err="1"/>
              <a:t>class</a:t>
            </a:r>
            <a:r>
              <a:rPr lang="ar-EG" sz="3200" dirty="0"/>
              <a:t> </a:t>
            </a:r>
            <a:r>
              <a:rPr lang="ar-EG" sz="3200" dirty="0" err="1"/>
              <a:t>labels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For </a:t>
            </a:r>
            <a:r>
              <a:rPr lang="ar-EG" sz="3200" dirty="0" err="1"/>
              <a:t>two</a:t>
            </a:r>
            <a:r>
              <a:rPr lang="ar-EG" sz="3200" dirty="0"/>
              <a:t>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features</a:t>
            </a:r>
            <a:r>
              <a:rPr lang="ar-EG" sz="3200" dirty="0"/>
              <a:t>,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boundary</a:t>
            </a:r>
            <a:r>
              <a:rPr lang="ar-EG" sz="3200" dirty="0"/>
              <a:t> is a </a:t>
            </a:r>
            <a:r>
              <a:rPr lang="ar-EG" sz="3200" dirty="0" err="1"/>
              <a:t>straight</a:t>
            </a:r>
            <a:r>
              <a:rPr lang="ar-EG" sz="3200" dirty="0"/>
              <a:t> </a:t>
            </a:r>
            <a:r>
              <a:rPr lang="ar-EG" sz="3200" dirty="0" err="1"/>
              <a:t>line</a:t>
            </a:r>
            <a:r>
              <a:rPr lang="ar-EG" sz="3200" dirty="0"/>
              <a:t> </a:t>
            </a:r>
            <a:r>
              <a:rPr lang="ar-EG" sz="3200" dirty="0" err="1"/>
              <a:t>in</a:t>
            </a:r>
            <a:r>
              <a:rPr lang="ar-EG" sz="3200" dirty="0"/>
              <a:t> a </a:t>
            </a:r>
            <a:r>
              <a:rPr lang="ar-EG" sz="3200" dirty="0" err="1"/>
              <a:t>two-dimensional</a:t>
            </a:r>
            <a:r>
              <a:rPr lang="ar-EG" sz="3200" dirty="0"/>
              <a:t> </a:t>
            </a:r>
            <a:r>
              <a:rPr lang="ar-EG" sz="3200" dirty="0" err="1"/>
              <a:t>feature</a:t>
            </a:r>
            <a:r>
              <a:rPr lang="ar-EG" sz="3200" dirty="0"/>
              <a:t> </a:t>
            </a:r>
            <a:r>
              <a:rPr lang="ar-EG" sz="3200" dirty="0" err="1"/>
              <a:t>space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ar-EG" sz="3200" dirty="0" err="1"/>
              <a:t>higher-dimensional</a:t>
            </a:r>
            <a:r>
              <a:rPr lang="ar-EG" sz="3200" dirty="0"/>
              <a:t> </a:t>
            </a:r>
            <a:r>
              <a:rPr lang="ar-EG" sz="3200" dirty="0" err="1"/>
              <a:t>spaces</a:t>
            </a:r>
            <a:r>
              <a:rPr lang="ar-EG" sz="3200" dirty="0"/>
              <a:t>,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corresponding</a:t>
            </a:r>
            <a:r>
              <a:rPr lang="ar-EG" sz="3200" dirty="0"/>
              <a:t> </a:t>
            </a:r>
            <a:r>
              <a:rPr lang="ar-EG" sz="3200" dirty="0" err="1"/>
              <a:t>boundary</a:t>
            </a:r>
            <a:r>
              <a:rPr lang="ar-EG" sz="3200" dirty="0"/>
              <a:t> is a </a:t>
            </a:r>
            <a:r>
              <a:rPr lang="ar-EG" sz="3200" dirty="0" err="1"/>
              <a:t>hyperplane</a:t>
            </a:r>
            <a:r>
              <a:rPr lang="ar-EG" sz="3200" dirty="0"/>
              <a:t>.</a:t>
            </a:r>
            <a:endParaRPr lang="en-US" sz="3200" dirty="0"/>
          </a:p>
          <a:p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endParaRPr lang="ar-EG" sz="3200" dirty="0"/>
          </a:p>
          <a:p>
            <a:pPr algn="ctr"/>
            <a:endParaRPr lang="ar-EG" sz="3200" dirty="0"/>
          </a:p>
          <a:p>
            <a:pPr algn="ctr"/>
            <a:endParaRPr lang="ar-EG" sz="3200" dirty="0"/>
          </a:p>
          <a:p>
            <a:r>
              <a:rPr lang="ar-EG" sz="3200" b="1" dirty="0" err="1"/>
              <a:t>Decision</a:t>
            </a:r>
            <a:r>
              <a:rPr lang="ar-EG" sz="3200" b="1" dirty="0"/>
              <a:t> </a:t>
            </a:r>
            <a:r>
              <a:rPr lang="ar-EG" sz="3200" b="1" dirty="0" err="1"/>
              <a:t>Boundary</a:t>
            </a:r>
            <a:endParaRPr lang="en-US" sz="3200" b="1" dirty="0"/>
          </a:p>
          <a:p>
            <a:endParaRPr lang="en-US" sz="3200" b="1" dirty="0"/>
          </a:p>
          <a:p>
            <a:endParaRPr lang="ar-EG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boundary</a:t>
            </a:r>
            <a:r>
              <a:rPr lang="ar-EG" sz="3200" dirty="0"/>
              <a:t> </a:t>
            </a:r>
            <a:r>
              <a:rPr lang="ar-EG" sz="3200" dirty="0" err="1"/>
              <a:t>divides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feature</a:t>
            </a:r>
            <a:r>
              <a:rPr lang="ar-EG" sz="3200" dirty="0"/>
              <a:t> </a:t>
            </a:r>
            <a:r>
              <a:rPr lang="ar-EG" sz="3200" dirty="0" err="1"/>
              <a:t>space</a:t>
            </a:r>
            <a:r>
              <a:rPr lang="ar-EG" sz="3200" dirty="0"/>
              <a:t> </a:t>
            </a:r>
            <a:r>
              <a:rPr lang="ar-EG" sz="3200" dirty="0" err="1"/>
              <a:t>into</a:t>
            </a:r>
            <a:r>
              <a:rPr lang="ar-EG" sz="3200" dirty="0"/>
              <a:t> </a:t>
            </a:r>
            <a:r>
              <a:rPr lang="ar-EG" sz="3200" dirty="0" err="1"/>
              <a:t>regions</a:t>
            </a:r>
            <a:r>
              <a:rPr lang="ar-EG" sz="3200" dirty="0"/>
              <a:t> </a:t>
            </a:r>
            <a:r>
              <a:rPr lang="ar-EG" sz="3200" dirty="0" err="1"/>
              <a:t>associated</a:t>
            </a:r>
            <a:r>
              <a:rPr lang="ar-EG" sz="3200" dirty="0"/>
              <a:t> with </a:t>
            </a:r>
            <a:r>
              <a:rPr lang="ar-EG" sz="3200" dirty="0" err="1"/>
              <a:t>different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.</a:t>
            </a:r>
            <a:endParaRPr lang="en-US" sz="3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3DDED2-9E09-ABE7-C7C7-8E9DD57670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1115" y="5766985"/>
            <a:ext cx="4605769" cy="7543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31B8D7-06D1-225D-F9DA-78EB748A38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1115" y="7380378"/>
            <a:ext cx="4605770" cy="77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250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3AE6F-7EEB-7815-70CE-380634A64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391509B-226C-972E-C800-69F1972216C8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498ED6-619F-E21E-EB9A-9EB80D24367B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EA4FDE-45F3-FBC6-E3AF-00AB28001B1D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DCBD279-7343-6B2D-AB33-356E6B1BF06D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29BD763-A2D3-B0FB-6960-F4983097B25E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5F2AAA1-803A-788D-84A9-567DDD24B1E8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BFFD604-382C-D292-5689-62A5D06BF8AA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EB62E80-ECE4-14DB-6037-8110D9A1D252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B59873E-9B9C-8395-2ADF-27AF67A4D3C2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C7F6B29-21F5-2418-806D-B820A359F4CC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/>
              <a:t>Understanding </a:t>
            </a: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Decision</a:t>
            </a:r>
            <a:r>
              <a:rPr lang="ar-EG" sz="6000" dirty="0"/>
              <a:t> </a:t>
            </a:r>
            <a:r>
              <a:rPr lang="ar-EG" sz="6000" dirty="0" err="1"/>
              <a:t>Boundary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0AA06B-106C-BE5C-D6BC-2E076518B488}"/>
              </a:ext>
            </a:extLst>
          </p:cNvPr>
          <p:cNvSpPr txBox="1"/>
          <p:nvPr/>
        </p:nvSpPr>
        <p:spPr>
          <a:xfrm>
            <a:off x="2115206" y="1815969"/>
            <a:ext cx="1551074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3200" b="1" dirty="0" err="1"/>
              <a:t>How</a:t>
            </a:r>
            <a:r>
              <a:rPr lang="ar-EG" sz="3200" b="1" dirty="0"/>
              <a:t> </a:t>
            </a:r>
            <a:r>
              <a:rPr lang="ar-EG" sz="3200" b="1" dirty="0" err="1"/>
              <a:t>Does</a:t>
            </a:r>
            <a:r>
              <a:rPr lang="ar-EG" sz="3200" b="1" dirty="0"/>
              <a:t> </a:t>
            </a:r>
            <a:r>
              <a:rPr lang="ar-EG" sz="3200" b="1" dirty="0" err="1"/>
              <a:t>the</a:t>
            </a:r>
            <a:r>
              <a:rPr lang="ar-EG" sz="3200" b="1" dirty="0"/>
              <a:t> </a:t>
            </a:r>
            <a:r>
              <a:rPr lang="ar-EG" sz="3200" b="1" dirty="0" err="1"/>
              <a:t>Classifier</a:t>
            </a:r>
            <a:r>
              <a:rPr lang="ar-EG" sz="3200" b="1" dirty="0"/>
              <a:t> </a:t>
            </a:r>
            <a:r>
              <a:rPr lang="ar-EG" sz="3200" b="1" dirty="0" err="1"/>
              <a:t>Make</a:t>
            </a:r>
            <a:r>
              <a:rPr lang="ar-EG" sz="3200" b="1" dirty="0"/>
              <a:t> a </a:t>
            </a:r>
            <a:r>
              <a:rPr lang="ar-EG" sz="3200" b="1" dirty="0" err="1"/>
              <a:t>Decision</a:t>
            </a:r>
            <a:r>
              <a:rPr lang="ar-EG" sz="3200" b="1" dirty="0"/>
              <a:t>?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boundary</a:t>
            </a:r>
            <a:r>
              <a:rPr lang="ar-EG" sz="3200" dirty="0"/>
              <a:t> </a:t>
            </a:r>
            <a:r>
              <a:rPr lang="ar-EG" sz="3200" dirty="0" err="1"/>
              <a:t>separates</a:t>
            </a:r>
            <a:r>
              <a:rPr lang="ar-EG" sz="3200" dirty="0"/>
              <a:t> </a:t>
            </a:r>
            <a:r>
              <a:rPr lang="ar-EG" sz="3200" dirty="0" err="1"/>
              <a:t>regions</a:t>
            </a:r>
            <a:r>
              <a:rPr lang="ar-EG" sz="3200" dirty="0"/>
              <a:t> </a:t>
            </a:r>
            <a:r>
              <a:rPr lang="ar-EG" sz="3200" dirty="0" err="1"/>
              <a:t>assigned</a:t>
            </a:r>
            <a:r>
              <a:rPr lang="ar-EG" sz="3200" dirty="0"/>
              <a:t> to </a:t>
            </a:r>
            <a:r>
              <a:rPr lang="ar-EG" sz="3200" dirty="0" err="1"/>
              <a:t>different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An </a:t>
            </a:r>
            <a:r>
              <a:rPr lang="ar-EG" sz="3200" dirty="0" err="1"/>
              <a:t>observation's</a:t>
            </a:r>
            <a:r>
              <a:rPr lang="ar-EG" sz="3200" dirty="0"/>
              <a:t> </a:t>
            </a:r>
            <a:r>
              <a:rPr lang="ar-EG" sz="3200" dirty="0" err="1"/>
              <a:t>position</a:t>
            </a:r>
            <a:r>
              <a:rPr lang="ar-EG" sz="3200" dirty="0"/>
              <a:t> </a:t>
            </a:r>
            <a:r>
              <a:rPr lang="ar-EG" sz="3200" dirty="0" err="1"/>
              <a:t>relative</a:t>
            </a:r>
            <a:r>
              <a:rPr lang="ar-EG" sz="3200" dirty="0"/>
              <a:t> to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boundary</a:t>
            </a:r>
            <a:r>
              <a:rPr lang="ar-EG" sz="3200" dirty="0"/>
              <a:t> </a:t>
            </a:r>
            <a:r>
              <a:rPr lang="ar-EG" sz="3200" dirty="0" err="1"/>
              <a:t>determines</a:t>
            </a:r>
            <a:r>
              <a:rPr lang="ar-EG" sz="3200" dirty="0"/>
              <a:t> </a:t>
            </a:r>
            <a:r>
              <a:rPr lang="ar-EG" sz="3200" dirty="0" err="1"/>
              <a:t>its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class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weights</a:t>
            </a:r>
            <a:r>
              <a:rPr lang="ar-EG" sz="3200" dirty="0"/>
              <a:t> </a:t>
            </a:r>
            <a:r>
              <a:rPr lang="ar-EG" sz="3200" dirty="0" err="1"/>
              <a:t>determine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orientation</a:t>
            </a:r>
            <a:r>
              <a:rPr lang="ar-EG" sz="3200" dirty="0"/>
              <a:t> of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boundary</a:t>
            </a:r>
            <a:r>
              <a:rPr lang="ar-EG" sz="3200" dirty="0"/>
              <a:t>, </a:t>
            </a:r>
            <a:r>
              <a:rPr lang="ar-EG" sz="3200" dirty="0" err="1"/>
              <a:t>while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bias</a:t>
            </a:r>
            <a:r>
              <a:rPr lang="ar-EG" sz="3200" dirty="0"/>
              <a:t> </a:t>
            </a:r>
            <a:r>
              <a:rPr lang="ar-EG" sz="3200" dirty="0" err="1"/>
              <a:t>influences</a:t>
            </a:r>
            <a:r>
              <a:rPr lang="ar-EG" sz="3200" dirty="0"/>
              <a:t> </a:t>
            </a:r>
            <a:r>
              <a:rPr lang="ar-EG" sz="3200" dirty="0" err="1"/>
              <a:t>its</a:t>
            </a:r>
            <a:r>
              <a:rPr lang="ar-EG" sz="3200" dirty="0"/>
              <a:t> </a:t>
            </a:r>
            <a:r>
              <a:rPr lang="ar-EG" sz="3200" dirty="0" err="1"/>
              <a:t>position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boundary</a:t>
            </a:r>
            <a:r>
              <a:rPr lang="ar-EG" sz="3200" dirty="0"/>
              <a:t> </a:t>
            </a:r>
            <a:r>
              <a:rPr lang="ar-EG" sz="3200" dirty="0" err="1"/>
              <a:t>may</a:t>
            </a:r>
            <a:r>
              <a:rPr lang="ar-EG" sz="3200" dirty="0"/>
              <a:t> </a:t>
            </a:r>
            <a:r>
              <a:rPr lang="ar-EG" sz="3200" dirty="0" err="1"/>
              <a:t>not</a:t>
            </a:r>
            <a:r>
              <a:rPr lang="ar-EG" sz="3200" dirty="0"/>
              <a:t> </a:t>
            </a:r>
            <a:r>
              <a:rPr lang="ar-EG" sz="3200" dirty="0" err="1"/>
              <a:t>separate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 that have a </a:t>
            </a:r>
            <a:r>
              <a:rPr lang="ar-EG" sz="3200" dirty="0" err="1"/>
              <a:t>complex</a:t>
            </a:r>
            <a:r>
              <a:rPr lang="ar-EG" sz="3200" dirty="0"/>
              <a:t> </a:t>
            </a:r>
            <a:r>
              <a:rPr lang="ar-EG" sz="3200" dirty="0" err="1"/>
              <a:t>nonlinear</a:t>
            </a:r>
            <a:r>
              <a:rPr lang="ar-EG" sz="3200" dirty="0"/>
              <a:t> </a:t>
            </a:r>
            <a:r>
              <a:rPr lang="ar-EG" sz="3200" dirty="0" err="1"/>
              <a:t>structure</a:t>
            </a:r>
            <a:endParaRPr lang="ar-EG" sz="3200" dirty="0"/>
          </a:p>
          <a:p>
            <a:endParaRPr lang="ar-EG" sz="3200" b="1" dirty="0"/>
          </a:p>
        </p:txBody>
      </p:sp>
      <p:pic>
        <p:nvPicPr>
          <p:cNvPr id="14" name="Picture 13" descr="Linear Classifiers: Decision Boundaries and Logistic Regression - Interactive | Michael Brenndoerfer | Michael Brenndoerfer">
            <a:extLst>
              <a:ext uri="{FF2B5EF4-FFF2-40B4-BE49-F238E27FC236}">
                <a16:creationId xmlns:a16="http://schemas.microsoft.com/office/drawing/2014/main" id="{7E61C3E1-1C6B-8C3D-4FA7-0B2671CDC7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9505" y="5148925"/>
            <a:ext cx="6128990" cy="412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05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43C09-FC1A-4EC3-EF2B-4401452D2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408A5B-AAA4-91BC-92AB-02A0273846F3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7EF826F-3E20-9729-F1C4-171D86601BF5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B28D3E1-7F3F-EA40-2734-756B6643B074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F0E9F32-819D-4A88-075C-D57AC9D7E461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AA6DE5B-20BA-A2DD-A608-C9FE9A7A404D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096EE66-0DA3-80D5-6450-3BDA438236DC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C9E445D-9915-0A84-2FD2-A985CEB7DD8B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C59E0FD-8040-F7E8-71FE-75CAF0BBF1B5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0349DCC-C28D-C9E2-DAD6-2D89772B1B80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A1272C0-3813-754A-A398-E76C2C539016}"/>
              </a:ext>
            </a:extLst>
          </p:cNvPr>
          <p:cNvSpPr txBox="1"/>
          <p:nvPr/>
        </p:nvSpPr>
        <p:spPr>
          <a:xfrm>
            <a:off x="2437928" y="381818"/>
            <a:ext cx="1377648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Relationship</a:t>
            </a:r>
            <a:r>
              <a:rPr lang="ar-EG" sz="6000" dirty="0"/>
              <a:t> Between </a:t>
            </a:r>
            <a:r>
              <a:rPr lang="ar-EG" sz="6000" dirty="0" err="1"/>
              <a:t>Linear</a:t>
            </a:r>
            <a:r>
              <a:rPr lang="ar-EG" sz="6000" dirty="0"/>
              <a:t> </a:t>
            </a:r>
            <a:r>
              <a:rPr lang="ar-EG" sz="6000" dirty="0" err="1"/>
              <a:t>Classification</a:t>
            </a:r>
            <a:r>
              <a:rPr lang="ar-EG" sz="6000" dirty="0"/>
              <a:t> and </a:t>
            </a:r>
            <a:r>
              <a:rPr lang="ar-EG" sz="6000" dirty="0" err="1"/>
              <a:t>Logistic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6A1D86-2CD8-F8A5-AB88-ED69296C7EF8}"/>
              </a:ext>
            </a:extLst>
          </p:cNvPr>
          <p:cNvSpPr txBox="1"/>
          <p:nvPr/>
        </p:nvSpPr>
        <p:spPr>
          <a:xfrm>
            <a:off x="1524000" y="2465589"/>
            <a:ext cx="16096685" cy="747897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3200" b="1" dirty="0" err="1"/>
              <a:t>Important</a:t>
            </a:r>
            <a:r>
              <a:rPr lang="ar-EG" sz="3200" b="1" dirty="0"/>
              <a:t> </a:t>
            </a:r>
            <a:r>
              <a:rPr lang="ar-EG" sz="3200" b="1" dirty="0" err="1"/>
              <a:t>Conceptual</a:t>
            </a:r>
            <a:r>
              <a:rPr lang="ar-EG" sz="3200" b="1" dirty="0"/>
              <a:t> </a:t>
            </a:r>
            <a:r>
              <a:rPr lang="ar-EG" sz="3200" b="1" dirty="0" err="1"/>
              <a:t>Distinction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 is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task</a:t>
            </a:r>
            <a:r>
              <a:rPr lang="ar-EG" sz="3200" dirty="0"/>
              <a:t> of </a:t>
            </a:r>
            <a:r>
              <a:rPr lang="ar-EG" sz="3200" dirty="0" err="1"/>
              <a:t>assigning</a:t>
            </a:r>
            <a:r>
              <a:rPr lang="ar-EG" sz="3200" dirty="0"/>
              <a:t> </a:t>
            </a:r>
            <a:r>
              <a:rPr lang="ar-EG" sz="3200" dirty="0" err="1"/>
              <a:t>observations</a:t>
            </a:r>
            <a:r>
              <a:rPr lang="ar-EG" sz="3200" dirty="0"/>
              <a:t> to </a:t>
            </a:r>
            <a:r>
              <a:rPr lang="ar-EG" sz="3200" dirty="0" err="1"/>
              <a:t>one</a:t>
            </a:r>
            <a:r>
              <a:rPr lang="ar-EG" sz="3200" dirty="0"/>
              <a:t> of </a:t>
            </a:r>
            <a:r>
              <a:rPr lang="ar-EG" sz="3200" dirty="0" err="1"/>
              <a:t>two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classifier</a:t>
            </a:r>
            <a:r>
              <a:rPr lang="ar-EG" sz="3200" dirty="0"/>
              <a:t> </a:t>
            </a:r>
            <a:r>
              <a:rPr lang="ar-EG" sz="3200" dirty="0" err="1"/>
              <a:t>uses</a:t>
            </a:r>
            <a:r>
              <a:rPr lang="ar-EG" sz="3200" dirty="0"/>
              <a:t> a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r>
              <a:rPr lang="ar-EG" sz="3200" dirty="0"/>
              <a:t> to </a:t>
            </a:r>
            <a:r>
              <a:rPr lang="ar-EG" sz="3200" dirty="0" err="1"/>
              <a:t>separate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is a </a:t>
            </a:r>
            <a:r>
              <a:rPr lang="ar-EG" sz="3200" dirty="0" err="1"/>
              <a:t>specific</a:t>
            </a:r>
            <a:r>
              <a:rPr lang="ar-EG" sz="3200" dirty="0"/>
              <a:t> </a:t>
            </a:r>
            <a:r>
              <a:rPr lang="ar-EG" sz="3200" dirty="0" err="1"/>
              <a:t>supervised</a:t>
            </a:r>
            <a:r>
              <a:rPr lang="ar-EG" sz="3200" dirty="0"/>
              <a:t> learning </a:t>
            </a:r>
            <a:r>
              <a:rPr lang="ar-EG" sz="3200" dirty="0" err="1"/>
              <a:t>algorithm</a:t>
            </a:r>
            <a:r>
              <a:rPr lang="ar-EG" sz="3200" dirty="0"/>
              <a:t> </a:t>
            </a:r>
            <a:r>
              <a:rPr lang="ar-EG" sz="3200" dirty="0" err="1"/>
              <a:t>commonly</a:t>
            </a:r>
            <a:r>
              <a:rPr lang="ar-EG" sz="3200" dirty="0"/>
              <a:t> </a:t>
            </a:r>
            <a:r>
              <a:rPr lang="ar-EG" sz="3200" dirty="0" err="1"/>
              <a:t>used</a:t>
            </a:r>
            <a:r>
              <a:rPr lang="ar-EG" sz="3200" dirty="0"/>
              <a:t> for </a:t>
            </a: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calculates</a:t>
            </a:r>
            <a:r>
              <a:rPr lang="ar-EG" sz="3200" dirty="0"/>
              <a:t> a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and </a:t>
            </a:r>
            <a:r>
              <a:rPr lang="ar-EG" sz="3200" dirty="0" err="1"/>
              <a:t>transforms</a:t>
            </a:r>
            <a:r>
              <a:rPr lang="ar-EG" sz="3200" dirty="0"/>
              <a:t> </a:t>
            </a:r>
            <a:r>
              <a:rPr lang="ar-EG" sz="3200" dirty="0" err="1"/>
              <a:t>it</a:t>
            </a:r>
            <a:r>
              <a:rPr lang="ar-EG" sz="3200" dirty="0"/>
              <a:t> </a:t>
            </a:r>
            <a:r>
              <a:rPr lang="ar-EG" sz="3200" dirty="0" err="1"/>
              <a:t>into</a:t>
            </a:r>
            <a:r>
              <a:rPr lang="ar-EG" sz="3200" dirty="0"/>
              <a:t> a </a:t>
            </a:r>
            <a:r>
              <a:rPr lang="ar-EG" sz="3200" dirty="0" err="1"/>
              <a:t>probability</a:t>
            </a:r>
            <a:r>
              <a:rPr lang="ar-EG" sz="3200" dirty="0"/>
              <a:t> </a:t>
            </a:r>
            <a:r>
              <a:rPr lang="ar-EG" sz="3200" dirty="0" err="1"/>
              <a:t>using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sigmoid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is then </a:t>
            </a:r>
            <a:r>
              <a:rPr lang="ar-EG" sz="3200" dirty="0" err="1"/>
              <a:t>compared</a:t>
            </a:r>
            <a:r>
              <a:rPr lang="ar-EG" sz="3200" dirty="0"/>
              <a:t> with a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threshold</a:t>
            </a:r>
            <a:r>
              <a:rPr lang="ar-EG" sz="3200" dirty="0"/>
              <a:t> to </a:t>
            </a:r>
            <a:r>
              <a:rPr lang="ar-EG" sz="3200" dirty="0" err="1"/>
              <a:t>obtain</a:t>
            </a:r>
            <a:r>
              <a:rPr lang="ar-EG" sz="3200" dirty="0"/>
              <a:t> a </a:t>
            </a:r>
            <a:r>
              <a:rPr lang="ar-EG" sz="3200" dirty="0" err="1"/>
              <a:t>class</a:t>
            </a:r>
            <a:r>
              <a:rPr lang="ar-EG" sz="3200" dirty="0"/>
              <a:t> </a:t>
            </a:r>
            <a:r>
              <a:rPr lang="ar-EG" sz="3200" dirty="0" err="1"/>
              <a:t>label</a:t>
            </a:r>
            <a:r>
              <a:rPr lang="ar-EG" sz="3200" dirty="0"/>
              <a:t>.</a:t>
            </a:r>
          </a:p>
          <a:p>
            <a:r>
              <a:rPr lang="ar-EG" sz="3200" b="1" dirty="0" err="1"/>
              <a:t>Examples</a:t>
            </a:r>
            <a:r>
              <a:rPr lang="ar-EG" sz="3200" b="1" dirty="0"/>
              <a:t> of </a:t>
            </a:r>
            <a:r>
              <a:rPr lang="ar-EG" sz="3200" b="1" dirty="0" err="1"/>
              <a:t>Linear</a:t>
            </a:r>
            <a:r>
              <a:rPr lang="ar-EG" sz="3200" b="1" dirty="0"/>
              <a:t> </a:t>
            </a:r>
            <a:r>
              <a:rPr lang="ar-EG" sz="3200" b="1" dirty="0" err="1"/>
              <a:t>Classification</a:t>
            </a:r>
            <a:r>
              <a:rPr lang="ar-EG" sz="3200" b="1" dirty="0"/>
              <a:t> </a:t>
            </a:r>
            <a:r>
              <a:rPr lang="ar-EG" sz="3200" b="1" dirty="0" err="1"/>
              <a:t>Algorithms</a:t>
            </a:r>
            <a:endParaRPr lang="ar-EG" sz="3200" b="1" dirty="0"/>
          </a:p>
          <a:p>
            <a:pPr marL="514350" lvl="0" indent="-514350">
              <a:buFont typeface="+mj-lt"/>
              <a:buAutoNum type="arabicPeriod"/>
            </a:pP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ar-EG" sz="3200" dirty="0" err="1"/>
              <a:t>Perceptron</a:t>
            </a:r>
            <a:r>
              <a:rPr lang="ar-EG" sz="3200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Support</a:t>
            </a:r>
            <a:r>
              <a:rPr lang="ar-EG" sz="3200" dirty="0"/>
              <a:t> </a:t>
            </a:r>
            <a:r>
              <a:rPr lang="ar-EG" sz="3200" dirty="0" err="1"/>
              <a:t>Vector</a:t>
            </a:r>
            <a:r>
              <a:rPr lang="ar-EG" sz="3200" dirty="0"/>
              <a:t> </a:t>
            </a:r>
            <a:r>
              <a:rPr lang="ar-EG" sz="3200" dirty="0" err="1"/>
              <a:t>Machine</a:t>
            </a:r>
            <a:r>
              <a:rPr lang="ar-EG" sz="3200" dirty="0"/>
              <a:t> (</a:t>
            </a:r>
            <a:r>
              <a:rPr lang="ar-EG" sz="3200" dirty="0" err="1"/>
              <a:t>Linear</a:t>
            </a:r>
            <a:r>
              <a:rPr lang="ar-EG" sz="3200" dirty="0"/>
              <a:t> SVM).</a:t>
            </a:r>
          </a:p>
          <a:p>
            <a:r>
              <a:rPr lang="ar-EG" sz="3200" b="1" dirty="0" err="1"/>
              <a:t>Key</a:t>
            </a:r>
            <a:r>
              <a:rPr lang="ar-EG" sz="3200" b="1" dirty="0"/>
              <a:t> </a:t>
            </a:r>
            <a:r>
              <a:rPr lang="ar-EG" sz="3200" b="1" dirty="0" err="1"/>
              <a:t>Point</a:t>
            </a:r>
            <a:r>
              <a:rPr lang="ar-EG" sz="3200" b="1" dirty="0"/>
              <a:t>: </a:t>
            </a:r>
            <a:r>
              <a:rPr lang="ar-EG" sz="3200" dirty="0"/>
              <a:t>These </a:t>
            </a:r>
            <a:r>
              <a:rPr lang="ar-EG" sz="3200" dirty="0" err="1"/>
              <a:t>algorithms</a:t>
            </a:r>
            <a:r>
              <a:rPr lang="ar-EG" sz="3200" dirty="0"/>
              <a:t> can use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boundaries</a:t>
            </a:r>
            <a:r>
              <a:rPr lang="ar-EG" sz="3200" dirty="0"/>
              <a:t>, but </a:t>
            </a:r>
            <a:r>
              <a:rPr lang="ar-EG" sz="3200" dirty="0" err="1"/>
              <a:t>they</a:t>
            </a:r>
            <a:r>
              <a:rPr lang="ar-EG" sz="3200" dirty="0"/>
              <a:t> </a:t>
            </a:r>
            <a:r>
              <a:rPr lang="ar-EG" sz="3200" dirty="0" err="1"/>
              <a:t>differ</a:t>
            </a:r>
            <a:r>
              <a:rPr lang="ar-EG" sz="3200" dirty="0"/>
              <a:t> </a:t>
            </a: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ar-EG" sz="3200" dirty="0" err="1"/>
              <a:t>their</a:t>
            </a:r>
            <a:r>
              <a:rPr lang="ar-EG" sz="3200" dirty="0"/>
              <a:t> learning </a:t>
            </a:r>
            <a:r>
              <a:rPr lang="ar-EG" sz="3200" dirty="0" err="1"/>
              <a:t>objectives</a:t>
            </a:r>
            <a:r>
              <a:rPr lang="ar-EG" sz="3200" dirty="0"/>
              <a:t>, </a:t>
            </a:r>
            <a:r>
              <a:rPr lang="ar-EG" sz="3200" dirty="0" err="1"/>
              <a:t>training</a:t>
            </a:r>
            <a:r>
              <a:rPr lang="ar-EG" sz="3200" dirty="0"/>
              <a:t> </a:t>
            </a:r>
            <a:r>
              <a:rPr lang="ar-EG" sz="3200" dirty="0" err="1"/>
              <a:t>procedures</a:t>
            </a:r>
            <a:r>
              <a:rPr lang="ar-EG" sz="3200" dirty="0"/>
              <a:t>, and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rules</a:t>
            </a:r>
            <a:r>
              <a:rPr lang="ar-EG" sz="3200" dirty="0"/>
              <a:t>.</a:t>
            </a:r>
          </a:p>
          <a:p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1432652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5F59C-3BD9-535B-FE90-1E1502E1D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018E56-CB55-87F2-05FF-F9F77ED26BAB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2D8352A-5ADB-4DFC-50E9-67A3BD788518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6562D25-8309-3773-532D-BDEB907C1C54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8F3672F-16D0-AD9B-A16B-BAB36DD06278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A973A85-C927-7C0E-E866-59027E685A27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1424699-FAEA-DDCF-FC37-29D416925978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D69742E-BDBA-BC5C-EA43-33DEDF72F661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CFF87BE-3739-7DC4-8E7E-3C22EFB8E929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8FEB771-C9A0-F982-9A31-3E23DF6BF297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CFCD5A1-FFD2-1AFC-1F37-22A2D2451747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Logistic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r>
              <a:rPr lang="ar-EG" sz="6000" dirty="0"/>
              <a:t> Model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0B261E-7663-B436-3F9B-F2727928EED1}"/>
              </a:ext>
            </a:extLst>
          </p:cNvPr>
          <p:cNvSpPr txBox="1"/>
          <p:nvPr/>
        </p:nvSpPr>
        <p:spPr>
          <a:xfrm>
            <a:off x="2115206" y="1815969"/>
            <a:ext cx="15510741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is a </a:t>
            </a:r>
            <a:r>
              <a:rPr lang="ar-EG" sz="3200" dirty="0" err="1"/>
              <a:t>supervised</a:t>
            </a:r>
            <a:r>
              <a:rPr lang="ar-EG" sz="3200" dirty="0"/>
              <a:t> </a:t>
            </a:r>
            <a:r>
              <a:rPr lang="ar-EG" sz="3200" dirty="0" err="1"/>
              <a:t>machine</a:t>
            </a:r>
            <a:r>
              <a:rPr lang="ar-EG" sz="3200" dirty="0"/>
              <a:t> learning </a:t>
            </a:r>
            <a:r>
              <a:rPr lang="ar-EG" sz="3200" dirty="0" err="1"/>
              <a:t>algorithm</a:t>
            </a:r>
            <a:r>
              <a:rPr lang="ar-EG" sz="3200" dirty="0"/>
              <a:t> </a:t>
            </a:r>
            <a:r>
              <a:rPr lang="ar-EG" sz="3200" dirty="0" err="1"/>
              <a:t>primarily</a:t>
            </a:r>
            <a:r>
              <a:rPr lang="ar-EG" sz="3200" dirty="0"/>
              <a:t> </a:t>
            </a:r>
            <a:r>
              <a:rPr lang="ar-EG" sz="3200" dirty="0" err="1"/>
              <a:t>used</a:t>
            </a:r>
            <a:r>
              <a:rPr lang="ar-EG" sz="3200" dirty="0"/>
              <a:t> for </a:t>
            </a:r>
            <a:r>
              <a:rPr lang="ar-EG" sz="3200" dirty="0" err="1"/>
              <a:t>classification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Despite</a:t>
            </a:r>
            <a:r>
              <a:rPr lang="ar-EG" sz="3200" dirty="0"/>
              <a:t> </a:t>
            </a:r>
            <a:r>
              <a:rPr lang="ar-EG" sz="3200" dirty="0" err="1"/>
              <a:t>its</a:t>
            </a:r>
            <a:r>
              <a:rPr lang="ar-EG" sz="3200" dirty="0"/>
              <a:t> name, </a:t>
            </a:r>
            <a:r>
              <a:rPr lang="ar-EG" sz="3200" dirty="0" err="1"/>
              <a:t>it</a:t>
            </a:r>
            <a:r>
              <a:rPr lang="ar-EG" sz="3200" dirty="0"/>
              <a:t> is </a:t>
            </a:r>
            <a:r>
              <a:rPr lang="ar-EG" sz="3200" dirty="0" err="1"/>
              <a:t>commonly</a:t>
            </a:r>
            <a:r>
              <a:rPr lang="ar-EG" sz="3200" dirty="0"/>
              <a:t> </a:t>
            </a:r>
            <a:r>
              <a:rPr lang="ar-EG" sz="3200" dirty="0" err="1"/>
              <a:t>used</a:t>
            </a:r>
            <a:r>
              <a:rPr lang="ar-EG" sz="3200" dirty="0"/>
              <a:t> to </a:t>
            </a:r>
            <a:r>
              <a:rPr lang="ar-EG" sz="3200" dirty="0" err="1"/>
              <a:t>predict</a:t>
            </a:r>
            <a:r>
              <a:rPr lang="ar-EG" sz="3200" dirty="0"/>
              <a:t> </a:t>
            </a:r>
            <a:r>
              <a:rPr lang="ar-EG" sz="3200" dirty="0" err="1"/>
              <a:t>class</a:t>
            </a:r>
            <a:r>
              <a:rPr lang="ar-EG" sz="3200" dirty="0"/>
              <a:t> </a:t>
            </a:r>
            <a:r>
              <a:rPr lang="ar-EG" sz="3200" dirty="0" err="1"/>
              <a:t>probabilities</a:t>
            </a:r>
            <a:r>
              <a:rPr lang="ar-EG" sz="3200" dirty="0"/>
              <a:t> </a:t>
            </a:r>
            <a:r>
              <a:rPr lang="ar-EG" sz="3200" dirty="0" err="1"/>
              <a:t>rather</a:t>
            </a:r>
            <a:r>
              <a:rPr lang="ar-EG" sz="3200" dirty="0"/>
              <a:t> </a:t>
            </a:r>
            <a:r>
              <a:rPr lang="ar-EG" sz="3200" dirty="0" err="1"/>
              <a:t>than</a:t>
            </a:r>
            <a:r>
              <a:rPr lang="ar-EG" sz="3200" dirty="0"/>
              <a:t> </a:t>
            </a:r>
            <a:r>
              <a:rPr lang="ar-EG" sz="3200" dirty="0" err="1"/>
              <a:t>continuous</a:t>
            </a:r>
            <a:r>
              <a:rPr lang="ar-EG" sz="3200" dirty="0"/>
              <a:t> </a:t>
            </a:r>
            <a:r>
              <a:rPr lang="ar-EG" sz="3200" dirty="0" err="1"/>
              <a:t>numerical</a:t>
            </a:r>
            <a:r>
              <a:rPr lang="ar-EG" sz="3200" dirty="0"/>
              <a:t> </a:t>
            </a:r>
            <a:r>
              <a:rPr lang="ar-EG" sz="3200" dirty="0" err="1"/>
              <a:t>targets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It is </a:t>
            </a:r>
            <a:r>
              <a:rPr lang="ar-EG" sz="3200" dirty="0" err="1"/>
              <a:t>particularly</a:t>
            </a:r>
            <a:r>
              <a:rPr lang="ar-EG" sz="3200" dirty="0"/>
              <a:t> </a:t>
            </a:r>
            <a:r>
              <a:rPr lang="ar-EG" sz="3200" dirty="0" err="1"/>
              <a:t>suitable</a:t>
            </a:r>
            <a:r>
              <a:rPr lang="ar-EG" sz="3200" dirty="0"/>
              <a:t> for </a:t>
            </a: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problems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calculates</a:t>
            </a:r>
            <a:r>
              <a:rPr lang="ar-EG" sz="3200" dirty="0"/>
              <a:t> a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combination</a:t>
            </a:r>
            <a:r>
              <a:rPr lang="ar-EG" sz="3200" dirty="0"/>
              <a:t> of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features</a:t>
            </a:r>
            <a:r>
              <a:rPr lang="ar-EG" sz="3200" dirty="0"/>
              <a:t> and </a:t>
            </a:r>
            <a:r>
              <a:rPr lang="ar-EG" sz="3200" dirty="0" err="1"/>
              <a:t>transforms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result</a:t>
            </a:r>
            <a:r>
              <a:rPr lang="ar-EG" sz="3200" dirty="0"/>
              <a:t> </a:t>
            </a:r>
            <a:r>
              <a:rPr lang="ar-EG" sz="3200" dirty="0" err="1"/>
              <a:t>into</a:t>
            </a:r>
            <a:r>
              <a:rPr lang="ar-EG" sz="3200" dirty="0"/>
              <a:t> a </a:t>
            </a:r>
            <a:r>
              <a:rPr lang="ar-EG" sz="3200" dirty="0" err="1"/>
              <a:t>probability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is </a:t>
            </a:r>
            <a:r>
              <a:rPr lang="ar-EG" sz="3200" dirty="0" err="1"/>
              <a:t>used</a:t>
            </a:r>
            <a:r>
              <a:rPr lang="ar-EG" sz="3200" dirty="0"/>
              <a:t> to </a:t>
            </a:r>
            <a:r>
              <a:rPr lang="ar-EG" sz="3200" dirty="0" err="1"/>
              <a:t>determine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most</a:t>
            </a:r>
            <a:r>
              <a:rPr lang="ar-EG" sz="3200" dirty="0"/>
              <a:t> </a:t>
            </a:r>
            <a:r>
              <a:rPr lang="ar-EG" sz="3200" dirty="0" err="1"/>
              <a:t>likely</a:t>
            </a:r>
            <a:r>
              <a:rPr lang="ar-EG" sz="3200" dirty="0"/>
              <a:t> </a:t>
            </a:r>
            <a:r>
              <a:rPr lang="ar-EG" sz="3200" dirty="0" err="1"/>
              <a:t>class</a:t>
            </a:r>
            <a:r>
              <a:rPr lang="ar-EG" sz="3200" dirty="0"/>
              <a:t> </a:t>
            </a:r>
            <a:r>
              <a:rPr lang="ar-EG" sz="3200" dirty="0" err="1"/>
              <a:t>according</a:t>
            </a:r>
            <a:r>
              <a:rPr lang="ar-EG" sz="3200" dirty="0"/>
              <a:t> to a </a:t>
            </a:r>
            <a:r>
              <a:rPr lang="ar-EG" sz="3200" dirty="0" err="1"/>
              <a:t>selected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threshold</a:t>
            </a:r>
            <a:r>
              <a:rPr lang="ar-EG" sz="3200" dirty="0"/>
              <a:t>.</a:t>
            </a:r>
            <a:endParaRPr lang="en-US" sz="3200" dirty="0"/>
          </a:p>
          <a:p>
            <a:r>
              <a:rPr lang="ar-EG" sz="3200" b="1" dirty="0" err="1"/>
              <a:t>Example</a:t>
            </a:r>
            <a:r>
              <a:rPr lang="ar-EG" sz="3200" b="1" dirty="0"/>
              <a:t>: </a:t>
            </a:r>
            <a:r>
              <a:rPr lang="ar-EG" sz="3200" b="1" dirty="0" err="1"/>
              <a:t>Student</a:t>
            </a:r>
            <a:r>
              <a:rPr lang="ar-EG" sz="3200" b="1" dirty="0"/>
              <a:t> </a:t>
            </a:r>
            <a:r>
              <a:rPr lang="ar-EG" sz="3200" b="1" dirty="0" err="1"/>
              <a:t>Pass</a:t>
            </a:r>
            <a:r>
              <a:rPr lang="ar-EG" sz="3200" b="1" dirty="0"/>
              <a:t>/</a:t>
            </a:r>
            <a:r>
              <a:rPr lang="ar-EG" sz="3200" b="1" dirty="0" err="1"/>
              <a:t>Fail</a:t>
            </a:r>
            <a:r>
              <a:rPr lang="ar-EG" sz="3200" b="1" dirty="0"/>
              <a:t> </a:t>
            </a:r>
            <a:r>
              <a:rPr lang="ar-EG" sz="3200" b="1" dirty="0" err="1"/>
              <a:t>Prediction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Inputs</a:t>
            </a:r>
            <a:r>
              <a:rPr lang="ar-EG" sz="3200" dirty="0"/>
              <a:t>: </a:t>
            </a:r>
            <a:r>
              <a:rPr lang="ar-EG" sz="3200" dirty="0" err="1"/>
              <a:t>Study</a:t>
            </a:r>
            <a:r>
              <a:rPr lang="ar-EG" sz="3200" dirty="0"/>
              <a:t> </a:t>
            </a:r>
            <a:r>
              <a:rPr lang="ar-EG" sz="3200" dirty="0" err="1"/>
              <a:t>hours</a:t>
            </a:r>
            <a:r>
              <a:rPr lang="ar-EG" sz="3200" dirty="0"/>
              <a:t> and </a:t>
            </a:r>
            <a:r>
              <a:rPr lang="ar-EG" sz="3200" dirty="0" err="1"/>
              <a:t>attendance</a:t>
            </a:r>
            <a:r>
              <a:rPr lang="ar-EG" sz="3200" dirty="0"/>
              <a:t> </a:t>
            </a:r>
            <a:r>
              <a:rPr lang="ar-EG" sz="3200" dirty="0" err="1"/>
              <a:t>percentage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Target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: </a:t>
            </a:r>
            <a:r>
              <a:rPr lang="ar-EG" sz="3200" dirty="0" err="1"/>
              <a:t>Fail</a:t>
            </a:r>
            <a:r>
              <a:rPr lang="ar-EG" sz="3200" dirty="0"/>
              <a:t> (0) and </a:t>
            </a:r>
            <a:r>
              <a:rPr lang="ar-EG" sz="3200" dirty="0" err="1"/>
              <a:t>Pass</a:t>
            </a:r>
            <a:r>
              <a:rPr lang="ar-EG" sz="3200" dirty="0"/>
              <a:t> (1).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Model </a:t>
            </a:r>
            <a:r>
              <a:rPr lang="ar-EG" sz="3200" dirty="0" err="1"/>
              <a:t>output</a:t>
            </a:r>
            <a:r>
              <a:rPr lang="ar-EG" sz="3200" dirty="0"/>
              <a:t>: </a:t>
            </a:r>
            <a:r>
              <a:rPr lang="ar-EG" sz="3200" dirty="0" err="1"/>
              <a:t>Estimated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that a </a:t>
            </a:r>
            <a:r>
              <a:rPr lang="ar-EG" sz="3200" dirty="0" err="1"/>
              <a:t>student</a:t>
            </a:r>
            <a:r>
              <a:rPr lang="ar-EG" sz="3200" dirty="0"/>
              <a:t> </a:t>
            </a:r>
            <a:r>
              <a:rPr lang="ar-EG" sz="3200" dirty="0" err="1"/>
              <a:t>will</a:t>
            </a:r>
            <a:r>
              <a:rPr lang="ar-EG" sz="3200" dirty="0"/>
              <a:t> </a:t>
            </a:r>
            <a:r>
              <a:rPr lang="ar-EG" sz="3200" dirty="0" err="1"/>
              <a:t>pass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Final</a:t>
            </a:r>
            <a:r>
              <a:rPr lang="ar-EG" sz="3200" dirty="0"/>
              <a:t> </a:t>
            </a:r>
            <a:r>
              <a:rPr lang="ar-EG" sz="3200" dirty="0" err="1"/>
              <a:t>prediction</a:t>
            </a:r>
            <a:r>
              <a:rPr lang="ar-EG" sz="3200" dirty="0"/>
              <a:t>: </a:t>
            </a:r>
            <a:r>
              <a:rPr lang="ar-EG" sz="3200" dirty="0" err="1"/>
              <a:t>Pass</a:t>
            </a:r>
            <a:r>
              <a:rPr lang="ar-EG" sz="3200" dirty="0"/>
              <a:t> or </a:t>
            </a:r>
            <a:r>
              <a:rPr lang="ar-EG" sz="3200" dirty="0" err="1"/>
              <a:t>Fail</a:t>
            </a:r>
            <a:r>
              <a:rPr lang="ar-EG" sz="3200" dirty="0"/>
              <a:t>, </a:t>
            </a:r>
            <a:r>
              <a:rPr lang="ar-EG" sz="3200" dirty="0" err="1"/>
              <a:t>based</a:t>
            </a:r>
            <a:r>
              <a:rPr lang="ar-EG" sz="3200" dirty="0"/>
              <a:t> on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threshold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2025185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EE4D5-81D5-128C-A4D6-5561A2684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6B370D-7BAD-CDE6-FCD0-6190B546631D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79132A8-5A2E-0328-0F3E-3A0DAC0800A0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CEA997D-1891-6D4E-67B9-EF22F9D02D11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4488068-8A7C-1057-E5AD-F60780B4E312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9CAACAF-C84A-D706-48AF-A5E81F314977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BDAC25F-B56E-DA46-DF41-16F5A07C2C80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96A3FBE-9DC0-F6BC-E9F1-882DD65A5763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29D0719-361C-96A2-9490-290BF9D728F1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46360AC-A6D0-2E7B-77BC-54D4B95E35A1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CB9B0F9-06C6-A7A1-F6E4-F750282CE596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Logistic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r>
              <a:rPr lang="ar-EG" sz="6000" dirty="0"/>
              <a:t> Model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7AB559-EEA6-C0D2-D6D4-4E141E051B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5765" y="2013252"/>
            <a:ext cx="1278255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98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42DB1-ACCC-07B1-5628-494C748E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B41C2B-443B-D69C-89DE-CA0669974989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0F3D611-B230-E219-4708-4A85EBFB73FA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ECF6CF7-95F3-025C-AFCA-B841F52CEFB0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F4591C2-0967-3DBA-1E25-A78D74ABAB88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7EAB1F9-34C7-55E7-0F47-EA1BE92B367E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C11D6AE-04F6-E910-25EE-21DC6F9FA2BB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6C6E0C6-6392-E8C4-8155-4CB0B28786D1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1992018-6A3E-560C-CF32-90262F864EA5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DC00BBA-9BF2-AADB-907C-DA630C6DA221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CD91235-0C80-A438-8864-A8F516760139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Logistic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r>
              <a:rPr lang="ar-EG" sz="6000" dirty="0"/>
              <a:t> Model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420021-00B7-4C6D-C86C-D57590E9423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946"/>
          <a:stretch>
            <a:fillRect/>
          </a:stretch>
        </p:blipFill>
        <p:spPr>
          <a:xfrm>
            <a:off x="2596618" y="1737378"/>
            <a:ext cx="13382625" cy="737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940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E1489-A483-53FF-6330-9A096D4E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DCCB7C-7680-F207-0C8C-28F72C5B5C74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39428FB-0BD5-00A2-43B3-7748BA2D3DCD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D28050F-ACDD-F1D2-8E92-68B41EABBA62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3EB4F40-489F-F53D-E611-7F83826BE03C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E8B1342-C55C-F389-B66C-0AD00E22BA72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EB9B8A4-579C-ADF8-C662-01695D08D6B7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1978B06-B3DC-4ECA-F2E2-31F6D0326237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425F7B9-0312-2452-298F-3483075BAD8D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B226B3D-5D0D-4BF1-6275-7D0BE487C00D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7CAC4C5-5682-81CA-0D4B-DF7BC0A9D0E7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Why</a:t>
            </a:r>
            <a:r>
              <a:rPr lang="ar-EG" sz="6000" dirty="0"/>
              <a:t> </a:t>
            </a:r>
            <a:r>
              <a:rPr lang="ar-EG" sz="6000" dirty="0" err="1"/>
              <a:t>Do</a:t>
            </a:r>
            <a:r>
              <a:rPr lang="ar-EG" sz="6000" dirty="0"/>
              <a:t> We Need </a:t>
            </a: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Sigmoid</a:t>
            </a:r>
            <a:r>
              <a:rPr lang="ar-EG" sz="6000" dirty="0"/>
              <a:t> </a:t>
            </a:r>
            <a:r>
              <a:rPr lang="ar-EG" sz="6000" dirty="0" err="1"/>
              <a:t>Function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C38D82-7542-D50E-50AD-1CE1569DAA88}"/>
              </a:ext>
            </a:extLst>
          </p:cNvPr>
          <p:cNvSpPr txBox="1"/>
          <p:nvPr/>
        </p:nvSpPr>
        <p:spPr>
          <a:xfrm>
            <a:off x="2115206" y="1815969"/>
            <a:ext cx="15510741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3200" b="1" dirty="0" err="1"/>
              <a:t>The</a:t>
            </a:r>
            <a:r>
              <a:rPr lang="ar-EG" sz="3200" b="1" dirty="0"/>
              <a:t> </a:t>
            </a:r>
            <a:r>
              <a:rPr lang="ar-EG" sz="3200" b="1" dirty="0" err="1"/>
              <a:t>Limitation</a:t>
            </a:r>
            <a:r>
              <a:rPr lang="ar-EG" sz="3200" b="1" dirty="0"/>
              <a:t> of a </a:t>
            </a:r>
            <a:r>
              <a:rPr lang="ar-EG" sz="3200" b="1" dirty="0" err="1"/>
              <a:t>Linear</a:t>
            </a:r>
            <a:r>
              <a:rPr lang="ar-EG" sz="3200" b="1" dirty="0"/>
              <a:t> </a:t>
            </a:r>
            <a:r>
              <a:rPr lang="ar-EG" sz="3200" b="1" dirty="0" err="1"/>
              <a:t>Score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r>
              <a:rPr lang="ar-EG" sz="3200" dirty="0"/>
              <a:t> can </a:t>
            </a:r>
            <a:r>
              <a:rPr lang="ar-EG" sz="3200" dirty="0" err="1"/>
              <a:t>produce</a:t>
            </a:r>
            <a:r>
              <a:rPr lang="ar-EG" sz="3200" dirty="0"/>
              <a:t> </a:t>
            </a:r>
            <a:r>
              <a:rPr lang="ar-EG" sz="3200" dirty="0" err="1"/>
              <a:t>any</a:t>
            </a:r>
            <a:r>
              <a:rPr lang="ar-EG" sz="3200" dirty="0"/>
              <a:t> </a:t>
            </a:r>
            <a:r>
              <a:rPr lang="ar-EG" sz="3200" dirty="0" err="1"/>
              <a:t>real-valued</a:t>
            </a:r>
            <a:r>
              <a:rPr lang="ar-EG" sz="3200" dirty="0"/>
              <a:t> </a:t>
            </a:r>
            <a:r>
              <a:rPr lang="ar-EG" sz="3200" dirty="0" err="1"/>
              <a:t>output</a:t>
            </a:r>
            <a:r>
              <a:rPr lang="ar-EG" sz="3200" dirty="0"/>
              <a:t>, </a:t>
            </a:r>
            <a:r>
              <a:rPr lang="ar-EG" sz="3200" dirty="0" err="1"/>
              <a:t>including</a:t>
            </a:r>
            <a:r>
              <a:rPr lang="ar-EG" sz="3200" dirty="0"/>
              <a:t> </a:t>
            </a:r>
            <a:r>
              <a:rPr lang="ar-EG" sz="3200" dirty="0" err="1"/>
              <a:t>negative</a:t>
            </a:r>
            <a:r>
              <a:rPr lang="ar-EG" sz="3200" dirty="0"/>
              <a:t> </a:t>
            </a:r>
            <a:r>
              <a:rPr lang="ar-EG" sz="3200" dirty="0" err="1"/>
              <a:t>values</a:t>
            </a:r>
            <a:r>
              <a:rPr lang="ar-EG" sz="3200" dirty="0"/>
              <a:t> and </a:t>
            </a:r>
            <a:r>
              <a:rPr lang="ar-EG" sz="3200" dirty="0" err="1"/>
              <a:t>values</a:t>
            </a:r>
            <a:r>
              <a:rPr lang="ar-EG" sz="3200" dirty="0"/>
              <a:t> </a:t>
            </a:r>
            <a:r>
              <a:rPr lang="ar-EG" sz="3200" dirty="0" err="1"/>
              <a:t>greater</a:t>
            </a:r>
            <a:r>
              <a:rPr lang="ar-EG" sz="3200" dirty="0"/>
              <a:t> </a:t>
            </a:r>
            <a:r>
              <a:rPr lang="ar-EG" sz="3200" dirty="0" err="1"/>
              <a:t>than</a:t>
            </a:r>
            <a:r>
              <a:rPr lang="ar-EG" sz="3200" dirty="0"/>
              <a:t> 1.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Such</a:t>
            </a:r>
            <a:r>
              <a:rPr lang="ar-EG" sz="3200" dirty="0"/>
              <a:t> </a:t>
            </a:r>
            <a:r>
              <a:rPr lang="ar-EG" sz="3200" dirty="0" err="1"/>
              <a:t>outputs</a:t>
            </a:r>
            <a:r>
              <a:rPr lang="ar-EG" sz="3200" dirty="0"/>
              <a:t> </a:t>
            </a:r>
            <a:r>
              <a:rPr lang="ar-EG" sz="3200" dirty="0" err="1"/>
              <a:t>cannot</a:t>
            </a:r>
            <a:r>
              <a:rPr lang="ar-EG" sz="3200" dirty="0"/>
              <a:t> </a:t>
            </a:r>
            <a:r>
              <a:rPr lang="ar-EG" sz="3200" dirty="0" err="1"/>
              <a:t>directly</a:t>
            </a:r>
            <a:r>
              <a:rPr lang="ar-EG" sz="3200" dirty="0"/>
              <a:t> </a:t>
            </a:r>
            <a:r>
              <a:rPr lang="ar-EG" sz="3200" dirty="0" err="1"/>
              <a:t>represent</a:t>
            </a:r>
            <a:r>
              <a:rPr lang="ar-EG" sz="3200" dirty="0"/>
              <a:t> </a:t>
            </a:r>
            <a:r>
              <a:rPr lang="ar-EG" sz="3200" dirty="0" err="1"/>
              <a:t>probabilities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applies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sigmoid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r>
              <a:rPr lang="ar-EG" sz="3200" dirty="0"/>
              <a:t> to </a:t>
            </a:r>
            <a:r>
              <a:rPr lang="ar-EG" sz="3200" dirty="0" err="1"/>
              <a:t>transform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</a:t>
            </a:r>
            <a:r>
              <a:rPr lang="ar-EG" sz="3200" dirty="0" err="1"/>
              <a:t>into</a:t>
            </a:r>
            <a:r>
              <a:rPr lang="ar-EG" sz="3200" dirty="0"/>
              <a:t> a </a:t>
            </a:r>
            <a:r>
              <a:rPr lang="ar-EG" sz="3200" dirty="0" err="1"/>
              <a:t>value</a:t>
            </a:r>
            <a:r>
              <a:rPr lang="ar-EG" sz="3200" dirty="0"/>
              <a:t> between 0 and 1.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resulting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 can be </a:t>
            </a:r>
            <a:r>
              <a:rPr lang="ar-EG" sz="3200" dirty="0" err="1"/>
              <a:t>interpreted</a:t>
            </a:r>
            <a:r>
              <a:rPr lang="ar-EG" sz="3200" dirty="0"/>
              <a:t> as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model's</a:t>
            </a:r>
            <a:r>
              <a:rPr lang="ar-EG" sz="3200" dirty="0"/>
              <a:t> </a:t>
            </a:r>
            <a:r>
              <a:rPr lang="ar-EG" sz="3200" dirty="0" err="1"/>
              <a:t>estimated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of </a:t>
            </a:r>
            <a:r>
              <a:rPr lang="ar-EG" sz="3200" dirty="0" err="1"/>
              <a:t>belonging</a:t>
            </a:r>
            <a:r>
              <a:rPr lang="ar-EG" sz="3200" dirty="0"/>
              <a:t> to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positive</a:t>
            </a:r>
            <a:r>
              <a:rPr lang="ar-EG" sz="3200" dirty="0"/>
              <a:t> </a:t>
            </a:r>
            <a:r>
              <a:rPr lang="ar-EG" sz="3200" dirty="0" err="1"/>
              <a:t>class</a:t>
            </a:r>
            <a:r>
              <a:rPr lang="ar-EG" sz="3200" dirty="0"/>
              <a:t>.</a:t>
            </a:r>
            <a:endParaRPr lang="en-US" sz="3200" dirty="0"/>
          </a:p>
          <a:p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Sigmoid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endParaRPr lang="ar-EG" sz="3200" dirty="0"/>
          </a:p>
          <a:p>
            <a:r>
              <a:rPr lang="ar-EG" sz="3200" b="1" dirty="0" err="1"/>
              <a:t>Important</a:t>
            </a:r>
            <a:r>
              <a:rPr lang="ar-EG" sz="3200" b="1" dirty="0"/>
              <a:t> </a:t>
            </a:r>
            <a:r>
              <a:rPr lang="ar-EG" sz="3200" b="1" dirty="0" err="1"/>
              <a:t>Properties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sigmoid</a:t>
            </a:r>
            <a:r>
              <a:rPr lang="ar-EG" sz="3200" dirty="0"/>
              <a:t> </a:t>
            </a:r>
            <a:r>
              <a:rPr lang="ar-EG" sz="3200" dirty="0" err="1"/>
              <a:t>output</a:t>
            </a:r>
            <a:r>
              <a:rPr lang="ar-EG" sz="3200" dirty="0"/>
              <a:t> is </a:t>
            </a:r>
            <a:r>
              <a:rPr lang="ar-EG" sz="3200" dirty="0" err="1"/>
              <a:t>always</a:t>
            </a:r>
            <a:r>
              <a:rPr lang="ar-EG" sz="3200" dirty="0"/>
              <a:t> </a:t>
            </a:r>
            <a:r>
              <a:rPr lang="ar-EG" sz="3200" dirty="0" err="1"/>
              <a:t>strictly</a:t>
            </a:r>
            <a:r>
              <a:rPr lang="ar-EG" sz="3200" dirty="0"/>
              <a:t> between 0 and 1 for </a:t>
            </a:r>
            <a:r>
              <a:rPr lang="ar-EG" sz="3200" dirty="0" err="1"/>
              <a:t>finite</a:t>
            </a:r>
            <a:r>
              <a:rPr lang="ar-EG" sz="3200" dirty="0"/>
              <a:t> </a:t>
            </a:r>
            <a:r>
              <a:rPr lang="en-US" sz="3200" dirty="0"/>
              <a:t> z.</a:t>
            </a:r>
            <a:endParaRPr lang="ar-EG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When z = 0, the sigmoid output is 0.5.</a:t>
            </a:r>
            <a:endParaRPr lang="ar-EG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Large</a:t>
            </a:r>
            <a:r>
              <a:rPr lang="ar-EG" sz="3200" dirty="0"/>
              <a:t> </a:t>
            </a:r>
            <a:r>
              <a:rPr lang="ar-EG" sz="3200" dirty="0" err="1"/>
              <a:t>positive</a:t>
            </a:r>
            <a:r>
              <a:rPr lang="ar-EG" sz="3200" dirty="0"/>
              <a:t> </a:t>
            </a:r>
            <a:r>
              <a:rPr lang="ar-EG" sz="3200" dirty="0" err="1"/>
              <a:t>values</a:t>
            </a:r>
            <a:r>
              <a:rPr lang="ar-EG" sz="3200" dirty="0"/>
              <a:t> of </a:t>
            </a:r>
            <a:r>
              <a:rPr lang="en-US" sz="3200" dirty="0"/>
              <a:t>z</a:t>
            </a:r>
            <a:r>
              <a:rPr lang="ar-EG" sz="3200" dirty="0"/>
              <a:t> </a:t>
            </a:r>
            <a:r>
              <a:rPr lang="ar-EG" sz="3200" dirty="0" err="1"/>
              <a:t>produce</a:t>
            </a:r>
            <a:r>
              <a:rPr lang="ar-EG" sz="3200" dirty="0"/>
              <a:t> </a:t>
            </a:r>
            <a:r>
              <a:rPr lang="ar-EG" sz="3200" dirty="0" err="1"/>
              <a:t>probabilities</a:t>
            </a:r>
            <a:r>
              <a:rPr lang="ar-EG" sz="3200" dirty="0"/>
              <a:t> </a:t>
            </a:r>
            <a:r>
              <a:rPr lang="ar-EG" sz="3200" dirty="0" err="1"/>
              <a:t>close</a:t>
            </a:r>
            <a:r>
              <a:rPr lang="ar-EG" sz="3200" dirty="0"/>
              <a:t> to 1.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Large</a:t>
            </a:r>
            <a:r>
              <a:rPr lang="ar-EG" sz="3200" dirty="0"/>
              <a:t> </a:t>
            </a:r>
            <a:r>
              <a:rPr lang="ar-EG" sz="3200" dirty="0" err="1"/>
              <a:t>negative</a:t>
            </a:r>
            <a:r>
              <a:rPr lang="ar-EG" sz="3200" dirty="0"/>
              <a:t> </a:t>
            </a:r>
            <a:r>
              <a:rPr lang="ar-EG" sz="3200" dirty="0" err="1"/>
              <a:t>values</a:t>
            </a:r>
            <a:r>
              <a:rPr lang="ar-EG" sz="3200" dirty="0"/>
              <a:t> of</a:t>
            </a:r>
            <a:r>
              <a:rPr lang="en-US" sz="3200" dirty="0"/>
              <a:t> z </a:t>
            </a:r>
            <a:r>
              <a:rPr lang="ar-EG" sz="3200" dirty="0" err="1"/>
              <a:t>produce</a:t>
            </a:r>
            <a:r>
              <a:rPr lang="ar-EG" sz="3200" dirty="0"/>
              <a:t> </a:t>
            </a:r>
            <a:r>
              <a:rPr lang="ar-EG" sz="3200" dirty="0" err="1"/>
              <a:t>probabilities</a:t>
            </a:r>
            <a:r>
              <a:rPr lang="ar-EG" sz="3200" dirty="0"/>
              <a:t> </a:t>
            </a:r>
            <a:r>
              <a:rPr lang="ar-EG" sz="3200" dirty="0" err="1"/>
              <a:t>close</a:t>
            </a:r>
            <a:r>
              <a:rPr lang="ar-EG" sz="3200" dirty="0"/>
              <a:t> to 0.</a:t>
            </a:r>
          </a:p>
          <a:p>
            <a:endParaRPr lang="ar-EG" sz="3200" dirty="0"/>
          </a:p>
          <a:p>
            <a:pPr lvl="0"/>
            <a:endParaRPr lang="ar-EG" sz="3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6F4676-42AA-1A8E-27DA-4D04EE1478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2966" y="5468814"/>
            <a:ext cx="2515220" cy="105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24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21175-9F1C-BD9C-CF43-CA820FF78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259733-A0EE-F7D0-DAF7-4F8F1132CBD7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B567C6E-6ECD-FFC6-9F4C-D7D060447F99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9AB1DB2-FE56-E704-477C-95782ACD9032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CA143CF-6397-47B7-9B95-EFFAC16D9F87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7A2A21F-FF0B-F402-A172-37DA6B757C32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1A11CE7-2CE3-7CCC-BCB8-E418B18C85B4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7F26C52-34A8-E22C-A6D2-5796036F0832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4991940-DA48-924F-661C-0E8D8C043A3F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4E963DF-6BA2-52EC-482C-0294E3244E45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01A46C5-D4F1-A0F0-4A6D-CD4605F0537E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Logistic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r>
              <a:rPr lang="ar-EG" sz="6000" dirty="0"/>
              <a:t> Model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92218E-CC52-A193-FC5E-49E649BF62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6616" y="2057400"/>
            <a:ext cx="7934194" cy="72337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344D86-D91B-7E4B-5956-B45F1445B8A5}"/>
              </a:ext>
            </a:extLst>
          </p:cNvPr>
          <p:cNvSpPr txBox="1"/>
          <p:nvPr/>
        </p:nvSpPr>
        <p:spPr>
          <a:xfrm>
            <a:off x="662422" y="2635013"/>
            <a:ext cx="7934194" cy="50167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3200" b="1" dirty="0" err="1"/>
              <a:t>Interpretation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r>
              <a:rPr lang="ar-EG" sz="3200" dirty="0"/>
              <a:t> </a:t>
            </a:r>
            <a:r>
              <a:rPr lang="ar-EG" sz="3200" dirty="0" err="1"/>
              <a:t>calculates</a:t>
            </a:r>
            <a:r>
              <a:rPr lang="ar-EG" sz="3200" dirty="0"/>
              <a:t> a </a:t>
            </a:r>
            <a:r>
              <a:rPr lang="ar-EG" sz="3200" dirty="0" err="1"/>
              <a:t>score</a:t>
            </a:r>
            <a:r>
              <a:rPr lang="ar-EG" sz="3200" dirty="0"/>
              <a:t> </a:t>
            </a:r>
            <a:r>
              <a:rPr lang="ar-EG" sz="3200" dirty="0" err="1"/>
              <a:t>from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sigmoid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r>
              <a:rPr lang="ar-EG" sz="3200" dirty="0"/>
              <a:t> </a:t>
            </a:r>
            <a:r>
              <a:rPr lang="ar-EG" sz="3200" dirty="0" err="1"/>
              <a:t>converts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</a:t>
            </a:r>
            <a:r>
              <a:rPr lang="ar-EG" sz="3200" dirty="0" err="1"/>
              <a:t>into</a:t>
            </a:r>
            <a:r>
              <a:rPr lang="ar-EG" sz="3200" dirty="0"/>
              <a:t> an </a:t>
            </a:r>
            <a:r>
              <a:rPr lang="ar-EG" sz="3200" dirty="0" err="1"/>
              <a:t>estimated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rule</a:t>
            </a:r>
            <a:r>
              <a:rPr lang="ar-EG" sz="3200" dirty="0"/>
              <a:t> </a:t>
            </a:r>
            <a:r>
              <a:rPr lang="ar-EG" sz="3200" dirty="0" err="1"/>
              <a:t>assigns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observation</a:t>
            </a:r>
            <a:r>
              <a:rPr lang="ar-EG" sz="3200" dirty="0"/>
              <a:t> to </a:t>
            </a:r>
            <a:r>
              <a:rPr lang="ar-EG" sz="3200" dirty="0" err="1"/>
              <a:t>Class</a:t>
            </a:r>
            <a:r>
              <a:rPr lang="ar-EG" sz="3200" dirty="0"/>
              <a:t> 0 or </a:t>
            </a:r>
            <a:r>
              <a:rPr lang="ar-EG" sz="3200" dirty="0" err="1"/>
              <a:t>Class</a:t>
            </a:r>
            <a:r>
              <a:rPr lang="ar-EG" sz="3200" dirty="0"/>
              <a:t> 1.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threshold</a:t>
            </a:r>
            <a:r>
              <a:rPr lang="ar-EG" sz="3200" dirty="0"/>
              <a:t> can be </a:t>
            </a:r>
            <a:r>
              <a:rPr lang="ar-EG" sz="3200" dirty="0" err="1"/>
              <a:t>adjusted</a:t>
            </a:r>
            <a:r>
              <a:rPr lang="ar-EG" sz="3200" dirty="0"/>
              <a:t> </a:t>
            </a:r>
            <a:r>
              <a:rPr lang="ar-EG" sz="3200" dirty="0" err="1"/>
              <a:t>depending</a:t>
            </a:r>
            <a:r>
              <a:rPr lang="ar-EG" sz="3200" dirty="0"/>
              <a:t> on </a:t>
            </a:r>
            <a:r>
              <a:rPr lang="ar-EG" sz="3200" dirty="0" err="1"/>
              <a:t>the</a:t>
            </a:r>
            <a:r>
              <a:rPr lang="ar-EG" sz="3200" dirty="0"/>
              <a:t> application and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relative</a:t>
            </a:r>
            <a:r>
              <a:rPr lang="ar-EG" sz="3200" dirty="0"/>
              <a:t> </a:t>
            </a:r>
            <a:r>
              <a:rPr lang="ar-EG" sz="3200" dirty="0" err="1"/>
              <a:t>costs</a:t>
            </a:r>
            <a:r>
              <a:rPr lang="ar-EG" sz="3200" dirty="0"/>
              <a:t> of </a:t>
            </a:r>
            <a:r>
              <a:rPr lang="ar-EG" sz="3200" dirty="0" err="1"/>
              <a:t>different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errors</a:t>
            </a:r>
            <a:r>
              <a:rPr lang="ar-EG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6073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8F612-39CB-3869-59AC-68E54F98F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75F78C5-2D59-7395-2E8C-B5595D5611BE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E8715E5-0E4B-21AA-649C-D610C3ED6EE1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85C55A4-2E0C-BC3E-5C59-4B3F2405676A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879B545-3F50-1088-35F0-260DD3844DC9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3984111-89C1-29D1-5F9B-F5188CBB817E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45EDD37-E76F-068E-2B98-F484BB4F712D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8D5F6BC-0F48-66B2-D1CE-3243EBCCA4B2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63A0684-E51B-C887-560E-AD61BC59D5AD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6A66623-0E23-2178-5E0A-A8CBDF76B8E8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2F58110-33D7-B605-263E-12E2B533BF00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Logistic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r>
              <a:rPr lang="ar-EG" sz="6000" dirty="0"/>
              <a:t> Model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pic>
        <p:nvPicPr>
          <p:cNvPr id="11" name="Picture 10" descr="Medium">
            <a:extLst>
              <a:ext uri="{FF2B5EF4-FFF2-40B4-BE49-F238E27FC236}">
                <a16:creationId xmlns:a16="http://schemas.microsoft.com/office/drawing/2014/main" id="{E58F7B40-FEE6-F9FD-1616-E837F6D7FE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5833" y="1769247"/>
            <a:ext cx="12176333" cy="811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14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A9B49-DE36-6973-F6A4-9AC37FC35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C1D1721-D36F-4244-E249-0E2E5ED53F6F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AAD2ACC-3197-DB43-AED6-7C671FD6A7B1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CAB79C7-4A80-6002-2CAC-22BE0966A273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D900C2C-E3BF-15A2-EE9E-F05710CDF249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F8C651C-60CE-53B4-8FF7-954A3EDFD93D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78E5EAF-FB76-A191-8B2B-56BBEA8C125A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E311595-8679-39C5-24AB-442357B306BF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D5E6192-6595-3283-51A7-865866F4630C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7C829BB-ADF6-B188-2754-690AF26B3DB6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5CA2E5D-C8C1-96CB-BA82-6BD1055D9A7C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Visualizing</a:t>
            </a:r>
            <a:r>
              <a:rPr lang="ar-EG" sz="6000" dirty="0"/>
              <a:t> </a:t>
            </a:r>
            <a:r>
              <a:rPr lang="ar-EG" sz="6000" dirty="0" err="1"/>
              <a:t>the</a:t>
            </a:r>
            <a:r>
              <a:rPr lang="ar-EG" sz="6000" dirty="0"/>
              <a:t> </a:t>
            </a:r>
            <a:r>
              <a:rPr lang="ar-EG" sz="6000" dirty="0" err="1"/>
              <a:t>Sigmoid</a:t>
            </a:r>
            <a:r>
              <a:rPr lang="ar-EG" sz="6000" dirty="0"/>
              <a:t> </a:t>
            </a:r>
            <a:r>
              <a:rPr lang="ar-EG" sz="6000" dirty="0" err="1"/>
              <a:t>Function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D4023F-021F-6F2C-5A38-DCE1F3DEBD99}"/>
              </a:ext>
            </a:extLst>
          </p:cNvPr>
          <p:cNvSpPr txBox="1"/>
          <p:nvPr/>
        </p:nvSpPr>
        <p:spPr>
          <a:xfrm>
            <a:off x="2115206" y="1815969"/>
            <a:ext cx="1551074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sigmoid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r>
              <a:rPr lang="ar-EG" sz="3200" dirty="0"/>
              <a:t> </a:t>
            </a:r>
            <a:r>
              <a:rPr lang="ar-EG" sz="3200" dirty="0" err="1"/>
              <a:t>has</a:t>
            </a:r>
            <a:r>
              <a:rPr lang="ar-EG" sz="3200" dirty="0"/>
              <a:t> an S-</a:t>
            </a:r>
            <a:r>
              <a:rPr lang="ar-EG" sz="3200" dirty="0" err="1"/>
              <a:t>shaped</a:t>
            </a:r>
            <a:r>
              <a:rPr lang="ar-EG" sz="3200" dirty="0"/>
              <a:t> </a:t>
            </a:r>
            <a:r>
              <a:rPr lang="ar-EG" sz="3200" dirty="0" err="1"/>
              <a:t>curve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Its</a:t>
            </a:r>
            <a:r>
              <a:rPr lang="ar-EG" sz="3200" dirty="0"/>
              <a:t> </a:t>
            </a:r>
            <a:r>
              <a:rPr lang="ar-EG" sz="3200" dirty="0" err="1"/>
              <a:t>output</a:t>
            </a:r>
            <a:r>
              <a:rPr lang="ar-EG" sz="3200" dirty="0"/>
              <a:t> </a:t>
            </a:r>
            <a:r>
              <a:rPr lang="ar-EG" sz="3200" dirty="0" err="1"/>
              <a:t>increases</a:t>
            </a:r>
            <a:r>
              <a:rPr lang="ar-EG" sz="3200" dirty="0"/>
              <a:t> as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</a:t>
            </a:r>
            <a:r>
              <a:rPr lang="ar-EG" sz="3200" dirty="0" err="1"/>
              <a:t>increases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curve</a:t>
            </a:r>
            <a:r>
              <a:rPr lang="ar-EG" sz="3200" dirty="0"/>
              <a:t> </a:t>
            </a:r>
            <a:r>
              <a:rPr lang="ar-EG" sz="3200" dirty="0" err="1"/>
              <a:t>approaches</a:t>
            </a:r>
            <a:r>
              <a:rPr lang="ar-EG" sz="3200" dirty="0"/>
              <a:t> 0 for very </a:t>
            </a:r>
            <a:r>
              <a:rPr lang="ar-EG" sz="3200" dirty="0" err="1"/>
              <a:t>negative</a:t>
            </a:r>
            <a:r>
              <a:rPr lang="ar-EG" sz="3200" dirty="0"/>
              <a:t> </a:t>
            </a:r>
            <a:r>
              <a:rPr lang="ar-EG" sz="3200" dirty="0" err="1"/>
              <a:t>scores</a:t>
            </a:r>
            <a:r>
              <a:rPr lang="ar-EG" sz="3200" dirty="0"/>
              <a:t> and </a:t>
            </a:r>
            <a:r>
              <a:rPr lang="ar-EG" sz="3200" dirty="0" err="1"/>
              <a:t>approaches</a:t>
            </a:r>
            <a:r>
              <a:rPr lang="ar-EG" sz="3200" dirty="0"/>
              <a:t> 1 for very </a:t>
            </a:r>
            <a:r>
              <a:rPr lang="ar-EG" sz="3200" dirty="0" err="1"/>
              <a:t>positive</a:t>
            </a:r>
            <a:r>
              <a:rPr lang="ar-EG" sz="3200" dirty="0"/>
              <a:t> </a:t>
            </a:r>
            <a:r>
              <a:rPr lang="ar-EG" sz="3200" dirty="0" err="1"/>
              <a:t>scores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At a </a:t>
            </a:r>
            <a:r>
              <a:rPr lang="ar-EG" sz="3200" dirty="0" err="1"/>
              <a:t>score</a:t>
            </a:r>
            <a:r>
              <a:rPr lang="ar-EG" sz="3200" dirty="0"/>
              <a:t> of </a:t>
            </a:r>
            <a:r>
              <a:rPr lang="ar-EG" sz="3200" dirty="0" err="1"/>
              <a:t>zero</a:t>
            </a:r>
            <a:r>
              <a:rPr lang="ar-EG" sz="3200" dirty="0"/>
              <a:t>,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estimated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is 0.5.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sigmoid</a:t>
            </a:r>
            <a:r>
              <a:rPr lang="ar-EG" sz="3200" dirty="0"/>
              <a:t> </a:t>
            </a:r>
            <a:r>
              <a:rPr lang="ar-EG" sz="3200" dirty="0" err="1"/>
              <a:t>curve</a:t>
            </a:r>
            <a:r>
              <a:rPr lang="ar-EG" sz="3200" dirty="0"/>
              <a:t> </a:t>
            </a:r>
            <a:r>
              <a:rPr lang="ar-EG" sz="3200" dirty="0" err="1"/>
              <a:t>provides</a:t>
            </a:r>
            <a:r>
              <a:rPr lang="ar-EG" sz="3200" dirty="0"/>
              <a:t> a </a:t>
            </a:r>
            <a:r>
              <a:rPr lang="ar-EG" sz="3200" dirty="0" err="1"/>
              <a:t>smooth</a:t>
            </a:r>
            <a:r>
              <a:rPr lang="ar-EG" sz="3200" dirty="0"/>
              <a:t> </a:t>
            </a:r>
            <a:r>
              <a:rPr lang="ar-EG" sz="3200" dirty="0" err="1"/>
              <a:t>transformation</a:t>
            </a:r>
            <a:r>
              <a:rPr lang="ar-EG" sz="3200" dirty="0"/>
              <a:t> </a:t>
            </a:r>
            <a:r>
              <a:rPr lang="ar-EG" sz="3200" dirty="0" err="1"/>
              <a:t>from</a:t>
            </a:r>
            <a:r>
              <a:rPr lang="ar-EG" sz="3200" dirty="0"/>
              <a:t> an </a:t>
            </a:r>
            <a:r>
              <a:rPr lang="ar-EG" sz="3200" dirty="0" err="1"/>
              <a:t>unrestricted</a:t>
            </a:r>
            <a:r>
              <a:rPr lang="ar-EG" sz="3200" dirty="0"/>
              <a:t>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to a </a:t>
            </a:r>
            <a:r>
              <a:rPr lang="ar-EG" sz="3200" dirty="0" err="1"/>
              <a:t>probability</a:t>
            </a:r>
            <a:r>
              <a:rPr lang="ar-EG" sz="3200" dirty="0"/>
              <a:t>.</a:t>
            </a:r>
            <a:endParaRPr lang="en-US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ar-EG" sz="3200" dirty="0"/>
          </a:p>
        </p:txBody>
      </p:sp>
      <p:pic>
        <p:nvPicPr>
          <p:cNvPr id="14" name="Picture 13" descr="Logistic Regression: Complete Guide with Mathematical Foundations &amp; Python Implementation - Interactive | Michael Brenndoerfer | Michael Brenndoerfer">
            <a:extLst>
              <a:ext uri="{FF2B5EF4-FFF2-40B4-BE49-F238E27FC236}">
                <a16:creationId xmlns:a16="http://schemas.microsoft.com/office/drawing/2014/main" id="{3AD603BF-B594-5759-72E6-78E8F850E2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3454" y="5256414"/>
            <a:ext cx="6261091" cy="465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19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4CFAE-340B-FA5C-FD16-3AE0E360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02FD4C-D47E-23A1-8444-B8B6703AEEC8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31F06EF-BCC1-6957-4121-B6317BF04D57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06CC1A5-5688-0E1E-FAC9-94165AD5F39D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0AABF8A-909E-5620-18BA-06060B8E4254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078FFE1-FBB6-48D2-E6BC-9028EBBD9C22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AA70311-3834-56DE-71CF-588887838603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7D05CF2-BFEA-A126-683D-EBE6F2655F86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55D7C5A-0E1E-59E4-9213-B20C024A6642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C0D814D-767E-9672-DB64-8CC29D72F7E5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DE0B63A-F9AA-3698-DF70-70BCBD317DC0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Classification</a:t>
            </a:r>
            <a:r>
              <a:rPr lang="ar-EG" sz="6000" dirty="0"/>
              <a:t> </a:t>
            </a:r>
            <a:r>
              <a:rPr lang="ar-EG" sz="6000" dirty="0" err="1"/>
              <a:t>Threshold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7FC243-B209-9587-2B76-F0B0D85BECD5}"/>
              </a:ext>
            </a:extLst>
          </p:cNvPr>
          <p:cNvSpPr txBox="1"/>
          <p:nvPr/>
        </p:nvSpPr>
        <p:spPr>
          <a:xfrm>
            <a:off x="2115206" y="2292670"/>
            <a:ext cx="1551074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3200" b="1" dirty="0" err="1"/>
              <a:t>From</a:t>
            </a:r>
            <a:r>
              <a:rPr lang="ar-EG" sz="3200" b="1" dirty="0"/>
              <a:t> </a:t>
            </a:r>
            <a:r>
              <a:rPr lang="ar-EG" sz="3200" b="1" dirty="0" err="1"/>
              <a:t>Probability</a:t>
            </a:r>
            <a:r>
              <a:rPr lang="ar-EG" sz="3200" b="1" dirty="0"/>
              <a:t> to a </a:t>
            </a:r>
            <a:r>
              <a:rPr lang="ar-EG" sz="3200" b="1" dirty="0" err="1"/>
              <a:t>Final</a:t>
            </a:r>
            <a:r>
              <a:rPr lang="ar-EG" sz="3200" b="1" dirty="0"/>
              <a:t> </a:t>
            </a:r>
            <a:r>
              <a:rPr lang="ar-EG" sz="3200" b="1" dirty="0" err="1"/>
              <a:t>Decision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threshold</a:t>
            </a:r>
            <a:r>
              <a:rPr lang="ar-EG" sz="3200" dirty="0"/>
              <a:t> is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</a:t>
            </a:r>
            <a:r>
              <a:rPr lang="ar-EG" sz="3200" dirty="0" err="1"/>
              <a:t>cutoff</a:t>
            </a:r>
            <a:r>
              <a:rPr lang="ar-EG" sz="3200" dirty="0"/>
              <a:t> </a:t>
            </a:r>
            <a:r>
              <a:rPr lang="ar-EG" sz="3200" dirty="0" err="1"/>
              <a:t>used</a:t>
            </a:r>
            <a:r>
              <a:rPr lang="ar-EG" sz="3200" dirty="0"/>
              <a:t> to </a:t>
            </a:r>
            <a:r>
              <a:rPr lang="ar-EG" sz="3200" dirty="0" err="1"/>
              <a:t>convert</a:t>
            </a:r>
            <a:r>
              <a:rPr lang="ar-EG" sz="3200" dirty="0"/>
              <a:t> a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</a:t>
            </a:r>
            <a:r>
              <a:rPr lang="ar-EG" sz="3200" dirty="0" err="1"/>
              <a:t>into</a:t>
            </a:r>
            <a:r>
              <a:rPr lang="ar-EG" sz="3200" dirty="0"/>
              <a:t> a </a:t>
            </a:r>
            <a:r>
              <a:rPr lang="ar-EG" sz="3200" dirty="0" err="1"/>
              <a:t>class</a:t>
            </a:r>
            <a:r>
              <a:rPr lang="ar-EG" sz="3200" dirty="0"/>
              <a:t> </a:t>
            </a:r>
            <a:r>
              <a:rPr lang="ar-EG" sz="3200" dirty="0" err="1"/>
              <a:t>label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threshold</a:t>
            </a:r>
            <a:r>
              <a:rPr lang="ar-EG" sz="3200" dirty="0"/>
              <a:t> is </a:t>
            </a:r>
            <a:r>
              <a:rPr lang="ar-EG" sz="3200" dirty="0" err="1"/>
              <a:t>commonly</a:t>
            </a:r>
            <a:r>
              <a:rPr lang="ar-EG" sz="3200" dirty="0"/>
              <a:t> </a:t>
            </a:r>
            <a:r>
              <a:rPr lang="ar-EG" sz="3200" dirty="0" err="1"/>
              <a:t>set</a:t>
            </a:r>
            <a:r>
              <a:rPr lang="ar-EG" sz="3200" dirty="0"/>
              <a:t> to 0.5 as a </a:t>
            </a:r>
            <a:r>
              <a:rPr lang="ar-EG" sz="3200" dirty="0" err="1"/>
              <a:t>starting</a:t>
            </a:r>
            <a:r>
              <a:rPr lang="ar-EG" sz="3200" dirty="0"/>
              <a:t> </a:t>
            </a:r>
            <a:r>
              <a:rPr lang="ar-EG" sz="3200" dirty="0" err="1"/>
              <a:t>point</a:t>
            </a:r>
            <a:r>
              <a:rPr lang="ar-EG" sz="3200" dirty="0"/>
              <a:t> for </a:t>
            </a: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Probabilities</a:t>
            </a:r>
            <a:r>
              <a:rPr lang="ar-EG" sz="3200" dirty="0"/>
              <a:t> at or </a:t>
            </a:r>
            <a:r>
              <a:rPr lang="ar-EG" sz="3200" dirty="0" err="1"/>
              <a:t>above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threshold</a:t>
            </a:r>
            <a:r>
              <a:rPr lang="ar-EG" sz="3200" dirty="0"/>
              <a:t> are </a:t>
            </a:r>
            <a:r>
              <a:rPr lang="ar-EG" sz="3200" dirty="0" err="1"/>
              <a:t>assigned</a:t>
            </a:r>
            <a:r>
              <a:rPr lang="ar-EG" sz="3200" dirty="0"/>
              <a:t> to </a:t>
            </a:r>
            <a:r>
              <a:rPr lang="ar-EG" sz="3200" dirty="0" err="1"/>
              <a:t>Class</a:t>
            </a:r>
            <a:r>
              <a:rPr lang="ar-EG" sz="3200" dirty="0"/>
              <a:t> 1.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Probabilities</a:t>
            </a:r>
            <a:r>
              <a:rPr lang="ar-EG" sz="3200" dirty="0"/>
              <a:t> below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threshold</a:t>
            </a:r>
            <a:r>
              <a:rPr lang="ar-EG" sz="3200" dirty="0"/>
              <a:t> are </a:t>
            </a:r>
            <a:r>
              <a:rPr lang="ar-EG" sz="3200" dirty="0" err="1"/>
              <a:t>assigned</a:t>
            </a:r>
            <a:r>
              <a:rPr lang="ar-EG" sz="3200" dirty="0"/>
              <a:t> to </a:t>
            </a:r>
            <a:r>
              <a:rPr lang="ar-EG" sz="3200" dirty="0" err="1"/>
              <a:t>Class</a:t>
            </a:r>
            <a:r>
              <a:rPr lang="ar-EG" sz="3200" dirty="0"/>
              <a:t> 0.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threshold</a:t>
            </a:r>
            <a:r>
              <a:rPr lang="ar-EG" sz="3200" dirty="0"/>
              <a:t> can be </a:t>
            </a:r>
            <a:r>
              <a:rPr lang="ar-EG" sz="3200" dirty="0" err="1"/>
              <a:t>adjusted</a:t>
            </a:r>
            <a:r>
              <a:rPr lang="ar-EG" sz="3200" dirty="0"/>
              <a:t> to </a:t>
            </a:r>
            <a:r>
              <a:rPr lang="ar-EG" sz="3200" dirty="0" err="1"/>
              <a:t>balance</a:t>
            </a:r>
            <a:r>
              <a:rPr lang="ar-EG" sz="3200" dirty="0"/>
              <a:t> </a:t>
            </a:r>
            <a:r>
              <a:rPr lang="ar-EG" sz="3200" dirty="0" err="1"/>
              <a:t>different</a:t>
            </a:r>
            <a:r>
              <a:rPr lang="ar-EG" sz="3200" dirty="0"/>
              <a:t> </a:t>
            </a:r>
            <a:r>
              <a:rPr lang="ar-EG" sz="3200" dirty="0" err="1"/>
              <a:t>types</a:t>
            </a:r>
            <a:r>
              <a:rPr lang="ar-EG" sz="3200" dirty="0"/>
              <a:t> of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errors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ar-EG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ar-EG" sz="3200" b="1" dirty="0" err="1">
                <a:solidFill>
                  <a:srgbClr val="FF0000"/>
                </a:solidFill>
              </a:rPr>
              <a:t>Important</a:t>
            </a:r>
            <a:r>
              <a:rPr lang="ar-EG" sz="3200" b="1" dirty="0">
                <a:solidFill>
                  <a:srgbClr val="FF0000"/>
                </a:solidFill>
              </a:rPr>
              <a:t>: </a:t>
            </a:r>
            <a:r>
              <a:rPr lang="ar-EG" sz="3200" dirty="0" err="1"/>
              <a:t>Changing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threshold</a:t>
            </a:r>
            <a:r>
              <a:rPr lang="ar-EG" sz="3200" dirty="0"/>
              <a:t> </a:t>
            </a:r>
            <a:r>
              <a:rPr lang="ar-EG" sz="3200" dirty="0" err="1"/>
              <a:t>changes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rule</a:t>
            </a:r>
            <a:r>
              <a:rPr lang="ar-EG" sz="3200" dirty="0"/>
              <a:t>, </a:t>
            </a:r>
            <a:r>
              <a:rPr lang="ar-EG" sz="3200" dirty="0" err="1"/>
              <a:t>not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</a:t>
            </a:r>
            <a:r>
              <a:rPr lang="ar-EG" sz="3200" dirty="0" err="1"/>
              <a:t>originally</a:t>
            </a:r>
            <a:r>
              <a:rPr lang="ar-EG" sz="3200" dirty="0"/>
              <a:t> </a:t>
            </a:r>
            <a:r>
              <a:rPr lang="ar-EG" sz="3200" dirty="0" err="1"/>
              <a:t>produced</a:t>
            </a:r>
            <a:r>
              <a:rPr lang="ar-EG" sz="3200" dirty="0"/>
              <a:t> by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3981926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3BD43-405A-A2B3-B094-991EC62C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EB7AA21-3467-1D35-985D-5F2D20279CE9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8765607-6DE0-5573-5011-0BCEF9FC5C15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C9945DA-8262-9B4E-9D56-6CB9DFBA9625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AB405B1-4503-A0C2-EC16-99CAB00DF507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83AE6BF-D2B8-4D4B-8F0C-3CAEC4697163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ADC3377-42CD-E932-86AF-22BAA683D686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02452F0-4FD1-2293-C8A2-E033AE70A24A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6D9BE35-EFBC-AA60-23FC-57BA6CDE6846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D64A203-4E91-435B-BB48-B683068E9A14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232F120-79AF-69B7-6289-F01D3789DB0A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How</a:t>
            </a:r>
            <a:r>
              <a:rPr lang="ar-EG" sz="6000" dirty="0"/>
              <a:t> </a:t>
            </a:r>
            <a:r>
              <a:rPr lang="ar-EG" sz="6000" dirty="0" err="1"/>
              <a:t>Does</a:t>
            </a:r>
            <a:r>
              <a:rPr lang="ar-EG" sz="6000" dirty="0"/>
              <a:t> </a:t>
            </a:r>
            <a:r>
              <a:rPr lang="ar-EG" sz="6000" dirty="0" err="1"/>
              <a:t>Logistic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r>
              <a:rPr lang="ar-EG" sz="6000" dirty="0"/>
              <a:t> Learn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9CAD2F-61CB-28FD-C19D-B9A88142E1C5}"/>
              </a:ext>
            </a:extLst>
          </p:cNvPr>
          <p:cNvSpPr txBox="1"/>
          <p:nvPr/>
        </p:nvSpPr>
        <p:spPr>
          <a:xfrm>
            <a:off x="2115206" y="2292670"/>
            <a:ext cx="15510741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3200" dirty="0" err="1"/>
              <a:t>Training</a:t>
            </a:r>
            <a:r>
              <a:rPr lang="ar-EG" sz="3200" dirty="0"/>
              <a:t> </a:t>
            </a:r>
            <a:r>
              <a:rPr lang="ar-EG" sz="3200" dirty="0" err="1"/>
              <a:t>Objective</a:t>
            </a:r>
            <a:endParaRPr lang="ar-EG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learns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weights</a:t>
            </a:r>
            <a:r>
              <a:rPr lang="ar-EG" sz="3200" dirty="0"/>
              <a:t> and </a:t>
            </a:r>
            <a:r>
              <a:rPr lang="ar-EG" sz="3200" dirty="0" err="1"/>
              <a:t>bias</a:t>
            </a:r>
            <a:r>
              <a:rPr lang="ar-EG" sz="3200" dirty="0"/>
              <a:t> </a:t>
            </a:r>
            <a:r>
              <a:rPr lang="ar-EG" sz="3200" dirty="0" err="1"/>
              <a:t>from</a:t>
            </a:r>
            <a:r>
              <a:rPr lang="ar-EG" sz="3200" dirty="0"/>
              <a:t> </a:t>
            </a:r>
            <a:r>
              <a:rPr lang="ar-EG" sz="3200" dirty="0" err="1"/>
              <a:t>labeled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 data.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compares</a:t>
            </a:r>
            <a:r>
              <a:rPr lang="ar-EG" sz="3200" dirty="0"/>
              <a:t> </a:t>
            </a:r>
            <a:r>
              <a:rPr lang="ar-EG" sz="3200" dirty="0" err="1"/>
              <a:t>its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probabilities</a:t>
            </a:r>
            <a:r>
              <a:rPr lang="ar-EG" sz="3200" dirty="0"/>
              <a:t> with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true</a:t>
            </a:r>
            <a:r>
              <a:rPr lang="ar-EG" sz="3200" dirty="0"/>
              <a:t> </a:t>
            </a:r>
            <a:r>
              <a:rPr lang="ar-EG" sz="3200" dirty="0" err="1"/>
              <a:t>class</a:t>
            </a:r>
            <a:r>
              <a:rPr lang="ar-EG" sz="3200" dirty="0"/>
              <a:t> </a:t>
            </a:r>
            <a:r>
              <a:rPr lang="ar-EG" sz="3200" dirty="0" err="1"/>
              <a:t>labels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Cross-Entropy</a:t>
            </a:r>
            <a:r>
              <a:rPr lang="ar-EG" sz="3200" dirty="0"/>
              <a:t>, </a:t>
            </a:r>
            <a:r>
              <a:rPr lang="ar-EG" sz="3200" dirty="0" err="1"/>
              <a:t>also</a:t>
            </a:r>
            <a:r>
              <a:rPr lang="ar-EG" sz="3200" dirty="0"/>
              <a:t> </a:t>
            </a:r>
            <a:r>
              <a:rPr lang="ar-EG" sz="3200" dirty="0" err="1"/>
              <a:t>known</a:t>
            </a:r>
            <a:r>
              <a:rPr lang="ar-EG" sz="3200" dirty="0"/>
              <a:t> as </a:t>
            </a:r>
            <a:r>
              <a:rPr lang="ar-EG" sz="3200" dirty="0" err="1"/>
              <a:t>Log</a:t>
            </a:r>
            <a:r>
              <a:rPr lang="ar-EG" sz="3200" dirty="0"/>
              <a:t> </a:t>
            </a:r>
            <a:r>
              <a:rPr lang="ar-EG" sz="3200" dirty="0" err="1"/>
              <a:t>Loss</a:t>
            </a:r>
            <a:r>
              <a:rPr lang="ar-EG" sz="3200" dirty="0"/>
              <a:t>, is </a:t>
            </a:r>
            <a:r>
              <a:rPr lang="ar-EG" sz="3200" dirty="0" err="1"/>
              <a:t>commonly</a:t>
            </a:r>
            <a:r>
              <a:rPr lang="ar-EG" sz="3200" dirty="0"/>
              <a:t> </a:t>
            </a:r>
            <a:r>
              <a:rPr lang="ar-EG" sz="3200" dirty="0" err="1"/>
              <a:t>used</a:t>
            </a:r>
            <a:r>
              <a:rPr lang="ar-EG" sz="3200" dirty="0"/>
              <a:t> as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 </a:t>
            </a:r>
            <a:r>
              <a:rPr lang="ar-EG" sz="3200" dirty="0" err="1"/>
              <a:t>loss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learning </a:t>
            </a:r>
            <a:r>
              <a:rPr lang="ar-EG" sz="3200" dirty="0" err="1"/>
              <a:t>algorithm</a:t>
            </a:r>
            <a:r>
              <a:rPr lang="ar-EG" sz="3200" dirty="0"/>
              <a:t> </a:t>
            </a:r>
            <a:r>
              <a:rPr lang="ar-EG" sz="3200" dirty="0" err="1"/>
              <a:t>adjusts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parameters</a:t>
            </a:r>
            <a:r>
              <a:rPr lang="ar-EG" sz="3200" dirty="0"/>
              <a:t> to </a:t>
            </a:r>
            <a:r>
              <a:rPr lang="ar-EG" sz="3200" dirty="0" err="1"/>
              <a:t>minimize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loss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Lower</a:t>
            </a:r>
            <a:r>
              <a:rPr lang="ar-EG" sz="3200" dirty="0"/>
              <a:t> </a:t>
            </a:r>
            <a:r>
              <a:rPr lang="ar-EG" sz="3200" dirty="0" err="1"/>
              <a:t>loss</a:t>
            </a:r>
            <a:r>
              <a:rPr lang="ar-EG" sz="3200" dirty="0"/>
              <a:t> </a:t>
            </a:r>
            <a:r>
              <a:rPr lang="ar-EG" sz="3200" dirty="0" err="1"/>
              <a:t>indicates</a:t>
            </a:r>
            <a:r>
              <a:rPr lang="ar-EG" sz="3200" dirty="0"/>
              <a:t> that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probabilities</a:t>
            </a:r>
            <a:r>
              <a:rPr lang="ar-EG" sz="3200" dirty="0"/>
              <a:t> </a:t>
            </a:r>
            <a:r>
              <a:rPr lang="ar-EG" sz="3200" dirty="0" err="1"/>
              <a:t>better</a:t>
            </a:r>
            <a:r>
              <a:rPr lang="ar-EG" sz="3200" dirty="0"/>
              <a:t> </a:t>
            </a:r>
            <a:r>
              <a:rPr lang="ar-EG" sz="3200" dirty="0" err="1"/>
              <a:t>match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observed</a:t>
            </a:r>
            <a:r>
              <a:rPr lang="ar-EG" sz="3200" dirty="0"/>
              <a:t> </a:t>
            </a:r>
            <a:r>
              <a:rPr lang="ar-EG" sz="3200" dirty="0" err="1"/>
              <a:t>labels</a:t>
            </a:r>
            <a:r>
              <a:rPr lang="ar-EG" sz="3200" dirty="0"/>
              <a:t> </a:t>
            </a:r>
            <a:r>
              <a:rPr lang="ar-EG" sz="3200" dirty="0" err="1"/>
              <a:t>according</a:t>
            </a:r>
            <a:r>
              <a:rPr lang="ar-EG" sz="3200" dirty="0"/>
              <a:t> to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loss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r>
              <a:rPr lang="ar-EG" sz="3200" dirty="0"/>
              <a:t>.</a:t>
            </a:r>
            <a:endParaRPr lang="en-US" sz="3200" dirty="0"/>
          </a:p>
          <a:p>
            <a:r>
              <a:rPr lang="ar-EG" sz="3200" b="1" dirty="0" err="1"/>
              <a:t>Binary</a:t>
            </a:r>
            <a:r>
              <a:rPr lang="ar-EG" sz="3200" b="1" dirty="0"/>
              <a:t> </a:t>
            </a:r>
            <a:r>
              <a:rPr lang="ar-EG" sz="3200" b="1" dirty="0" err="1"/>
              <a:t>Cross-Entropy</a:t>
            </a:r>
            <a:r>
              <a:rPr lang="ar-EG" sz="3200" b="1" dirty="0"/>
              <a:t> </a:t>
            </a:r>
            <a:r>
              <a:rPr lang="ar-EG" sz="3200" b="1" dirty="0" err="1"/>
              <a:t>Loss</a:t>
            </a:r>
            <a:r>
              <a:rPr lang="en-US" sz="3200" b="1" dirty="0"/>
              <a:t>:</a:t>
            </a:r>
          </a:p>
          <a:p>
            <a:endParaRPr lang="ar-EG" sz="3200" b="1" dirty="0"/>
          </a:p>
          <a:p>
            <a:pPr lvl="0"/>
            <a:endParaRPr lang="ar-EG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When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true</a:t>
            </a:r>
            <a:r>
              <a:rPr lang="ar-EG" sz="3200" dirty="0"/>
              <a:t> </a:t>
            </a:r>
            <a:r>
              <a:rPr lang="ar-EG" sz="3200" dirty="0" err="1"/>
              <a:t>label</a:t>
            </a:r>
            <a:r>
              <a:rPr lang="ar-EG" sz="3200" dirty="0"/>
              <a:t> is 1,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loss</a:t>
            </a:r>
            <a:r>
              <a:rPr lang="ar-EG" sz="3200" dirty="0"/>
              <a:t> </a:t>
            </a:r>
            <a:r>
              <a:rPr lang="ar-EG" sz="3200" dirty="0" err="1"/>
              <a:t>penalizes</a:t>
            </a:r>
            <a:r>
              <a:rPr lang="ar-EG" sz="3200" dirty="0"/>
              <a:t> </a:t>
            </a:r>
            <a:r>
              <a:rPr lang="ar-EG" sz="3200" dirty="0" err="1"/>
              <a:t>low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probabilities</a:t>
            </a:r>
            <a:r>
              <a:rPr lang="ar-EG" sz="3200" dirty="0"/>
              <a:t> for </a:t>
            </a:r>
            <a:r>
              <a:rPr lang="ar-EG" sz="3200" dirty="0" err="1"/>
              <a:t>Class</a:t>
            </a:r>
            <a:r>
              <a:rPr lang="ar-EG" sz="3200" dirty="0"/>
              <a:t> 1.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When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true</a:t>
            </a:r>
            <a:r>
              <a:rPr lang="ar-EG" sz="3200" dirty="0"/>
              <a:t> </a:t>
            </a:r>
            <a:r>
              <a:rPr lang="ar-EG" sz="3200" dirty="0" err="1"/>
              <a:t>label</a:t>
            </a:r>
            <a:r>
              <a:rPr lang="ar-EG" sz="3200" dirty="0"/>
              <a:t> is 0,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loss</a:t>
            </a:r>
            <a:r>
              <a:rPr lang="ar-EG" sz="3200" dirty="0"/>
              <a:t> </a:t>
            </a:r>
            <a:r>
              <a:rPr lang="ar-EG" sz="3200" dirty="0" err="1"/>
              <a:t>penalizes</a:t>
            </a:r>
            <a:r>
              <a:rPr lang="ar-EG" sz="3200" dirty="0"/>
              <a:t> </a:t>
            </a:r>
            <a:r>
              <a:rPr lang="ar-EG" sz="3200" dirty="0" err="1"/>
              <a:t>high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probabilities</a:t>
            </a:r>
            <a:r>
              <a:rPr lang="ar-EG" sz="3200" dirty="0"/>
              <a:t> for </a:t>
            </a:r>
            <a:r>
              <a:rPr lang="ar-EG" sz="3200" dirty="0" err="1"/>
              <a:t>Class</a:t>
            </a:r>
            <a:r>
              <a:rPr lang="ar-EG" sz="3200" dirty="0"/>
              <a:t> 1.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Confident</a:t>
            </a:r>
            <a:r>
              <a:rPr lang="ar-EG" sz="3200" dirty="0"/>
              <a:t> and </a:t>
            </a:r>
            <a:r>
              <a:rPr lang="ar-EG" sz="3200" dirty="0" err="1"/>
              <a:t>incorrect</a:t>
            </a:r>
            <a:r>
              <a:rPr lang="ar-EG" sz="3200" dirty="0"/>
              <a:t> </a:t>
            </a:r>
            <a:r>
              <a:rPr lang="ar-EG" sz="3200" dirty="0" err="1"/>
              <a:t>predictions</a:t>
            </a:r>
            <a:r>
              <a:rPr lang="ar-EG" sz="3200" dirty="0"/>
              <a:t> receive a </a:t>
            </a:r>
            <a:r>
              <a:rPr lang="ar-EG" sz="3200" dirty="0" err="1"/>
              <a:t>large</a:t>
            </a:r>
            <a:r>
              <a:rPr lang="ar-EG" sz="3200" dirty="0"/>
              <a:t> </a:t>
            </a:r>
            <a:r>
              <a:rPr lang="ar-EG" sz="3200" dirty="0" err="1"/>
              <a:t>penalty</a:t>
            </a:r>
            <a:r>
              <a:rPr lang="ar-EG" sz="3200" dirty="0"/>
              <a:t>.</a:t>
            </a:r>
          </a:p>
          <a:p>
            <a:pPr lvl="0"/>
            <a:endParaRPr lang="ar-EG" sz="3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9331A2-6D9C-5B9F-453C-DACD60A101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62402" y="5888902"/>
            <a:ext cx="6558494" cy="126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4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EC28E-9D01-B00F-A4FD-31CF1C34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8861EF-1DBB-125B-D67F-69527CD6ADEA}"/>
              </a:ext>
            </a:extLst>
          </p:cNvPr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5FA0A6B-0B92-F225-C4B0-884CAEF1D107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1CCCADB-2949-B9FA-8D27-55AF7D502DAE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92278A8-B06F-6330-4C46-AD13DCAD0C76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D15BD83-61F8-4A95-A25E-CBD4E6BB9C19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96C843F-CBE3-BAB2-E627-06D7F1C5FC4D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6154CC4-1AFC-F7C4-B216-59E8F9952252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CE4E19E-49BF-4A51-6A1E-07CE96147ED1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5EA1BF9-224F-BA08-A209-2C7766E545BD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011548F-D39F-FF33-5290-223EB66EF5BB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Evaluating</a:t>
            </a:r>
            <a:r>
              <a:rPr lang="ar-EG" sz="6000" dirty="0"/>
              <a:t> </a:t>
            </a:r>
            <a:r>
              <a:rPr lang="ar-EG" sz="6000" dirty="0" err="1"/>
              <a:t>Logistic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DE1C85-99BB-09FC-70AF-B0683A3DFFFD}"/>
              </a:ext>
            </a:extLst>
          </p:cNvPr>
          <p:cNvSpPr txBox="1"/>
          <p:nvPr/>
        </p:nvSpPr>
        <p:spPr>
          <a:xfrm>
            <a:off x="2115206" y="1665361"/>
            <a:ext cx="1551074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Accuracy</a:t>
            </a:r>
            <a:r>
              <a:rPr lang="ar-EG" sz="3200" dirty="0"/>
              <a:t>: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proportion</a:t>
            </a:r>
            <a:r>
              <a:rPr lang="ar-EG" sz="3200" dirty="0"/>
              <a:t> of all </a:t>
            </a:r>
            <a:r>
              <a:rPr lang="ar-EG" sz="3200" dirty="0" err="1"/>
              <a:t>predictions</a:t>
            </a:r>
            <a:r>
              <a:rPr lang="ar-EG" sz="3200" dirty="0"/>
              <a:t> that are </a:t>
            </a:r>
            <a:r>
              <a:rPr lang="ar-EG" sz="3200" dirty="0" err="1"/>
              <a:t>correct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Precision</a:t>
            </a:r>
            <a:r>
              <a:rPr lang="ar-EG" sz="3200" dirty="0"/>
              <a:t>: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proportion</a:t>
            </a:r>
            <a:r>
              <a:rPr lang="ar-EG" sz="3200" dirty="0"/>
              <a:t> of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positive</a:t>
            </a:r>
            <a:r>
              <a:rPr lang="ar-EG" sz="3200" dirty="0"/>
              <a:t> </a:t>
            </a:r>
            <a:r>
              <a:rPr lang="ar-EG" sz="3200" dirty="0" err="1"/>
              <a:t>cases</a:t>
            </a:r>
            <a:r>
              <a:rPr lang="ar-EG" sz="3200" dirty="0"/>
              <a:t> that are </a:t>
            </a:r>
            <a:r>
              <a:rPr lang="ar-EG" sz="3200" dirty="0" err="1"/>
              <a:t>actually</a:t>
            </a:r>
            <a:r>
              <a:rPr lang="ar-EG" sz="3200" dirty="0"/>
              <a:t> </a:t>
            </a:r>
            <a:r>
              <a:rPr lang="ar-EG" sz="3200" dirty="0" err="1"/>
              <a:t>positive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Recall</a:t>
            </a:r>
            <a:r>
              <a:rPr lang="ar-EG" sz="3200" dirty="0"/>
              <a:t>: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proportion</a:t>
            </a:r>
            <a:r>
              <a:rPr lang="ar-EG" sz="3200" dirty="0"/>
              <a:t> of </a:t>
            </a:r>
            <a:r>
              <a:rPr lang="ar-EG" sz="3200" dirty="0" err="1"/>
              <a:t>actual</a:t>
            </a:r>
            <a:r>
              <a:rPr lang="ar-EG" sz="3200" dirty="0"/>
              <a:t> </a:t>
            </a:r>
            <a:r>
              <a:rPr lang="ar-EG" sz="3200" dirty="0" err="1"/>
              <a:t>positive</a:t>
            </a:r>
            <a:r>
              <a:rPr lang="ar-EG" sz="3200" dirty="0"/>
              <a:t> </a:t>
            </a:r>
            <a:r>
              <a:rPr lang="ar-EG" sz="3200" dirty="0" err="1"/>
              <a:t>cases</a:t>
            </a:r>
            <a:r>
              <a:rPr lang="ar-EG" sz="3200" dirty="0"/>
              <a:t> </a:t>
            </a:r>
            <a:r>
              <a:rPr lang="ar-EG" sz="3200" dirty="0" err="1"/>
              <a:t>correctly</a:t>
            </a:r>
            <a:r>
              <a:rPr lang="ar-EG" sz="3200" dirty="0"/>
              <a:t> </a:t>
            </a:r>
            <a:r>
              <a:rPr lang="ar-EG" sz="3200" dirty="0" err="1"/>
              <a:t>identified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F1-Score: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harmonic</a:t>
            </a:r>
            <a:r>
              <a:rPr lang="ar-EG" sz="3200" dirty="0"/>
              <a:t> </a:t>
            </a:r>
            <a:r>
              <a:rPr lang="ar-EG" sz="3200" dirty="0" err="1"/>
              <a:t>mean</a:t>
            </a:r>
            <a:r>
              <a:rPr lang="ar-EG" sz="3200" dirty="0"/>
              <a:t> of </a:t>
            </a:r>
            <a:r>
              <a:rPr lang="ar-EG" sz="3200" dirty="0" err="1"/>
              <a:t>precision</a:t>
            </a:r>
            <a:r>
              <a:rPr lang="ar-EG" sz="3200" dirty="0"/>
              <a:t> and </a:t>
            </a:r>
            <a:r>
              <a:rPr lang="ar-EG" sz="3200" dirty="0" err="1"/>
              <a:t>recall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Confusion</a:t>
            </a:r>
            <a:r>
              <a:rPr lang="ar-EG" sz="3200" dirty="0"/>
              <a:t> </a:t>
            </a:r>
            <a:r>
              <a:rPr lang="ar-EG" sz="3200" dirty="0" err="1"/>
              <a:t>Matrix</a:t>
            </a:r>
            <a:r>
              <a:rPr lang="ar-EG" sz="3200" dirty="0"/>
              <a:t>: </a:t>
            </a:r>
            <a:r>
              <a:rPr lang="ar-EG" sz="3200" dirty="0" err="1"/>
              <a:t>Summarizes</a:t>
            </a:r>
            <a:r>
              <a:rPr lang="ar-EG" sz="3200" dirty="0"/>
              <a:t> </a:t>
            </a:r>
            <a:r>
              <a:rPr lang="ar-EG" sz="3200" dirty="0" err="1"/>
              <a:t>correct</a:t>
            </a:r>
            <a:r>
              <a:rPr lang="ar-EG" sz="3200" dirty="0"/>
              <a:t> and </a:t>
            </a:r>
            <a:r>
              <a:rPr lang="ar-EG" sz="3200" dirty="0" err="1"/>
              <a:t>incorrect</a:t>
            </a:r>
            <a:r>
              <a:rPr lang="ar-EG" sz="3200" dirty="0"/>
              <a:t> </a:t>
            </a:r>
            <a:r>
              <a:rPr lang="ar-EG" sz="3200" dirty="0" err="1"/>
              <a:t>predictions</a:t>
            </a:r>
            <a:r>
              <a:rPr lang="ar-EG" sz="3200" dirty="0"/>
              <a:t> for </a:t>
            </a:r>
            <a:r>
              <a:rPr lang="ar-EG" sz="3200" dirty="0" err="1"/>
              <a:t>each</a:t>
            </a:r>
            <a:r>
              <a:rPr lang="ar-EG" sz="3200" dirty="0"/>
              <a:t> </a:t>
            </a:r>
            <a:r>
              <a:rPr lang="ar-EG" sz="3200" dirty="0" err="1"/>
              <a:t>class</a:t>
            </a:r>
            <a:r>
              <a:rPr lang="ar-EG" sz="3200" dirty="0"/>
              <a:t>.</a:t>
            </a:r>
          </a:p>
          <a:p>
            <a:r>
              <a:rPr lang="ar-EG" sz="3200" b="1" dirty="0" err="1"/>
              <a:t>Confusion</a:t>
            </a:r>
            <a:r>
              <a:rPr lang="ar-EG" sz="3200" b="1" dirty="0"/>
              <a:t> </a:t>
            </a:r>
            <a:r>
              <a:rPr lang="ar-EG" sz="3200" b="1" dirty="0" err="1"/>
              <a:t>Matrix</a:t>
            </a:r>
            <a:r>
              <a:rPr lang="ar-EG" sz="3200" b="1" dirty="0"/>
              <a:t> </a:t>
            </a:r>
            <a:r>
              <a:rPr lang="ar-EG" sz="3200" b="1" dirty="0" err="1"/>
              <a:t>Terms</a:t>
            </a:r>
            <a:endParaRPr lang="ar-EG" sz="3200" b="1" dirty="0"/>
          </a:p>
          <a:p>
            <a:pPr marL="514350" indent="-514350">
              <a:buFont typeface="+mj-lt"/>
              <a:buAutoNum type="arabicPeriod"/>
            </a:pPr>
            <a:r>
              <a:rPr lang="ar-EG" sz="3200" dirty="0" err="1"/>
              <a:t>True</a:t>
            </a:r>
            <a:r>
              <a:rPr lang="ar-EG" sz="3200" dirty="0"/>
              <a:t> </a:t>
            </a:r>
            <a:r>
              <a:rPr lang="ar-EG" sz="3200" dirty="0" err="1"/>
              <a:t>Positives</a:t>
            </a:r>
            <a:r>
              <a:rPr lang="ar-EG" sz="3200" dirty="0"/>
              <a:t> — </a:t>
            </a:r>
            <a:r>
              <a:rPr lang="ar-EG" sz="3200" dirty="0" err="1"/>
              <a:t>positive</a:t>
            </a:r>
            <a:r>
              <a:rPr lang="ar-EG" sz="3200" dirty="0"/>
              <a:t> </a:t>
            </a:r>
            <a:r>
              <a:rPr lang="ar-EG" sz="3200" dirty="0" err="1"/>
              <a:t>cases</a:t>
            </a:r>
            <a:r>
              <a:rPr lang="ar-EG" sz="3200" dirty="0"/>
              <a:t> </a:t>
            </a:r>
            <a:r>
              <a:rPr lang="ar-EG" sz="3200" dirty="0" err="1"/>
              <a:t>correctly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ar-EG" sz="3200" dirty="0" err="1"/>
              <a:t>True</a:t>
            </a:r>
            <a:r>
              <a:rPr lang="ar-EG" sz="3200" dirty="0"/>
              <a:t> </a:t>
            </a:r>
            <a:r>
              <a:rPr lang="ar-EG" sz="3200" dirty="0" err="1"/>
              <a:t>Negatives</a:t>
            </a:r>
            <a:r>
              <a:rPr lang="ar-EG" sz="3200" dirty="0"/>
              <a:t> — </a:t>
            </a:r>
            <a:r>
              <a:rPr lang="ar-EG" sz="3200" dirty="0" err="1"/>
              <a:t>negative</a:t>
            </a:r>
            <a:r>
              <a:rPr lang="ar-EG" sz="3200" dirty="0"/>
              <a:t> </a:t>
            </a:r>
            <a:r>
              <a:rPr lang="ar-EG" sz="3200" dirty="0" err="1"/>
              <a:t>cases</a:t>
            </a:r>
            <a:r>
              <a:rPr lang="ar-EG" sz="3200" dirty="0"/>
              <a:t> </a:t>
            </a:r>
            <a:r>
              <a:rPr lang="ar-EG" sz="3200" dirty="0" err="1"/>
              <a:t>correctly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ar-EG" sz="3200" dirty="0" err="1"/>
              <a:t>False</a:t>
            </a:r>
            <a:r>
              <a:rPr lang="ar-EG" sz="3200" dirty="0"/>
              <a:t> </a:t>
            </a:r>
            <a:r>
              <a:rPr lang="ar-EG" sz="3200" dirty="0" err="1"/>
              <a:t>Positives</a:t>
            </a:r>
            <a:r>
              <a:rPr lang="ar-EG" sz="3200" dirty="0"/>
              <a:t>: </a:t>
            </a:r>
            <a:r>
              <a:rPr lang="ar-EG" sz="3200" dirty="0" err="1"/>
              <a:t>negative</a:t>
            </a:r>
            <a:r>
              <a:rPr lang="ar-EG" sz="3200" dirty="0"/>
              <a:t> </a:t>
            </a:r>
            <a:r>
              <a:rPr lang="ar-EG" sz="3200" dirty="0" err="1"/>
              <a:t>cases</a:t>
            </a:r>
            <a:r>
              <a:rPr lang="ar-EG" sz="3200" dirty="0"/>
              <a:t> </a:t>
            </a:r>
            <a:r>
              <a:rPr lang="ar-EG" sz="3200" dirty="0" err="1"/>
              <a:t>incorrectly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as </a:t>
            </a:r>
            <a:r>
              <a:rPr lang="ar-EG" sz="3200" dirty="0" err="1"/>
              <a:t>positive</a:t>
            </a:r>
            <a:endParaRPr lang="ar-EG" sz="3200" dirty="0"/>
          </a:p>
          <a:p>
            <a:pPr marL="514350" lvl="0" indent="-514350">
              <a:buFont typeface="+mj-lt"/>
              <a:buAutoNum type="arabicPeriod"/>
            </a:pPr>
            <a:r>
              <a:rPr lang="ar-EG" sz="3200" dirty="0" err="1"/>
              <a:t>False</a:t>
            </a:r>
            <a:r>
              <a:rPr lang="ar-EG" sz="3200" dirty="0"/>
              <a:t> </a:t>
            </a:r>
            <a:r>
              <a:rPr lang="ar-EG" sz="3200" dirty="0" err="1"/>
              <a:t>Negatives</a:t>
            </a:r>
            <a:r>
              <a:rPr lang="ar-EG" sz="3200" dirty="0"/>
              <a:t>: </a:t>
            </a:r>
            <a:r>
              <a:rPr lang="ar-EG" sz="3200" dirty="0" err="1"/>
              <a:t>positive</a:t>
            </a:r>
            <a:r>
              <a:rPr lang="ar-EG" sz="3200" dirty="0"/>
              <a:t> </a:t>
            </a:r>
            <a:r>
              <a:rPr lang="ar-EG" sz="3200" dirty="0" err="1"/>
              <a:t>cases</a:t>
            </a:r>
            <a:r>
              <a:rPr lang="ar-EG" sz="3200" dirty="0"/>
              <a:t> </a:t>
            </a:r>
            <a:r>
              <a:rPr lang="ar-EG" sz="3200" dirty="0" err="1"/>
              <a:t>incorrectly</a:t>
            </a:r>
            <a:r>
              <a:rPr lang="ar-EG" sz="3200" dirty="0"/>
              <a:t> </a:t>
            </a:r>
            <a:r>
              <a:rPr lang="ar-EG" sz="3200" dirty="0" err="1"/>
              <a:t>predicted</a:t>
            </a:r>
            <a:r>
              <a:rPr lang="ar-EG" sz="3200" dirty="0"/>
              <a:t> as </a:t>
            </a:r>
            <a:r>
              <a:rPr lang="ar-EG" sz="3200" dirty="0" err="1"/>
              <a:t>negative</a:t>
            </a:r>
            <a:r>
              <a:rPr lang="ar-EG" sz="3200" dirty="0"/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633BE7-1B35-29C4-02D9-60C3E8D6EE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3316" y="6682119"/>
            <a:ext cx="4807448" cy="339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48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CAB74-B546-6456-C230-A3B309F0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55402B-E107-A9F5-20DE-73CBA45CDA87}"/>
              </a:ext>
            </a:extLst>
          </p:cNvPr>
          <p:cNvSpPr/>
          <p:nvPr/>
        </p:nvSpPr>
        <p:spPr>
          <a:xfrm rot="-2700000">
            <a:off x="-1918450" y="830520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E7ED997-E672-081E-6ABE-1FCE2880A2A4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9391383-450E-9F80-F165-2FB50A7E03DC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9F95E7F-EC6E-2CB4-DC7A-2C7667291E3A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5258D5A-B96B-4671-E373-C1E96F982F5F}"/>
              </a:ext>
            </a:extLst>
          </p:cNvPr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6C00E49-B47A-1294-0198-1BE05929270C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069D353-4084-7564-0FA5-093CE3A070C6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67E370D-B4D5-D3AD-E220-190E68D3CD42}"/>
              </a:ext>
            </a:extLst>
          </p:cNvPr>
          <p:cNvSpPr/>
          <p:nvPr/>
        </p:nvSpPr>
        <p:spPr>
          <a:xfrm>
            <a:off x="15777876" y="8767933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32C1FA6-5BEB-E230-7477-CD13CBCA9BC0}"/>
              </a:ext>
            </a:extLst>
          </p:cNvPr>
          <p:cNvSpPr/>
          <p:nvPr/>
        </p:nvSpPr>
        <p:spPr>
          <a:xfrm rot="-3404902">
            <a:off x="-1675873" y="9190784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FC548D8-1131-FBDC-5D66-29837CDE7F20}"/>
              </a:ext>
            </a:extLst>
          </p:cNvPr>
          <p:cNvSpPr txBox="1"/>
          <p:nvPr/>
        </p:nvSpPr>
        <p:spPr>
          <a:xfrm>
            <a:off x="1168133" y="513489"/>
            <a:ext cx="1645781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Evaluating</a:t>
            </a:r>
            <a:r>
              <a:rPr lang="ar-EG" sz="6000" dirty="0"/>
              <a:t> </a:t>
            </a:r>
            <a:r>
              <a:rPr lang="ar-EG" sz="6000" dirty="0" err="1"/>
              <a:t>Logistic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7F8C4B-D30F-0D35-EE46-8204EB17AA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996" y="3023966"/>
            <a:ext cx="8997972" cy="46434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29A745-A519-0A44-8517-18FA2056C5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2648" y="3017821"/>
            <a:ext cx="8623434" cy="464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84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8B7BD-BE28-6719-0CDC-33C8C58B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270FB9-0BBC-B4BA-3871-C024BC92B2D9}"/>
              </a:ext>
            </a:extLst>
          </p:cNvPr>
          <p:cNvSpPr/>
          <p:nvPr/>
        </p:nvSpPr>
        <p:spPr>
          <a:xfrm rot="-2700000">
            <a:off x="-1615753" y="8681964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BB78939-A4AC-6B8C-F299-CEEFBE5C4D23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8BC5C04-3FD4-8D96-2260-297CCA7A7DF8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D86912F-5DDD-51DC-66A8-04B2442E7C94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D9E1C2C-00C2-46DC-CC06-21043FB1CBC5}"/>
              </a:ext>
            </a:extLst>
          </p:cNvPr>
          <p:cNvSpPr/>
          <p:nvPr/>
        </p:nvSpPr>
        <p:spPr>
          <a:xfrm>
            <a:off x="15423946" y="8376379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4823733-BD8B-62AA-8102-9EB94D6DC29A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877C5D1-59EF-07E8-56F8-A185ED0567E9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839B9FA-365B-DC27-C372-ABB13DB9D8F1}"/>
              </a:ext>
            </a:extLst>
          </p:cNvPr>
          <p:cNvSpPr/>
          <p:nvPr/>
        </p:nvSpPr>
        <p:spPr>
          <a:xfrm>
            <a:off x="16154400" y="8536811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C726199-3CE5-0F53-721E-B1B35A967F0D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19DA699-CEEF-21D9-24D8-DAA149B24453}"/>
              </a:ext>
            </a:extLst>
          </p:cNvPr>
          <p:cNvSpPr txBox="1"/>
          <p:nvPr/>
        </p:nvSpPr>
        <p:spPr>
          <a:xfrm>
            <a:off x="3689292" y="210741"/>
            <a:ext cx="1090941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Advantages</a:t>
            </a:r>
            <a:r>
              <a:rPr lang="ar-EG" sz="6000" dirty="0"/>
              <a:t> and </a:t>
            </a:r>
            <a:r>
              <a:rPr lang="ar-EG" sz="6000" dirty="0" err="1"/>
              <a:t>Limitations</a:t>
            </a:r>
            <a:r>
              <a:rPr lang="ar-EG" sz="6000" dirty="0"/>
              <a:t> of </a:t>
            </a:r>
            <a:r>
              <a:rPr lang="ar-EG" sz="6000" dirty="0" err="1"/>
              <a:t>Logistic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4040B2D-82C7-BF6F-05D0-641E4C2C3418}"/>
              </a:ext>
            </a:extLst>
          </p:cNvPr>
          <p:cNvSpPr txBox="1"/>
          <p:nvPr/>
        </p:nvSpPr>
        <p:spPr>
          <a:xfrm>
            <a:off x="1186577" y="2339796"/>
            <a:ext cx="16802229" cy="738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ar-EG" sz="3200" b="1" dirty="0" err="1"/>
              <a:t>Advantages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Simple</a:t>
            </a:r>
            <a:r>
              <a:rPr lang="ar-EG" sz="3200" dirty="0"/>
              <a:t>, </a:t>
            </a:r>
            <a:r>
              <a:rPr lang="ar-EG" sz="3200" dirty="0" err="1"/>
              <a:t>efficient</a:t>
            </a:r>
            <a:r>
              <a:rPr lang="ar-EG" sz="3200" dirty="0"/>
              <a:t>, and </a:t>
            </a:r>
            <a:r>
              <a:rPr lang="ar-EG" sz="3200" dirty="0" err="1"/>
              <a:t>relatively</a:t>
            </a:r>
            <a:r>
              <a:rPr lang="ar-EG" sz="3200" dirty="0"/>
              <a:t> </a:t>
            </a:r>
            <a:r>
              <a:rPr lang="ar-EG" sz="3200" dirty="0" err="1"/>
              <a:t>easy</a:t>
            </a:r>
            <a:r>
              <a:rPr lang="ar-EG" sz="3200" dirty="0"/>
              <a:t> to </a:t>
            </a:r>
            <a:r>
              <a:rPr lang="ar-EG" sz="3200" dirty="0" err="1"/>
              <a:t>interpret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Produces</a:t>
            </a:r>
            <a:r>
              <a:rPr lang="ar-EG" sz="3200" dirty="0"/>
              <a:t> </a:t>
            </a:r>
            <a:r>
              <a:rPr lang="ar-EG" sz="3200" dirty="0" err="1"/>
              <a:t>estimated</a:t>
            </a:r>
            <a:r>
              <a:rPr lang="ar-EG" sz="3200" dirty="0"/>
              <a:t> </a:t>
            </a:r>
            <a:r>
              <a:rPr lang="ar-EG" sz="3200" dirty="0" err="1"/>
              <a:t>probabilities</a:t>
            </a:r>
            <a:r>
              <a:rPr lang="ar-EG" sz="3200" dirty="0"/>
              <a:t> for </a:t>
            </a: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Supports</a:t>
            </a:r>
            <a:r>
              <a:rPr lang="ar-EG" sz="3200" dirty="0"/>
              <a:t> </a:t>
            </a:r>
            <a:r>
              <a:rPr lang="ar-EG" sz="3200" dirty="0" err="1"/>
              <a:t>regularization</a:t>
            </a:r>
            <a:r>
              <a:rPr lang="ar-EG" sz="3200" dirty="0"/>
              <a:t> to </a:t>
            </a:r>
            <a:r>
              <a:rPr lang="ar-EG" sz="3200" dirty="0" err="1"/>
              <a:t>help</a:t>
            </a:r>
            <a:r>
              <a:rPr lang="ar-EG" sz="3200" dirty="0"/>
              <a:t> </a:t>
            </a:r>
            <a:r>
              <a:rPr lang="ar-EG" sz="3200" dirty="0" err="1"/>
              <a:t>control</a:t>
            </a:r>
            <a:r>
              <a:rPr lang="ar-EG" sz="3200" dirty="0"/>
              <a:t> </a:t>
            </a:r>
            <a:r>
              <a:rPr lang="ar-EG" sz="3200" dirty="0" err="1"/>
              <a:t>overfitting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Provides</a:t>
            </a:r>
            <a:r>
              <a:rPr lang="ar-EG" sz="3200" dirty="0"/>
              <a:t> </a:t>
            </a:r>
            <a:r>
              <a:rPr lang="ar-EG" sz="3200" dirty="0" err="1"/>
              <a:t>interpretable</a:t>
            </a:r>
            <a:r>
              <a:rPr lang="ar-EG" sz="3200" dirty="0"/>
              <a:t> </a:t>
            </a:r>
            <a:r>
              <a:rPr lang="ar-EG" sz="3200" dirty="0" err="1"/>
              <a:t>coefficients</a:t>
            </a:r>
            <a:r>
              <a:rPr lang="ar-EG" sz="3200" dirty="0"/>
              <a:t> </a:t>
            </a: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ar-EG" sz="3200" dirty="0" err="1"/>
              <a:t>terms</a:t>
            </a:r>
            <a:r>
              <a:rPr lang="ar-EG" sz="3200" dirty="0"/>
              <a:t> of </a:t>
            </a:r>
            <a:r>
              <a:rPr lang="ar-EG" sz="3200" dirty="0" err="1"/>
              <a:t>changes</a:t>
            </a:r>
            <a:r>
              <a:rPr lang="ar-EG" sz="3200" dirty="0"/>
              <a:t> </a:t>
            </a: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log-odds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Serves</a:t>
            </a:r>
            <a:r>
              <a:rPr lang="ar-EG" sz="3200" dirty="0"/>
              <a:t> as a </a:t>
            </a:r>
            <a:r>
              <a:rPr lang="ar-EG" sz="3200" dirty="0" err="1"/>
              <a:t>strong</a:t>
            </a:r>
            <a:r>
              <a:rPr lang="ar-EG" sz="3200" dirty="0"/>
              <a:t> </a:t>
            </a:r>
            <a:r>
              <a:rPr lang="ar-EG" sz="3200" dirty="0" err="1"/>
              <a:t>baseline</a:t>
            </a:r>
            <a:r>
              <a:rPr lang="ar-EG" sz="3200" dirty="0"/>
              <a:t> for </a:t>
            </a:r>
            <a:r>
              <a:rPr lang="ar-EG" sz="3200" dirty="0" err="1"/>
              <a:t>many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tasks</a:t>
            </a:r>
            <a:r>
              <a:rPr lang="ar-EG" sz="3200" dirty="0"/>
              <a:t>.</a:t>
            </a:r>
          </a:p>
          <a:p>
            <a:r>
              <a:rPr lang="ar-EG" sz="3200" b="1" dirty="0" err="1"/>
              <a:t>Limitations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Its</a:t>
            </a:r>
            <a:r>
              <a:rPr lang="ar-EG" sz="3200" dirty="0"/>
              <a:t> </a:t>
            </a:r>
            <a:r>
              <a:rPr lang="ar-EG" sz="3200" dirty="0" err="1"/>
              <a:t>standard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boundary</a:t>
            </a:r>
            <a:r>
              <a:rPr lang="ar-EG" sz="3200" dirty="0"/>
              <a:t> is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original</a:t>
            </a:r>
            <a:r>
              <a:rPr lang="ar-EG" sz="3200" dirty="0"/>
              <a:t> </a:t>
            </a:r>
            <a:r>
              <a:rPr lang="ar-EG" sz="3200" dirty="0" err="1"/>
              <a:t>feature</a:t>
            </a:r>
            <a:r>
              <a:rPr lang="ar-EG" sz="3200" dirty="0"/>
              <a:t> </a:t>
            </a:r>
            <a:r>
              <a:rPr lang="ar-EG" sz="3200" dirty="0" err="1"/>
              <a:t>space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It </a:t>
            </a:r>
            <a:r>
              <a:rPr lang="ar-EG" sz="3200" dirty="0" err="1"/>
              <a:t>may</a:t>
            </a:r>
            <a:r>
              <a:rPr lang="ar-EG" sz="3200" dirty="0"/>
              <a:t> </a:t>
            </a:r>
            <a:r>
              <a:rPr lang="ar-EG" sz="3200" dirty="0" err="1"/>
              <a:t>perform</a:t>
            </a:r>
            <a:r>
              <a:rPr lang="ar-EG" sz="3200" dirty="0"/>
              <a:t> </a:t>
            </a:r>
            <a:r>
              <a:rPr lang="ar-EG" sz="3200" dirty="0" err="1"/>
              <a:t>poorly</a:t>
            </a:r>
            <a:r>
              <a:rPr lang="ar-EG" sz="3200" dirty="0"/>
              <a:t> </a:t>
            </a:r>
            <a:r>
              <a:rPr lang="ar-EG" sz="3200" dirty="0" err="1"/>
              <a:t>when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relationship</a:t>
            </a:r>
            <a:r>
              <a:rPr lang="ar-EG" sz="3200" dirty="0"/>
              <a:t> between </a:t>
            </a:r>
            <a:r>
              <a:rPr lang="ar-EG" sz="3200" dirty="0" err="1"/>
              <a:t>features</a:t>
            </a:r>
            <a:r>
              <a:rPr lang="ar-EG" sz="3200" dirty="0"/>
              <a:t> and </a:t>
            </a:r>
            <a:r>
              <a:rPr lang="ar-EG" sz="3200" dirty="0" err="1"/>
              <a:t>classes</a:t>
            </a:r>
            <a:r>
              <a:rPr lang="ar-EG" sz="3200" dirty="0"/>
              <a:t> is </a:t>
            </a:r>
            <a:r>
              <a:rPr lang="ar-EG" sz="3200" dirty="0" err="1"/>
              <a:t>highly</a:t>
            </a:r>
            <a:r>
              <a:rPr lang="ar-EG" sz="3200" dirty="0"/>
              <a:t> </a:t>
            </a:r>
            <a:r>
              <a:rPr lang="ar-EG" sz="3200" dirty="0" err="1"/>
              <a:t>nonlinear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Its</a:t>
            </a:r>
            <a:r>
              <a:rPr lang="ar-EG" sz="3200" dirty="0"/>
              <a:t> </a:t>
            </a:r>
            <a:r>
              <a:rPr lang="ar-EG" sz="3200" dirty="0" err="1"/>
              <a:t>performance</a:t>
            </a:r>
            <a:r>
              <a:rPr lang="ar-EG" sz="3200" dirty="0"/>
              <a:t> can be </a:t>
            </a:r>
            <a:r>
              <a:rPr lang="ar-EG" sz="3200" dirty="0" err="1"/>
              <a:t>affected</a:t>
            </a:r>
            <a:r>
              <a:rPr lang="ar-EG" sz="3200" dirty="0"/>
              <a:t> by </a:t>
            </a:r>
            <a:r>
              <a:rPr lang="ar-EG" sz="3200" dirty="0" err="1"/>
              <a:t>irrelevant</a:t>
            </a:r>
            <a:r>
              <a:rPr lang="ar-EG" sz="3200" dirty="0"/>
              <a:t> </a:t>
            </a:r>
            <a:r>
              <a:rPr lang="ar-EG" sz="3200" dirty="0" err="1"/>
              <a:t>features</a:t>
            </a:r>
            <a:r>
              <a:rPr lang="ar-EG" sz="3200" dirty="0"/>
              <a:t>, </a:t>
            </a:r>
            <a:r>
              <a:rPr lang="ar-EG" sz="3200" dirty="0" err="1"/>
              <a:t>multicollinearity</a:t>
            </a:r>
            <a:r>
              <a:rPr lang="ar-EG" sz="3200" dirty="0"/>
              <a:t>, and </a:t>
            </a:r>
            <a:r>
              <a:rPr lang="ar-EG" sz="3200" dirty="0" err="1"/>
              <a:t>outliers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Feature</a:t>
            </a:r>
            <a:r>
              <a:rPr lang="ar-EG" sz="3200" dirty="0"/>
              <a:t> </a:t>
            </a:r>
            <a:r>
              <a:rPr lang="ar-EG" sz="3200" dirty="0" err="1"/>
              <a:t>scaling</a:t>
            </a:r>
            <a:r>
              <a:rPr lang="ar-EG" sz="3200" dirty="0"/>
              <a:t> </a:t>
            </a:r>
            <a:r>
              <a:rPr lang="ar-EG" sz="3200" dirty="0" err="1"/>
              <a:t>may</a:t>
            </a:r>
            <a:r>
              <a:rPr lang="ar-EG" sz="3200" dirty="0"/>
              <a:t> be </a:t>
            </a:r>
            <a:r>
              <a:rPr lang="ar-EG" sz="3200" dirty="0" err="1"/>
              <a:t>beneficial</a:t>
            </a:r>
            <a:r>
              <a:rPr lang="ar-EG" sz="3200" dirty="0"/>
              <a:t>, </a:t>
            </a:r>
            <a:r>
              <a:rPr lang="ar-EG" sz="3200" dirty="0" err="1"/>
              <a:t>especially</a:t>
            </a:r>
            <a:r>
              <a:rPr lang="ar-EG" sz="3200" dirty="0"/>
              <a:t> </a:t>
            </a:r>
            <a:r>
              <a:rPr lang="ar-EG" sz="3200" dirty="0" err="1"/>
              <a:t>when</a:t>
            </a:r>
            <a:r>
              <a:rPr lang="ar-EG" sz="3200" dirty="0"/>
              <a:t> </a:t>
            </a:r>
            <a:r>
              <a:rPr lang="ar-EG" sz="3200" dirty="0" err="1"/>
              <a:t>regularization</a:t>
            </a:r>
            <a:r>
              <a:rPr lang="ar-EG" sz="3200" dirty="0"/>
              <a:t> is </a:t>
            </a:r>
            <a:r>
              <a:rPr lang="ar-EG" sz="3200" dirty="0" err="1"/>
              <a:t>used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probabilities</a:t>
            </a:r>
            <a:r>
              <a:rPr lang="ar-EG" sz="3200" dirty="0"/>
              <a:t> </a:t>
            </a:r>
            <a:r>
              <a:rPr lang="ar-EG" sz="3200" dirty="0" err="1"/>
              <a:t>may</a:t>
            </a:r>
            <a:r>
              <a:rPr lang="ar-EG" sz="3200" dirty="0"/>
              <a:t> </a:t>
            </a:r>
            <a:r>
              <a:rPr lang="ar-EG" sz="3200" dirty="0" err="1"/>
              <a:t>require</a:t>
            </a:r>
            <a:r>
              <a:rPr lang="ar-EG" sz="3200" dirty="0"/>
              <a:t> </a:t>
            </a:r>
            <a:r>
              <a:rPr lang="ar-EG" sz="3200" dirty="0" err="1"/>
              <a:t>calibration</a:t>
            </a:r>
            <a:r>
              <a:rPr lang="ar-EG" sz="3200" dirty="0"/>
              <a:t> </a:t>
            </a:r>
            <a:r>
              <a:rPr lang="ar-EG" sz="3200" dirty="0" err="1"/>
              <a:t>when</a:t>
            </a:r>
            <a:r>
              <a:rPr lang="ar-EG" sz="3200" dirty="0"/>
              <a:t> </a:t>
            </a:r>
            <a:r>
              <a:rPr lang="ar-EG" sz="3200" dirty="0" err="1"/>
              <a:t>accurate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</a:t>
            </a:r>
            <a:r>
              <a:rPr lang="ar-EG" sz="3200" dirty="0" err="1"/>
              <a:t>estimates</a:t>
            </a:r>
            <a:r>
              <a:rPr lang="ar-EG" sz="3200" dirty="0"/>
              <a:t> are </a:t>
            </a:r>
            <a:r>
              <a:rPr lang="ar-EG" sz="3200" dirty="0" err="1"/>
              <a:t>important</a:t>
            </a:r>
            <a:r>
              <a:rPr lang="ar-EG" sz="3200" dirty="0"/>
              <a:t>.</a:t>
            </a:r>
          </a:p>
          <a:p>
            <a:r>
              <a:rPr lang="ar-EG" sz="3200" b="1" dirty="0" err="1"/>
              <a:t>Typical</a:t>
            </a:r>
            <a:r>
              <a:rPr lang="ar-EG" sz="3200" b="1" dirty="0"/>
              <a:t> </a:t>
            </a:r>
            <a:r>
              <a:rPr lang="ar-EG" sz="3200" b="1" dirty="0" err="1"/>
              <a:t>Applications</a:t>
            </a:r>
            <a:r>
              <a:rPr lang="ar-EG" sz="3200" b="1" dirty="0"/>
              <a:t>: </a:t>
            </a:r>
            <a:r>
              <a:rPr lang="ar-EG" sz="3200" dirty="0" err="1"/>
              <a:t>Spam</a:t>
            </a:r>
            <a:r>
              <a:rPr lang="ar-EG" sz="3200" dirty="0"/>
              <a:t> </a:t>
            </a:r>
            <a:r>
              <a:rPr lang="ar-EG" sz="3200" dirty="0" err="1"/>
              <a:t>detection</a:t>
            </a:r>
            <a:r>
              <a:rPr lang="ar-EG" sz="3200" dirty="0"/>
              <a:t>, </a:t>
            </a:r>
            <a:r>
              <a:rPr lang="ar-EG" sz="3200" dirty="0" err="1"/>
              <a:t>customer</a:t>
            </a:r>
            <a:r>
              <a:rPr lang="ar-EG" sz="3200" dirty="0"/>
              <a:t> </a:t>
            </a:r>
            <a:r>
              <a:rPr lang="ar-EG" sz="3200" dirty="0" err="1"/>
              <a:t>churn</a:t>
            </a:r>
            <a:r>
              <a:rPr lang="ar-EG" sz="3200" dirty="0"/>
              <a:t> </a:t>
            </a:r>
            <a:r>
              <a:rPr lang="ar-EG" sz="3200" dirty="0" err="1"/>
              <a:t>prediction</a:t>
            </a:r>
            <a:r>
              <a:rPr lang="ar-EG" sz="3200" dirty="0"/>
              <a:t>, </a:t>
            </a: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medical</a:t>
            </a:r>
            <a:r>
              <a:rPr lang="ar-EG" sz="3200" dirty="0"/>
              <a:t> </a:t>
            </a:r>
            <a:r>
              <a:rPr lang="ar-EG" sz="3200" dirty="0" err="1"/>
              <a:t>screening</a:t>
            </a:r>
            <a:r>
              <a:rPr lang="ar-EG" sz="3200" dirty="0"/>
              <a:t>, and </a:t>
            </a:r>
            <a:r>
              <a:rPr lang="ar-EG" sz="3200" dirty="0" err="1"/>
              <a:t>credit</a:t>
            </a:r>
            <a:r>
              <a:rPr lang="ar-EG" sz="3200" dirty="0"/>
              <a:t> </a:t>
            </a:r>
            <a:r>
              <a:rPr lang="ar-EG" sz="3200" dirty="0" err="1"/>
              <a:t>default</a:t>
            </a:r>
            <a:r>
              <a:rPr lang="ar-EG" sz="3200" dirty="0"/>
              <a:t> </a:t>
            </a:r>
            <a:r>
              <a:rPr lang="ar-EG" sz="3200" dirty="0" err="1"/>
              <a:t>prediction</a:t>
            </a:r>
            <a:r>
              <a:rPr lang="ar-EG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2122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AEC67-70A3-D195-84BA-4343F713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B56047-78C1-D3BF-80FE-16CE1697A9B1}"/>
              </a:ext>
            </a:extLst>
          </p:cNvPr>
          <p:cNvSpPr/>
          <p:nvPr/>
        </p:nvSpPr>
        <p:spPr>
          <a:xfrm rot="-2700000">
            <a:off x="-1615753" y="8681964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252DEA5-E76E-3747-8D87-6DA13D4389A3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289D13-F2E8-7885-F379-17823CF92971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BA893F0-53F2-CF59-2C11-66152F91024A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D516C67-DE6A-368A-1AD7-06FE9B5E83F4}"/>
              </a:ext>
            </a:extLst>
          </p:cNvPr>
          <p:cNvSpPr/>
          <p:nvPr/>
        </p:nvSpPr>
        <p:spPr>
          <a:xfrm>
            <a:off x="15423946" y="8376379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493007F-CD4C-CE10-8B46-8B970CB5B48D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8362BEA-3956-9BA1-1C39-02EFE2BC004C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CCB357C-244F-BAEC-83A8-3D24FB033D3A}"/>
              </a:ext>
            </a:extLst>
          </p:cNvPr>
          <p:cNvSpPr/>
          <p:nvPr/>
        </p:nvSpPr>
        <p:spPr>
          <a:xfrm>
            <a:off x="16154400" y="8536811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E15CC73-A843-AA86-B8ED-895732B7FC8A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0527595-7364-F69B-B59D-F6DC28849829}"/>
              </a:ext>
            </a:extLst>
          </p:cNvPr>
          <p:cNvSpPr txBox="1"/>
          <p:nvPr/>
        </p:nvSpPr>
        <p:spPr>
          <a:xfrm>
            <a:off x="3689292" y="210741"/>
            <a:ext cx="1090941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ar-EG" sz="6000" dirty="0" err="1"/>
              <a:t>Linear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r>
              <a:rPr lang="ar-EG" sz="6000" dirty="0"/>
              <a:t> </a:t>
            </a:r>
            <a:r>
              <a:rPr lang="ar-EG" sz="6000" dirty="0" err="1"/>
              <a:t>vs</a:t>
            </a:r>
            <a:r>
              <a:rPr lang="ar-EG" sz="6000" dirty="0"/>
              <a:t>. </a:t>
            </a:r>
            <a:r>
              <a:rPr lang="ar-EG" sz="6000" dirty="0" err="1"/>
              <a:t>Logistic</a:t>
            </a:r>
            <a:r>
              <a:rPr lang="ar-EG" sz="6000" dirty="0"/>
              <a:t> </a:t>
            </a:r>
            <a:r>
              <a:rPr lang="ar-EG" sz="6000" dirty="0" err="1"/>
              <a:t>Regression</a:t>
            </a:r>
            <a:endParaRPr lang="en-US" sz="6000" dirty="0">
              <a:solidFill>
                <a:srgbClr val="2C2C2C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9749DC4-3458-780A-5529-F663A4C03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003513"/>
              </p:ext>
            </p:extLst>
          </p:nvPr>
        </p:nvGraphicFramePr>
        <p:xfrm>
          <a:off x="1000624" y="2488767"/>
          <a:ext cx="16611600" cy="5601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7200">
                  <a:extLst>
                    <a:ext uri="{9D8B030D-6E8A-4147-A177-3AD203B41FA5}">
                      <a16:colId xmlns:a16="http://schemas.microsoft.com/office/drawing/2014/main" val="528972411"/>
                    </a:ext>
                  </a:extLst>
                </a:gridCol>
                <a:gridCol w="5537200">
                  <a:extLst>
                    <a:ext uri="{9D8B030D-6E8A-4147-A177-3AD203B41FA5}">
                      <a16:colId xmlns:a16="http://schemas.microsoft.com/office/drawing/2014/main" val="1355101113"/>
                    </a:ext>
                  </a:extLst>
                </a:gridCol>
                <a:gridCol w="5537200">
                  <a:extLst>
                    <a:ext uri="{9D8B030D-6E8A-4147-A177-3AD203B41FA5}">
                      <a16:colId xmlns:a16="http://schemas.microsoft.com/office/drawing/2014/main" val="1478471939"/>
                    </a:ext>
                  </a:extLst>
                </a:gridCol>
              </a:tblGrid>
              <a:tr h="468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Logistic 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52598"/>
                  </a:ext>
                </a:extLst>
              </a:tr>
              <a:tr h="468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Primary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51485"/>
                  </a:ext>
                </a:extLst>
              </a:tr>
              <a:tr h="819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 dirty="0" err="1"/>
                        <a:t>Continuous</a:t>
                      </a:r>
                      <a:r>
                        <a:rPr lang="ar-EG" sz="3200" dirty="0"/>
                        <a:t> </a:t>
                      </a:r>
                      <a:r>
                        <a:rPr lang="ar-EG" sz="3200" dirty="0" err="1"/>
                        <a:t>numerical</a:t>
                      </a:r>
                      <a:r>
                        <a:rPr lang="ar-EG" sz="3200" dirty="0"/>
                        <a:t> </a:t>
                      </a:r>
                      <a:r>
                        <a:rPr lang="ar-EG" sz="3200" dirty="0" err="1"/>
                        <a:t>value</a:t>
                      </a:r>
                      <a:endParaRPr lang="ar-EG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Categorical class label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860678"/>
                  </a:ext>
                </a:extLst>
              </a:tr>
              <a:tr h="468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Model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Numerical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 dirty="0" err="1"/>
                        <a:t>Estimated</a:t>
                      </a:r>
                      <a:r>
                        <a:rPr lang="ar-EG" sz="3200" dirty="0"/>
                        <a:t> </a:t>
                      </a:r>
                      <a:r>
                        <a:rPr lang="ar-EG" sz="3200" dirty="0" err="1"/>
                        <a:t>class</a:t>
                      </a:r>
                      <a:r>
                        <a:rPr lang="ar-EG" sz="3200" dirty="0"/>
                        <a:t> </a:t>
                      </a:r>
                      <a:r>
                        <a:rPr lang="ar-EG" sz="3200" dirty="0" err="1"/>
                        <a:t>probability</a:t>
                      </a:r>
                      <a:endParaRPr lang="ar-EG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1773"/>
                  </a:ext>
                </a:extLst>
              </a:tr>
              <a:tr h="819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Core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Linear equation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Linear score followed by sigmoid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138415"/>
                  </a:ext>
                </a:extLst>
              </a:tr>
              <a:tr h="468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Common training 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Mean Squared Error / 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Binary Cross-Entropy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698197"/>
                  </a:ext>
                </a:extLst>
              </a:tr>
              <a:tr h="468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Predicting exam 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Predicting Pass or 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5000899"/>
                  </a:ext>
                </a:extLst>
              </a:tr>
              <a:tr h="819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/>
                        <a:t>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 dirty="0"/>
                        <a:t>MAE, MSE, RMSE, </a:t>
                      </a:r>
                      <a:r>
                        <a:rPr lang="en-US" sz="3200" dirty="0"/>
                        <a:t>R2</a:t>
                      </a:r>
                      <a:endParaRPr lang="ar-EG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3200" dirty="0" err="1"/>
                        <a:t>Accuracy</a:t>
                      </a:r>
                      <a:r>
                        <a:rPr lang="ar-EG" sz="3200" dirty="0"/>
                        <a:t>, </a:t>
                      </a:r>
                      <a:r>
                        <a:rPr lang="ar-EG" sz="3200" dirty="0" err="1"/>
                        <a:t>Precision</a:t>
                      </a:r>
                      <a:r>
                        <a:rPr lang="ar-EG" sz="3200" dirty="0"/>
                        <a:t>, </a:t>
                      </a:r>
                      <a:r>
                        <a:rPr lang="ar-EG" sz="3200" dirty="0" err="1"/>
                        <a:t>Recall</a:t>
                      </a:r>
                      <a:r>
                        <a:rPr lang="ar-EG" sz="3200" dirty="0"/>
                        <a:t>, F1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48016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AA9710E-9C4D-D4E2-5E86-6CCA288F498E}"/>
              </a:ext>
            </a:extLst>
          </p:cNvPr>
          <p:cNvSpPr txBox="1"/>
          <p:nvPr/>
        </p:nvSpPr>
        <p:spPr>
          <a:xfrm>
            <a:off x="1000624" y="8239362"/>
            <a:ext cx="166115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r-EG" sz="3200" b="1" dirty="0" err="1"/>
              <a:t>The</a:t>
            </a:r>
            <a:r>
              <a:rPr lang="ar-EG" sz="3200" b="1" dirty="0"/>
              <a:t> </a:t>
            </a:r>
            <a:r>
              <a:rPr lang="ar-EG" sz="3200" b="1" dirty="0" err="1"/>
              <a:t>Main</a:t>
            </a:r>
            <a:r>
              <a:rPr lang="ar-EG" sz="3200" b="1" dirty="0"/>
              <a:t> </a:t>
            </a:r>
            <a:r>
              <a:rPr lang="ar-EG" sz="3200" b="1" dirty="0" err="1"/>
              <a:t>Difference</a:t>
            </a:r>
            <a:endParaRPr lang="ar-EG" sz="3200" b="1" dirty="0"/>
          </a:p>
          <a:p>
            <a:pPr>
              <a:buNone/>
            </a:pP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estimates</a:t>
            </a:r>
            <a:r>
              <a:rPr lang="ar-EG" sz="3200" dirty="0"/>
              <a:t> a </a:t>
            </a:r>
            <a:r>
              <a:rPr lang="ar-EG" sz="3200" dirty="0" err="1"/>
              <a:t>numerical</a:t>
            </a:r>
            <a:r>
              <a:rPr lang="ar-EG" sz="3200" dirty="0"/>
              <a:t> </a:t>
            </a:r>
            <a:r>
              <a:rPr lang="ar-EG" sz="3200" dirty="0" err="1"/>
              <a:t>value</a:t>
            </a:r>
            <a:r>
              <a:rPr lang="ar-EG" sz="3200" dirty="0"/>
              <a:t>, </a:t>
            </a:r>
            <a:r>
              <a:rPr lang="ar-EG" sz="3200" dirty="0" err="1"/>
              <a:t>whereas</a:t>
            </a:r>
            <a:r>
              <a:rPr lang="ar-EG" sz="3200" dirty="0"/>
              <a:t> </a:t>
            </a: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estimates</a:t>
            </a:r>
            <a:r>
              <a:rPr lang="ar-EG" sz="3200" dirty="0"/>
              <a:t> a </a:t>
            </a:r>
            <a:r>
              <a:rPr lang="ar-EG" sz="3200" dirty="0" err="1"/>
              <a:t>probability</a:t>
            </a:r>
            <a:r>
              <a:rPr lang="ar-EG" sz="3200" dirty="0"/>
              <a:t> that can be </a:t>
            </a:r>
            <a:r>
              <a:rPr lang="ar-EG" sz="3200" dirty="0" err="1"/>
              <a:t>used</a:t>
            </a:r>
            <a:r>
              <a:rPr lang="ar-EG" sz="3200" dirty="0"/>
              <a:t> to </a:t>
            </a:r>
            <a:r>
              <a:rPr lang="ar-EG" sz="3200" dirty="0" err="1"/>
              <a:t>assign</a:t>
            </a:r>
            <a:r>
              <a:rPr lang="ar-EG" sz="3200" dirty="0"/>
              <a:t> a </a:t>
            </a:r>
            <a:r>
              <a:rPr lang="ar-EG" sz="3200" dirty="0" err="1"/>
              <a:t>class</a:t>
            </a:r>
            <a:r>
              <a:rPr lang="ar-EG" sz="3200" dirty="0"/>
              <a:t> </a:t>
            </a:r>
            <a:r>
              <a:rPr lang="ar-EG" sz="3200" dirty="0" err="1"/>
              <a:t>label</a:t>
            </a:r>
            <a:r>
              <a:rPr lang="ar-EG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7371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F1D68-B5C4-1283-3B8F-C76CF41A0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4BEE38E-4B0E-7DF6-36BB-200EDA859321}"/>
              </a:ext>
            </a:extLst>
          </p:cNvPr>
          <p:cNvSpPr/>
          <p:nvPr/>
        </p:nvSpPr>
        <p:spPr>
          <a:xfrm rot="-2700000">
            <a:off x="-1615753" y="8681964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C4273C1-DC92-9935-2187-FC2FE398075E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A822FD4-C8BD-3E21-8DCC-F45DAD38A07B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E485964-D09E-3795-90B0-2A9E35AB5A24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90D2885-B874-BC86-4E38-B8270F56BE0C}"/>
              </a:ext>
            </a:extLst>
          </p:cNvPr>
          <p:cNvSpPr/>
          <p:nvPr/>
        </p:nvSpPr>
        <p:spPr>
          <a:xfrm>
            <a:off x="15423946" y="8376379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AB896A0-1A64-1BEA-F84A-8927A4FEC9D1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72B017F-9A38-CF6F-0D92-36B3628B9290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1DE4E16-233B-31BD-3138-D1F497FB1F5B}"/>
              </a:ext>
            </a:extLst>
          </p:cNvPr>
          <p:cNvSpPr/>
          <p:nvPr/>
        </p:nvSpPr>
        <p:spPr>
          <a:xfrm>
            <a:off x="16154400" y="8536811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6610805-32DA-26EF-975E-93FBD13BEBB3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1B3561D-1695-8590-BF66-244607E750BA}"/>
              </a:ext>
            </a:extLst>
          </p:cNvPr>
          <p:cNvSpPr txBox="1"/>
          <p:nvPr/>
        </p:nvSpPr>
        <p:spPr>
          <a:xfrm>
            <a:off x="3689292" y="210741"/>
            <a:ext cx="1090941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ar-EG" sz="6000" dirty="0" err="1"/>
              <a:t>Important</a:t>
            </a:r>
            <a:r>
              <a:rPr lang="ar-EG" sz="6000" dirty="0"/>
              <a:t> </a:t>
            </a:r>
            <a:r>
              <a:rPr lang="ar-EG" sz="6000" dirty="0" err="1"/>
              <a:t>Points</a:t>
            </a:r>
            <a:r>
              <a:rPr lang="ar-EG" sz="6000" dirty="0"/>
              <a:t> to </a:t>
            </a:r>
            <a:r>
              <a:rPr lang="ar-EG" sz="6000" dirty="0" err="1"/>
              <a:t>Remember</a:t>
            </a:r>
            <a:endParaRPr lang="ar-EG" sz="6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CB8DDC-F94B-7C73-76A8-ABE84BD90FD8}"/>
              </a:ext>
            </a:extLst>
          </p:cNvPr>
          <p:cNvSpPr txBox="1"/>
          <p:nvPr/>
        </p:nvSpPr>
        <p:spPr>
          <a:xfrm>
            <a:off x="784219" y="2454952"/>
            <a:ext cx="16475081" cy="60016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and </a:t>
            </a: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are </a:t>
            </a:r>
            <a:r>
              <a:rPr lang="ar-EG" sz="3200" dirty="0" err="1"/>
              <a:t>not</a:t>
            </a:r>
            <a:r>
              <a:rPr lang="ar-EG" sz="3200" dirty="0"/>
              <a:t> </a:t>
            </a:r>
            <a:r>
              <a:rPr lang="ar-EG" sz="3200" dirty="0" err="1"/>
              <a:t>interchangeable</a:t>
            </a:r>
            <a:r>
              <a:rPr lang="ar-EG" sz="3200" dirty="0"/>
              <a:t>; </a:t>
            </a:r>
            <a:r>
              <a:rPr lang="ar-EG" sz="3200" dirty="0" err="1"/>
              <a:t>they</a:t>
            </a:r>
            <a:r>
              <a:rPr lang="ar-EG" sz="3200" dirty="0"/>
              <a:t> </a:t>
            </a:r>
            <a:r>
              <a:rPr lang="ar-EG" sz="3200" dirty="0" err="1"/>
              <a:t>address</a:t>
            </a:r>
            <a:r>
              <a:rPr lang="ar-EG" sz="3200" dirty="0"/>
              <a:t> </a:t>
            </a:r>
            <a:r>
              <a:rPr lang="ar-EG" sz="3200" dirty="0" err="1"/>
              <a:t>different</a:t>
            </a:r>
            <a:r>
              <a:rPr lang="ar-EG" sz="3200" dirty="0"/>
              <a:t> </a:t>
            </a:r>
            <a:r>
              <a:rPr lang="ar-EG" sz="3200" dirty="0" err="1"/>
              <a:t>prediction</a:t>
            </a:r>
            <a:r>
              <a:rPr lang="ar-EG" sz="3200" dirty="0"/>
              <a:t> </a:t>
            </a:r>
            <a:r>
              <a:rPr lang="ar-EG" sz="3200" dirty="0" err="1"/>
              <a:t>objectives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is </a:t>
            </a:r>
            <a:r>
              <a:rPr lang="ar-EG" sz="3200" dirty="0" err="1"/>
              <a:t>commonly</a:t>
            </a:r>
            <a:r>
              <a:rPr lang="ar-EG" sz="3200" dirty="0"/>
              <a:t> </a:t>
            </a:r>
            <a:r>
              <a:rPr lang="ar-EG" sz="3200" dirty="0" err="1"/>
              <a:t>used</a:t>
            </a:r>
            <a:r>
              <a:rPr lang="ar-EG" sz="3200" dirty="0"/>
              <a:t> for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despite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word</a:t>
            </a:r>
            <a:r>
              <a:rPr lang="ar-EG" sz="3200" dirty="0"/>
              <a:t> “</a:t>
            </a:r>
            <a:r>
              <a:rPr lang="ar-EG" sz="3200" dirty="0" err="1"/>
              <a:t>regression</a:t>
            </a:r>
            <a:r>
              <a:rPr lang="ar-EG" sz="3200" dirty="0"/>
              <a:t>” </a:t>
            </a: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ar-EG" sz="3200" dirty="0" err="1"/>
              <a:t>its</a:t>
            </a:r>
            <a:r>
              <a:rPr lang="ar-EG" sz="3200" dirty="0"/>
              <a:t> name.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predicted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of 0.8 </a:t>
            </a:r>
            <a:r>
              <a:rPr lang="ar-EG" sz="3200" dirty="0" err="1"/>
              <a:t>does</a:t>
            </a:r>
            <a:r>
              <a:rPr lang="ar-EG" sz="3200" dirty="0"/>
              <a:t> </a:t>
            </a:r>
            <a:r>
              <a:rPr lang="ar-EG" sz="3200" dirty="0" err="1"/>
              <a:t>not</a:t>
            </a:r>
            <a:r>
              <a:rPr lang="ar-EG" sz="3200" dirty="0"/>
              <a:t> </a:t>
            </a:r>
            <a:r>
              <a:rPr lang="ar-EG" sz="3200" dirty="0" err="1"/>
              <a:t>guarantee</a:t>
            </a:r>
            <a:r>
              <a:rPr lang="ar-EG" sz="3200" dirty="0"/>
              <a:t> that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positive</a:t>
            </a:r>
            <a:r>
              <a:rPr lang="ar-EG" sz="3200" dirty="0"/>
              <a:t> </a:t>
            </a:r>
            <a:r>
              <a:rPr lang="ar-EG" sz="3200" dirty="0" err="1"/>
              <a:t>outcome</a:t>
            </a:r>
            <a:r>
              <a:rPr lang="ar-EG" sz="3200" dirty="0"/>
              <a:t> </a:t>
            </a:r>
            <a:r>
              <a:rPr lang="ar-EG" sz="3200" dirty="0" err="1"/>
              <a:t>will</a:t>
            </a:r>
            <a:r>
              <a:rPr lang="ar-EG" sz="3200" dirty="0"/>
              <a:t> </a:t>
            </a:r>
            <a:r>
              <a:rPr lang="ar-EG" sz="3200" dirty="0" err="1"/>
              <a:t>occur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/>
              <a:t>A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classifier</a:t>
            </a:r>
            <a:r>
              <a:rPr lang="ar-EG" sz="3200" dirty="0"/>
              <a:t> </a:t>
            </a:r>
            <a:r>
              <a:rPr lang="ar-EG" sz="3200" dirty="0" err="1"/>
              <a:t>does</a:t>
            </a:r>
            <a:r>
              <a:rPr lang="ar-EG" sz="3200" dirty="0"/>
              <a:t> </a:t>
            </a:r>
            <a:r>
              <a:rPr lang="ar-EG" sz="3200" dirty="0" err="1"/>
              <a:t>not</a:t>
            </a:r>
            <a:r>
              <a:rPr lang="ar-EG" sz="3200" dirty="0"/>
              <a:t> </a:t>
            </a:r>
            <a:r>
              <a:rPr lang="ar-EG" sz="3200" dirty="0" err="1"/>
              <a:t>necessarily</a:t>
            </a:r>
            <a:r>
              <a:rPr lang="ar-EG" sz="3200" dirty="0"/>
              <a:t> </a:t>
            </a:r>
            <a:r>
              <a:rPr lang="ar-EG" sz="3200" dirty="0" err="1"/>
              <a:t>refer</a:t>
            </a:r>
            <a:r>
              <a:rPr lang="ar-EG" sz="3200" dirty="0"/>
              <a:t> to </a:t>
            </a: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; other </a:t>
            </a:r>
            <a:r>
              <a:rPr lang="ar-EG" sz="3200" dirty="0" err="1"/>
              <a:t>algorithms</a:t>
            </a:r>
            <a:r>
              <a:rPr lang="ar-EG" sz="3200" dirty="0"/>
              <a:t> can </a:t>
            </a:r>
            <a:r>
              <a:rPr lang="ar-EG" sz="3200" dirty="0" err="1"/>
              <a:t>also</a:t>
            </a:r>
            <a:r>
              <a:rPr lang="ar-EG" sz="3200" dirty="0"/>
              <a:t> </a:t>
            </a:r>
            <a:r>
              <a:rPr lang="ar-EG" sz="3200" dirty="0" err="1"/>
              <a:t>produce</a:t>
            </a:r>
            <a:r>
              <a:rPr lang="ar-EG" sz="3200" dirty="0"/>
              <a:t>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boundaries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threshold</a:t>
            </a:r>
            <a:r>
              <a:rPr lang="ar-EG" sz="3200" dirty="0"/>
              <a:t> is a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setting</a:t>
            </a:r>
            <a:r>
              <a:rPr lang="ar-EG" sz="3200" dirty="0"/>
              <a:t> and </a:t>
            </a:r>
            <a:r>
              <a:rPr lang="ar-EG" sz="3200" dirty="0" err="1"/>
              <a:t>does</a:t>
            </a:r>
            <a:r>
              <a:rPr lang="ar-EG" sz="3200" dirty="0"/>
              <a:t> </a:t>
            </a:r>
            <a:r>
              <a:rPr lang="ar-EG" sz="3200" dirty="0" err="1"/>
              <a:t>not</a:t>
            </a:r>
            <a:r>
              <a:rPr lang="ar-EG" sz="3200" dirty="0"/>
              <a:t> </a:t>
            </a:r>
            <a:r>
              <a:rPr lang="ar-EG" sz="3200" dirty="0" err="1"/>
              <a:t>change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</a:t>
            </a:r>
            <a:r>
              <a:rPr lang="ar-EG" sz="3200" dirty="0" err="1"/>
              <a:t>produced</a:t>
            </a:r>
            <a:r>
              <a:rPr lang="ar-EG" sz="3200" dirty="0"/>
              <a:t> by a </a:t>
            </a:r>
            <a:r>
              <a:rPr lang="ar-EG" sz="3200" dirty="0" err="1"/>
              <a:t>fixed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High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 </a:t>
            </a:r>
            <a:r>
              <a:rPr lang="ar-EG" sz="3200" dirty="0" err="1"/>
              <a:t>performance</a:t>
            </a:r>
            <a:r>
              <a:rPr lang="ar-EG" sz="3200" dirty="0"/>
              <a:t> </a:t>
            </a:r>
            <a:r>
              <a:rPr lang="ar-EG" sz="3200" dirty="0" err="1"/>
              <a:t>does</a:t>
            </a:r>
            <a:r>
              <a:rPr lang="ar-EG" sz="3200" dirty="0"/>
              <a:t> </a:t>
            </a:r>
            <a:r>
              <a:rPr lang="ar-EG" sz="3200" dirty="0" err="1"/>
              <a:t>not</a:t>
            </a:r>
            <a:r>
              <a:rPr lang="ar-EG" sz="3200" dirty="0"/>
              <a:t> </a:t>
            </a:r>
            <a:r>
              <a:rPr lang="ar-EG" sz="3200" dirty="0" err="1"/>
              <a:t>guarantee</a:t>
            </a:r>
            <a:r>
              <a:rPr lang="ar-EG" sz="3200" dirty="0"/>
              <a:t> </a:t>
            </a:r>
            <a:r>
              <a:rPr lang="ar-EG" sz="3200" dirty="0" err="1"/>
              <a:t>good</a:t>
            </a:r>
            <a:r>
              <a:rPr lang="ar-EG" sz="3200" dirty="0"/>
              <a:t> </a:t>
            </a:r>
            <a:r>
              <a:rPr lang="ar-EG" sz="3200" dirty="0" err="1"/>
              <a:t>performance</a:t>
            </a:r>
            <a:r>
              <a:rPr lang="ar-EG" sz="3200" dirty="0"/>
              <a:t> on </a:t>
            </a:r>
            <a:r>
              <a:rPr lang="ar-EG" sz="3200" dirty="0" err="1"/>
              <a:t>unseen</a:t>
            </a:r>
            <a:r>
              <a:rPr lang="ar-EG" sz="3200" dirty="0"/>
              <a:t> data.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Models</a:t>
            </a:r>
            <a:r>
              <a:rPr lang="ar-EG" sz="3200" dirty="0"/>
              <a:t> </a:t>
            </a:r>
            <a:r>
              <a:rPr lang="ar-EG" sz="3200" dirty="0" err="1"/>
              <a:t>should</a:t>
            </a:r>
            <a:r>
              <a:rPr lang="ar-EG" sz="3200" dirty="0"/>
              <a:t> be </a:t>
            </a:r>
            <a:r>
              <a:rPr lang="ar-EG" sz="3200" dirty="0" err="1"/>
              <a:t>evaluated</a:t>
            </a:r>
            <a:r>
              <a:rPr lang="ar-EG" sz="3200" dirty="0"/>
              <a:t> on data that </a:t>
            </a:r>
            <a:r>
              <a:rPr lang="ar-EG" sz="3200" dirty="0" err="1"/>
              <a:t>was</a:t>
            </a:r>
            <a:r>
              <a:rPr lang="ar-EG" sz="3200" dirty="0"/>
              <a:t> </a:t>
            </a:r>
            <a:r>
              <a:rPr lang="ar-EG" sz="3200" dirty="0" err="1"/>
              <a:t>not</a:t>
            </a:r>
            <a:r>
              <a:rPr lang="ar-EG" sz="3200" dirty="0"/>
              <a:t> </a:t>
            </a:r>
            <a:r>
              <a:rPr lang="ar-EG" sz="3200" dirty="0" err="1"/>
              <a:t>used</a:t>
            </a:r>
            <a:r>
              <a:rPr lang="ar-EG" sz="3200" dirty="0"/>
              <a:t> for </a:t>
            </a:r>
            <a:r>
              <a:rPr lang="ar-EG" sz="3200" dirty="0" err="1"/>
              <a:t>training</a:t>
            </a:r>
            <a:r>
              <a:rPr lang="ar-EG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17249771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79F77-E42C-527C-AB0F-54F68F52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E93FCB-B239-E90A-C748-7EE6917302C4}"/>
              </a:ext>
            </a:extLst>
          </p:cNvPr>
          <p:cNvSpPr/>
          <p:nvPr/>
        </p:nvSpPr>
        <p:spPr>
          <a:xfrm rot="-2700000">
            <a:off x="-1615753" y="8681964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152E941-61A9-4633-EC46-FB117B10AC61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9B904D9-99B2-1C9B-E914-C1A27BD3FBEA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C95B416-9551-F2CB-FCEF-6AF8701E8687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08E42B3-C54B-168C-119F-16A658CFB79B}"/>
              </a:ext>
            </a:extLst>
          </p:cNvPr>
          <p:cNvSpPr/>
          <p:nvPr/>
        </p:nvSpPr>
        <p:spPr>
          <a:xfrm>
            <a:off x="15423946" y="8376379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FE1803F-F5BA-8015-660B-D71722FBAFA0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97C3E22-14DE-D1CF-CFAA-CF7B279D34C4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B2048F8-5BE4-4FEA-1C02-284B905C15D6}"/>
              </a:ext>
            </a:extLst>
          </p:cNvPr>
          <p:cNvSpPr/>
          <p:nvPr/>
        </p:nvSpPr>
        <p:spPr>
          <a:xfrm>
            <a:off x="16154400" y="8536811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B4A10C1-5F91-C25A-6798-CF2FE52CAF89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3715F81-5758-7936-5262-6D6BE41918AA}"/>
              </a:ext>
            </a:extLst>
          </p:cNvPr>
          <p:cNvSpPr txBox="1"/>
          <p:nvPr/>
        </p:nvSpPr>
        <p:spPr>
          <a:xfrm>
            <a:off x="3689292" y="210741"/>
            <a:ext cx="1090941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dirty="0"/>
              <a:t>Summary</a:t>
            </a:r>
            <a:endParaRPr lang="ar-EG" sz="6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FE7426-0259-2FEF-1CFE-B9121A7FA96E}"/>
              </a:ext>
            </a:extLst>
          </p:cNvPr>
          <p:cNvSpPr txBox="1"/>
          <p:nvPr/>
        </p:nvSpPr>
        <p:spPr>
          <a:xfrm>
            <a:off x="784219" y="2454952"/>
            <a:ext cx="16475081" cy="60016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predicts</a:t>
            </a:r>
            <a:r>
              <a:rPr lang="ar-EG" sz="3200" dirty="0"/>
              <a:t> </a:t>
            </a:r>
            <a:r>
              <a:rPr lang="ar-EG" sz="3200" dirty="0" err="1"/>
              <a:t>continuous</a:t>
            </a:r>
            <a:r>
              <a:rPr lang="ar-EG" sz="3200" dirty="0"/>
              <a:t> </a:t>
            </a:r>
            <a:r>
              <a:rPr lang="ar-EG" sz="3200" dirty="0" err="1"/>
              <a:t>numerical</a:t>
            </a:r>
            <a:r>
              <a:rPr lang="ar-EG" sz="3200" dirty="0"/>
              <a:t> </a:t>
            </a:r>
            <a:r>
              <a:rPr lang="ar-EG" sz="3200" dirty="0" err="1"/>
              <a:t>values</a:t>
            </a:r>
            <a:r>
              <a:rPr lang="ar-EG" sz="3200" dirty="0"/>
              <a:t> by learning a </a:t>
            </a:r>
            <a:r>
              <a:rPr lang="ar-EG" sz="3200" dirty="0" err="1"/>
              <a:t>relationship</a:t>
            </a:r>
            <a:r>
              <a:rPr lang="ar-EG" sz="3200" dirty="0"/>
              <a:t> between </a:t>
            </a:r>
            <a:r>
              <a:rPr lang="ar-EG" sz="3200" dirty="0" err="1"/>
              <a:t>input</a:t>
            </a:r>
            <a:r>
              <a:rPr lang="ar-EG" sz="3200" dirty="0"/>
              <a:t> </a:t>
            </a:r>
            <a:r>
              <a:rPr lang="ar-EG" sz="3200" dirty="0" err="1"/>
              <a:t>features</a:t>
            </a:r>
            <a:r>
              <a:rPr lang="ar-EG" sz="3200" dirty="0"/>
              <a:t> and a </a:t>
            </a:r>
            <a:r>
              <a:rPr lang="ar-EG" sz="3200" dirty="0" err="1"/>
              <a:t>numerical</a:t>
            </a:r>
            <a:r>
              <a:rPr lang="ar-EG" sz="3200" dirty="0"/>
              <a:t> </a:t>
            </a:r>
            <a:r>
              <a:rPr lang="ar-EG" sz="3200" dirty="0" err="1"/>
              <a:t>target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separates</a:t>
            </a:r>
            <a:r>
              <a:rPr lang="ar-EG" sz="3200" dirty="0"/>
              <a:t> </a:t>
            </a:r>
            <a:r>
              <a:rPr lang="ar-EG" sz="3200" dirty="0" err="1"/>
              <a:t>observations</a:t>
            </a:r>
            <a:r>
              <a:rPr lang="ar-EG" sz="3200" dirty="0"/>
              <a:t> </a:t>
            </a:r>
            <a:r>
              <a:rPr lang="ar-EG" sz="3200" dirty="0" err="1"/>
              <a:t>into</a:t>
            </a:r>
            <a:r>
              <a:rPr lang="ar-EG" sz="3200" dirty="0"/>
              <a:t> </a:t>
            </a:r>
            <a:r>
              <a:rPr lang="ar-EG" sz="3200" dirty="0" err="1"/>
              <a:t>two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 </a:t>
            </a:r>
            <a:r>
              <a:rPr lang="ar-EG" sz="3200" dirty="0" err="1"/>
              <a:t>using</a:t>
            </a:r>
            <a:r>
              <a:rPr lang="ar-EG" sz="3200" dirty="0"/>
              <a:t> a </a:t>
            </a:r>
            <a:r>
              <a:rPr lang="ar-EG" sz="3200" dirty="0" err="1"/>
              <a:t>classification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rule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</a:t>
            </a:r>
            <a:r>
              <a:rPr lang="ar-EG" sz="3200" dirty="0" err="1"/>
              <a:t>transforms</a:t>
            </a:r>
            <a:r>
              <a:rPr lang="ar-EG" sz="3200" dirty="0"/>
              <a:t> a </a:t>
            </a:r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score</a:t>
            </a:r>
            <a:r>
              <a:rPr lang="ar-EG" sz="3200" dirty="0"/>
              <a:t> </a:t>
            </a:r>
            <a:r>
              <a:rPr lang="ar-EG" sz="3200" dirty="0" err="1"/>
              <a:t>into</a:t>
            </a:r>
            <a:r>
              <a:rPr lang="ar-EG" sz="3200" dirty="0"/>
              <a:t> a </a:t>
            </a:r>
            <a:r>
              <a:rPr lang="ar-EG" sz="3200" dirty="0" err="1"/>
              <a:t>probability</a:t>
            </a:r>
            <a:r>
              <a:rPr lang="ar-EG" sz="3200" dirty="0"/>
              <a:t> </a:t>
            </a:r>
            <a:r>
              <a:rPr lang="ar-EG" sz="3200" dirty="0" err="1"/>
              <a:t>using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sigmoid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Boundary</a:t>
            </a:r>
            <a:r>
              <a:rPr lang="ar-EG" sz="3200" dirty="0"/>
              <a:t> </a:t>
            </a:r>
            <a:r>
              <a:rPr lang="ar-EG" sz="3200" dirty="0" err="1"/>
              <a:t>separates</a:t>
            </a:r>
            <a:r>
              <a:rPr lang="ar-EG" sz="3200" dirty="0"/>
              <a:t> </a:t>
            </a:r>
            <a:r>
              <a:rPr lang="ar-EG" sz="3200" dirty="0" err="1"/>
              <a:t>regions</a:t>
            </a:r>
            <a:r>
              <a:rPr lang="ar-EG" sz="3200" dirty="0"/>
              <a:t> </a:t>
            </a:r>
            <a:r>
              <a:rPr lang="ar-EG" sz="3200" dirty="0" err="1"/>
              <a:t>assigned</a:t>
            </a:r>
            <a:r>
              <a:rPr lang="ar-EG" sz="3200" dirty="0"/>
              <a:t> to </a:t>
            </a:r>
            <a:r>
              <a:rPr lang="ar-EG" sz="3200" dirty="0" err="1"/>
              <a:t>different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Loss</a:t>
            </a:r>
            <a:r>
              <a:rPr lang="ar-EG" sz="3200" dirty="0"/>
              <a:t> </a:t>
            </a:r>
            <a:r>
              <a:rPr lang="ar-EG" sz="3200" dirty="0" err="1"/>
              <a:t>Function</a:t>
            </a:r>
            <a:r>
              <a:rPr lang="ar-EG" sz="3200" dirty="0"/>
              <a:t> </a:t>
            </a:r>
            <a:r>
              <a:rPr lang="ar-EG" sz="3200" dirty="0" err="1"/>
              <a:t>measures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errors</a:t>
            </a:r>
            <a:r>
              <a:rPr lang="ar-EG" sz="3200" dirty="0"/>
              <a:t> </a:t>
            </a:r>
            <a:r>
              <a:rPr lang="ar-EG" sz="3200" dirty="0" err="1"/>
              <a:t>during</a:t>
            </a:r>
            <a:r>
              <a:rPr lang="ar-EG" sz="3200" dirty="0"/>
              <a:t> </a:t>
            </a:r>
            <a:r>
              <a:rPr lang="ar-EG" sz="3200" dirty="0" err="1"/>
              <a:t>training</a:t>
            </a:r>
            <a:r>
              <a:rPr lang="ar-EG" sz="3200" dirty="0"/>
              <a:t> and </a:t>
            </a:r>
            <a:r>
              <a:rPr lang="ar-EG" sz="3200" dirty="0" err="1"/>
              <a:t>guides</a:t>
            </a:r>
            <a:r>
              <a:rPr lang="ar-EG" sz="3200" dirty="0"/>
              <a:t> </a:t>
            </a:r>
            <a:r>
              <a:rPr lang="ar-EG" sz="3200" dirty="0" err="1"/>
              <a:t>parameter</a:t>
            </a:r>
            <a:r>
              <a:rPr lang="ar-EG" sz="3200" dirty="0"/>
              <a:t> </a:t>
            </a:r>
            <a:r>
              <a:rPr lang="ar-EG" sz="3200" dirty="0" err="1"/>
              <a:t>estimation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Evaluation</a:t>
            </a:r>
            <a:r>
              <a:rPr lang="ar-EG" sz="3200" dirty="0"/>
              <a:t> </a:t>
            </a:r>
            <a:r>
              <a:rPr lang="ar-EG" sz="3200" dirty="0" err="1"/>
              <a:t>Metrics</a:t>
            </a:r>
            <a:r>
              <a:rPr lang="ar-EG" sz="3200" dirty="0"/>
              <a:t> </a:t>
            </a:r>
            <a:r>
              <a:rPr lang="ar-EG" sz="3200" dirty="0" err="1"/>
              <a:t>help</a:t>
            </a:r>
            <a:r>
              <a:rPr lang="ar-EG" sz="3200" dirty="0"/>
              <a:t> </a:t>
            </a:r>
            <a:r>
              <a:rPr lang="ar-EG" sz="3200" dirty="0" err="1"/>
              <a:t>determine</a:t>
            </a:r>
            <a:r>
              <a:rPr lang="ar-EG" sz="3200" dirty="0"/>
              <a:t> </a:t>
            </a:r>
            <a:r>
              <a:rPr lang="ar-EG" sz="3200" dirty="0" err="1"/>
              <a:t>whether</a:t>
            </a:r>
            <a:r>
              <a:rPr lang="ar-EG" sz="3200" dirty="0"/>
              <a:t> a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performs</a:t>
            </a:r>
            <a:r>
              <a:rPr lang="ar-EG" sz="3200" dirty="0"/>
              <a:t> well on </a:t>
            </a:r>
            <a:r>
              <a:rPr lang="ar-EG" sz="3200" dirty="0" err="1"/>
              <a:t>unseen</a:t>
            </a:r>
            <a:r>
              <a:rPr lang="ar-EG" sz="3200" dirty="0"/>
              <a:t> data.</a:t>
            </a:r>
          </a:p>
          <a:p>
            <a:r>
              <a:rPr lang="ar-EG" sz="3200" b="1" dirty="0" err="1"/>
              <a:t>Final</a:t>
            </a:r>
            <a:r>
              <a:rPr lang="ar-EG" sz="3200" b="1" dirty="0"/>
              <a:t> </a:t>
            </a:r>
            <a:r>
              <a:rPr lang="ar-EG" sz="3200" b="1" dirty="0" err="1"/>
              <a:t>Rule</a:t>
            </a:r>
            <a:endParaRPr lang="ar-EG" sz="3200" b="1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Predicting</a:t>
            </a:r>
            <a:r>
              <a:rPr lang="ar-EG" sz="3200" dirty="0"/>
              <a:t> a </a:t>
            </a:r>
            <a:r>
              <a:rPr lang="ar-EG" sz="3200" dirty="0" err="1"/>
              <a:t>number</a:t>
            </a:r>
            <a:r>
              <a:rPr lang="ar-EG" sz="3200" dirty="0"/>
              <a:t> → </a:t>
            </a:r>
            <a:r>
              <a:rPr lang="ar-EG" sz="3200" dirty="0" err="1"/>
              <a:t>Regression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Predicting</a:t>
            </a:r>
            <a:r>
              <a:rPr lang="ar-EG" sz="3200" dirty="0"/>
              <a:t> a </a:t>
            </a:r>
            <a:r>
              <a:rPr lang="ar-EG" sz="3200" dirty="0" err="1"/>
              <a:t>category</a:t>
            </a:r>
            <a:r>
              <a:rPr lang="ar-EG" sz="3200" dirty="0"/>
              <a:t> → </a:t>
            </a:r>
            <a:r>
              <a:rPr lang="ar-EG" sz="3200" dirty="0" err="1"/>
              <a:t>Classification</a:t>
            </a:r>
            <a:r>
              <a:rPr lang="ar-EG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ar-EG" sz="3200" dirty="0" err="1"/>
              <a:t>Predicting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of </a:t>
            </a:r>
            <a:r>
              <a:rPr lang="ar-EG" sz="3200" dirty="0" err="1"/>
              <a:t>one</a:t>
            </a:r>
            <a:r>
              <a:rPr lang="ar-EG" sz="3200" dirty="0"/>
              <a:t> of </a:t>
            </a:r>
            <a:r>
              <a:rPr lang="ar-EG" sz="3200" dirty="0" err="1"/>
              <a:t>two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r>
              <a:rPr lang="ar-EG" sz="3200" dirty="0"/>
              <a:t> → </a:t>
            </a:r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r>
              <a:rPr lang="ar-EG" sz="3200" dirty="0"/>
              <a:t> is a </a:t>
            </a:r>
            <a:r>
              <a:rPr lang="ar-EG" sz="3200" dirty="0" err="1"/>
              <a:t>common</a:t>
            </a:r>
            <a:r>
              <a:rPr lang="ar-EG" sz="3200" dirty="0"/>
              <a:t> </a:t>
            </a:r>
            <a:r>
              <a:rPr lang="ar-EG" sz="3200" dirty="0" err="1"/>
              <a:t>choice</a:t>
            </a:r>
            <a:r>
              <a:rPr lang="ar-EG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2105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74A43-625E-7DDC-1806-0B10CEAD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76A128-C6DC-67F6-C2AC-1DCFF4E5EB33}"/>
              </a:ext>
            </a:extLst>
          </p:cNvPr>
          <p:cNvSpPr/>
          <p:nvPr/>
        </p:nvSpPr>
        <p:spPr>
          <a:xfrm rot="-2700000">
            <a:off x="-1615753" y="8681964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EB2BCEE-3708-AA96-1DCD-BD53320BA9B5}"/>
              </a:ext>
            </a:extLst>
          </p:cNvPr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69FEE99-85AD-C63A-D7F2-61133ECC4C1C}"/>
              </a:ext>
            </a:extLst>
          </p:cNvPr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64DB52C-A36B-880D-8D71-9D83BF6B721D}"/>
              </a:ext>
            </a:extLst>
          </p:cNvPr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49AA24B-0AE0-C369-9C9E-92CC63AD1D7F}"/>
              </a:ext>
            </a:extLst>
          </p:cNvPr>
          <p:cNvSpPr/>
          <p:nvPr/>
        </p:nvSpPr>
        <p:spPr>
          <a:xfrm>
            <a:off x="15423946" y="8376379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00B9EF0-2175-B06A-3853-AED8A3ECCF0E}"/>
              </a:ext>
            </a:extLst>
          </p:cNvPr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CEC8F93-6D21-1C42-8A30-3C1EA96DEBF8}"/>
              </a:ext>
            </a:extLst>
          </p:cNvPr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61B7590-6D72-1CF6-0D44-322CBD5BE35D}"/>
              </a:ext>
            </a:extLst>
          </p:cNvPr>
          <p:cNvSpPr/>
          <p:nvPr/>
        </p:nvSpPr>
        <p:spPr>
          <a:xfrm>
            <a:off x="16154400" y="8536811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74AE67A-B2C2-FB7F-56AF-025C3674606D}"/>
              </a:ext>
            </a:extLst>
          </p:cNvPr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83131-1B02-E2B4-8AC5-2608D22469B6}"/>
              </a:ext>
            </a:extLst>
          </p:cNvPr>
          <p:cNvSpPr txBox="1"/>
          <p:nvPr/>
        </p:nvSpPr>
        <p:spPr>
          <a:xfrm>
            <a:off x="784219" y="2454952"/>
            <a:ext cx="16475081" cy="649408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dirty="0"/>
              <a:t>1. </a:t>
            </a:r>
            <a:r>
              <a:rPr lang="ar-EG" sz="3200" dirty="0"/>
              <a:t>We </a:t>
            </a:r>
            <a:r>
              <a:rPr lang="ar-EG" sz="3200" dirty="0" err="1"/>
              <a:t>want</a:t>
            </a:r>
            <a:r>
              <a:rPr lang="ar-EG" sz="3200" dirty="0"/>
              <a:t> to </a:t>
            </a:r>
            <a:r>
              <a:rPr lang="ar-EG" sz="3200" dirty="0" err="1"/>
              <a:t>predict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exact</a:t>
            </a:r>
            <a:r>
              <a:rPr lang="ar-EG" sz="3200" dirty="0"/>
              <a:t> </a:t>
            </a:r>
            <a:r>
              <a:rPr lang="ar-EG" sz="3200" dirty="0" err="1"/>
              <a:t>price</a:t>
            </a:r>
            <a:r>
              <a:rPr lang="ar-EG" sz="3200" dirty="0"/>
              <a:t> of a </a:t>
            </a:r>
            <a:r>
              <a:rPr lang="ar-EG" sz="3200" dirty="0" err="1"/>
              <a:t>house</a:t>
            </a:r>
            <a:r>
              <a:rPr lang="ar-EG" sz="3200" dirty="0"/>
              <a:t>. </a:t>
            </a:r>
            <a:r>
              <a:rPr lang="ar-EG" sz="3200" dirty="0" err="1"/>
              <a:t>Which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is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natural</a:t>
            </a:r>
            <a:r>
              <a:rPr lang="ar-EG" sz="3200" dirty="0"/>
              <a:t> </a:t>
            </a:r>
            <a:r>
              <a:rPr lang="ar-EG" sz="3200" dirty="0" err="1"/>
              <a:t>starting</a:t>
            </a:r>
            <a:r>
              <a:rPr lang="ar-EG" sz="3200" dirty="0"/>
              <a:t> </a:t>
            </a:r>
            <a:r>
              <a:rPr lang="ar-EG" sz="3200" dirty="0" err="1"/>
              <a:t>point</a:t>
            </a:r>
            <a:r>
              <a:rPr lang="ar-EG" sz="3200" dirty="0"/>
              <a:t>?</a:t>
            </a:r>
          </a:p>
          <a:p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endParaRPr lang="ar-EG" sz="3200" dirty="0"/>
          </a:p>
          <a:p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endParaRPr lang="ar-EG" sz="3200" dirty="0"/>
          </a:p>
          <a:p>
            <a:r>
              <a:rPr lang="ar-EG" sz="3200" dirty="0"/>
              <a:t>K-</a:t>
            </a:r>
            <a:r>
              <a:rPr lang="ar-EG" sz="3200" dirty="0" err="1"/>
              <a:t>Means</a:t>
            </a:r>
            <a:endParaRPr lang="ar-EG" sz="3200" dirty="0"/>
          </a:p>
          <a:p>
            <a:r>
              <a:rPr lang="en-US" sz="3200" dirty="0"/>
              <a:t>2. </a:t>
            </a:r>
            <a:r>
              <a:rPr lang="ar-EG" sz="3200" dirty="0"/>
              <a:t>A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estimates</a:t>
            </a:r>
            <a:r>
              <a:rPr lang="ar-EG" sz="3200" dirty="0"/>
              <a:t> a 0.85 </a:t>
            </a:r>
            <a:r>
              <a:rPr lang="ar-EG" sz="3200" dirty="0" err="1"/>
              <a:t>probability</a:t>
            </a:r>
            <a:r>
              <a:rPr lang="ar-EG" sz="3200" dirty="0"/>
              <a:t> that an email is </a:t>
            </a:r>
            <a:r>
              <a:rPr lang="ar-EG" sz="3200" dirty="0" err="1"/>
              <a:t>spam</a:t>
            </a:r>
            <a:r>
              <a:rPr lang="ar-EG" sz="3200" dirty="0"/>
              <a:t>. </a:t>
            </a:r>
            <a:r>
              <a:rPr lang="ar-EG" sz="3200" dirty="0" err="1"/>
              <a:t>Which</a:t>
            </a:r>
            <a:r>
              <a:rPr lang="ar-EG" sz="3200" dirty="0"/>
              <a:t> </a:t>
            </a:r>
            <a:r>
              <a:rPr lang="ar-EG" sz="3200" dirty="0" err="1"/>
              <a:t>model</a:t>
            </a:r>
            <a:r>
              <a:rPr lang="ar-EG" sz="3200" dirty="0"/>
              <a:t> </a:t>
            </a:r>
            <a:r>
              <a:rPr lang="ar-EG" sz="3200" dirty="0" err="1"/>
              <a:t>naturally</a:t>
            </a:r>
            <a:r>
              <a:rPr lang="ar-EG" sz="3200" dirty="0"/>
              <a:t> </a:t>
            </a:r>
            <a:r>
              <a:rPr lang="ar-EG" sz="3200" dirty="0" err="1"/>
              <a:t>produces</a:t>
            </a:r>
            <a:r>
              <a:rPr lang="ar-EG" sz="3200" dirty="0"/>
              <a:t> </a:t>
            </a:r>
            <a:r>
              <a:rPr lang="ar-EG" sz="3200" dirty="0" err="1"/>
              <a:t>this</a:t>
            </a:r>
            <a:r>
              <a:rPr lang="ar-EG" sz="3200" dirty="0"/>
              <a:t> </a:t>
            </a:r>
            <a:r>
              <a:rPr lang="ar-EG" sz="3200" dirty="0" err="1"/>
              <a:t>probability</a:t>
            </a:r>
            <a:r>
              <a:rPr lang="ar-EG" sz="3200" dirty="0"/>
              <a:t> for </a:t>
            </a: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?</a:t>
            </a:r>
          </a:p>
          <a:p>
            <a:r>
              <a:rPr lang="ar-EG" sz="3200" dirty="0" err="1"/>
              <a:t>Linear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endParaRPr lang="ar-EG" sz="3200" dirty="0"/>
          </a:p>
          <a:p>
            <a:r>
              <a:rPr lang="ar-EG" sz="3200" dirty="0" err="1"/>
              <a:t>Logistic</a:t>
            </a:r>
            <a:r>
              <a:rPr lang="ar-EG" sz="3200" dirty="0"/>
              <a:t> </a:t>
            </a:r>
            <a:r>
              <a:rPr lang="ar-EG" sz="3200" dirty="0" err="1"/>
              <a:t>Regression</a:t>
            </a:r>
            <a:endParaRPr lang="ar-EG" sz="3200" dirty="0"/>
          </a:p>
          <a:p>
            <a:r>
              <a:rPr lang="ar-EG" sz="3200" dirty="0"/>
              <a:t>K-</a:t>
            </a:r>
            <a:r>
              <a:rPr lang="ar-EG" sz="3200" dirty="0" err="1"/>
              <a:t>Means</a:t>
            </a:r>
            <a:r>
              <a:rPr lang="ar-EG" sz="3200" dirty="0"/>
              <a:t>.</a:t>
            </a:r>
          </a:p>
          <a:p>
            <a:r>
              <a:rPr lang="en-US" sz="3200" dirty="0"/>
              <a:t>3. </a:t>
            </a:r>
            <a:r>
              <a:rPr lang="ar-EG" sz="3200" dirty="0" err="1"/>
              <a:t>What</a:t>
            </a:r>
            <a:r>
              <a:rPr lang="ar-EG" sz="3200" dirty="0"/>
              <a:t> </a:t>
            </a:r>
            <a:r>
              <a:rPr lang="ar-EG" sz="3200" dirty="0" err="1"/>
              <a:t>does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decision</a:t>
            </a:r>
            <a:r>
              <a:rPr lang="ar-EG" sz="3200" dirty="0"/>
              <a:t> </a:t>
            </a:r>
            <a:r>
              <a:rPr lang="ar-EG" sz="3200" dirty="0" err="1"/>
              <a:t>boundary</a:t>
            </a:r>
            <a:r>
              <a:rPr lang="ar-EG" sz="3200" dirty="0"/>
              <a:t> </a:t>
            </a:r>
            <a:r>
              <a:rPr lang="ar-EG" sz="3200" dirty="0" err="1"/>
              <a:t>do</a:t>
            </a:r>
            <a:r>
              <a:rPr lang="ar-EG" sz="3200" dirty="0"/>
              <a:t> </a:t>
            </a:r>
            <a:r>
              <a:rPr lang="ar-EG" sz="3200" dirty="0" err="1"/>
              <a:t>in</a:t>
            </a:r>
            <a:r>
              <a:rPr lang="ar-EG" sz="3200" dirty="0"/>
              <a:t> </a:t>
            </a:r>
            <a:r>
              <a:rPr lang="ar-EG" sz="3200" dirty="0" err="1"/>
              <a:t>binary</a:t>
            </a:r>
            <a:r>
              <a:rPr lang="ar-EG" sz="3200" dirty="0"/>
              <a:t> </a:t>
            </a:r>
            <a:r>
              <a:rPr lang="ar-EG" sz="3200" dirty="0" err="1"/>
              <a:t>classification</a:t>
            </a:r>
            <a:r>
              <a:rPr lang="ar-EG" sz="3200" dirty="0"/>
              <a:t>?</a:t>
            </a:r>
          </a:p>
          <a:p>
            <a:r>
              <a:rPr lang="ar-EG" sz="3200" dirty="0" err="1"/>
              <a:t>Calculates</a:t>
            </a:r>
            <a:r>
              <a:rPr lang="ar-EG" sz="3200" dirty="0"/>
              <a:t> </a:t>
            </a:r>
            <a:r>
              <a:rPr lang="ar-EG" sz="3200" dirty="0" err="1"/>
              <a:t>the</a:t>
            </a:r>
            <a:r>
              <a:rPr lang="ar-EG" sz="3200" dirty="0"/>
              <a:t> </a:t>
            </a:r>
            <a:r>
              <a:rPr lang="ar-EG" sz="3200" dirty="0" err="1"/>
              <a:t>mean</a:t>
            </a:r>
            <a:r>
              <a:rPr lang="ar-EG" sz="3200" dirty="0"/>
              <a:t> of </a:t>
            </a:r>
            <a:r>
              <a:rPr lang="ar-EG" sz="3200" dirty="0" err="1"/>
              <a:t>every</a:t>
            </a:r>
            <a:r>
              <a:rPr lang="ar-EG" sz="3200" dirty="0"/>
              <a:t> </a:t>
            </a:r>
            <a:r>
              <a:rPr lang="ar-EG" sz="3200" dirty="0" err="1"/>
              <a:t>feature</a:t>
            </a:r>
            <a:endParaRPr lang="ar-EG" sz="3200" dirty="0"/>
          </a:p>
          <a:p>
            <a:r>
              <a:rPr lang="ar-EG" sz="3200" dirty="0" err="1"/>
              <a:t>Separates</a:t>
            </a:r>
            <a:r>
              <a:rPr lang="ar-EG" sz="3200" dirty="0"/>
              <a:t> </a:t>
            </a:r>
            <a:r>
              <a:rPr lang="ar-EG" sz="3200" dirty="0" err="1"/>
              <a:t>regions</a:t>
            </a:r>
            <a:r>
              <a:rPr lang="ar-EG" sz="3200" dirty="0"/>
              <a:t> </a:t>
            </a:r>
            <a:r>
              <a:rPr lang="ar-EG" sz="3200" dirty="0" err="1"/>
              <a:t>assigned</a:t>
            </a:r>
            <a:r>
              <a:rPr lang="ar-EG" sz="3200" dirty="0"/>
              <a:t> to </a:t>
            </a:r>
            <a:r>
              <a:rPr lang="ar-EG" sz="3200" dirty="0" err="1"/>
              <a:t>different</a:t>
            </a:r>
            <a:r>
              <a:rPr lang="ar-EG" sz="3200" dirty="0"/>
              <a:t> </a:t>
            </a:r>
            <a:r>
              <a:rPr lang="ar-EG" sz="3200" dirty="0" err="1"/>
              <a:t>classes</a:t>
            </a:r>
            <a:endParaRPr lang="en-US" sz="3200" dirty="0"/>
          </a:p>
          <a:p>
            <a:r>
              <a:rPr lang="ar-EG" sz="3200" dirty="0" err="1"/>
              <a:t>Always</a:t>
            </a:r>
            <a:r>
              <a:rPr lang="ar-EG" sz="3200" dirty="0"/>
              <a:t> </a:t>
            </a:r>
            <a:r>
              <a:rPr lang="ar-EG" sz="3200" dirty="0" err="1"/>
              <a:t>predicts</a:t>
            </a:r>
            <a:r>
              <a:rPr lang="ar-EG" sz="3200" dirty="0"/>
              <a:t> a </a:t>
            </a:r>
            <a:r>
              <a:rPr lang="ar-EG" sz="3200" dirty="0" err="1"/>
              <a:t>probability</a:t>
            </a:r>
            <a:r>
              <a:rPr lang="ar-EG" sz="3200" dirty="0"/>
              <a:t> of 0.5</a:t>
            </a:r>
          </a:p>
        </p:txBody>
      </p:sp>
    </p:spTree>
    <p:extLst>
      <p:ext uri="{BB962C8B-B14F-4D97-AF65-F5344CB8AC3E}">
        <p14:creationId xmlns:p14="http://schemas.microsoft.com/office/powerpoint/2010/main" val="2414432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1615754" y="7473281"/>
            <a:ext cx="4739660" cy="4942556"/>
          </a:xfrm>
          <a:custGeom>
            <a:avLst/>
            <a:gdLst/>
            <a:ahLst/>
            <a:cxnLst/>
            <a:rect l="l" t="t" r="r" b="b"/>
            <a:pathLst>
              <a:path w="4739660" h="4942556">
                <a:moveTo>
                  <a:pt x="0" y="0"/>
                </a:moveTo>
                <a:lnTo>
                  <a:pt x="4739659" y="0"/>
                </a:lnTo>
                <a:lnTo>
                  <a:pt x="4739659" y="4942557"/>
                </a:lnTo>
                <a:lnTo>
                  <a:pt x="0" y="4942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flipH="1">
            <a:off x="14520896" y="-1366838"/>
            <a:ext cx="5476808" cy="4114800"/>
          </a:xfrm>
          <a:custGeom>
            <a:avLst/>
            <a:gdLst/>
            <a:ahLst/>
            <a:cxnLst/>
            <a:rect l="l" t="t" r="r" b="b"/>
            <a:pathLst>
              <a:path w="5476808" h="4114800">
                <a:moveTo>
                  <a:pt x="5476808" y="0"/>
                </a:moveTo>
                <a:lnTo>
                  <a:pt x="0" y="0"/>
                </a:lnTo>
                <a:lnTo>
                  <a:pt x="0" y="4114800"/>
                </a:lnTo>
                <a:lnTo>
                  <a:pt x="5476808" y="4114800"/>
                </a:lnTo>
                <a:lnTo>
                  <a:pt x="547680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-2139269" y="-2057400"/>
            <a:ext cx="4278538" cy="4114800"/>
          </a:xfrm>
          <a:custGeom>
            <a:avLst/>
            <a:gdLst/>
            <a:ahLst/>
            <a:cxnLst/>
            <a:rect l="l" t="t" r="r" b="b"/>
            <a:pathLst>
              <a:path w="4278538" h="4114800">
                <a:moveTo>
                  <a:pt x="0" y="0"/>
                </a:moveTo>
                <a:lnTo>
                  <a:pt x="4278538" y="0"/>
                </a:lnTo>
                <a:lnTo>
                  <a:pt x="42785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/>
          <p:cNvSpPr/>
          <p:nvPr/>
        </p:nvSpPr>
        <p:spPr>
          <a:xfrm rot="-412364" flipV="1">
            <a:off x="-216662" y="-887661"/>
            <a:ext cx="2490723" cy="3156447"/>
          </a:xfrm>
          <a:custGeom>
            <a:avLst/>
            <a:gdLst/>
            <a:ahLst/>
            <a:cxnLst/>
            <a:rect l="l" t="t" r="r" b="b"/>
            <a:pathLst>
              <a:path w="2490723" h="3156447">
                <a:moveTo>
                  <a:pt x="0" y="3156447"/>
                </a:moveTo>
                <a:lnTo>
                  <a:pt x="2490724" y="3156447"/>
                </a:lnTo>
                <a:lnTo>
                  <a:pt x="2490724" y="0"/>
                </a:lnTo>
                <a:lnTo>
                  <a:pt x="0" y="0"/>
                </a:lnTo>
                <a:lnTo>
                  <a:pt x="0" y="31564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15124069" y="8229600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/>
          <p:cNvSpPr/>
          <p:nvPr/>
        </p:nvSpPr>
        <p:spPr>
          <a:xfrm rot="-4618738">
            <a:off x="2042658" y="8974426"/>
            <a:ext cx="1450725" cy="2557367"/>
          </a:xfrm>
          <a:custGeom>
            <a:avLst/>
            <a:gdLst/>
            <a:ahLst/>
            <a:cxnLst/>
            <a:rect l="l" t="t" r="r" b="b"/>
            <a:pathLst>
              <a:path w="1450725" h="2557367">
                <a:moveTo>
                  <a:pt x="0" y="0"/>
                </a:moveTo>
                <a:lnTo>
                  <a:pt x="1450724" y="0"/>
                </a:lnTo>
                <a:lnTo>
                  <a:pt x="1450724" y="2557367"/>
                </a:lnTo>
                <a:lnTo>
                  <a:pt x="0" y="25573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/>
          <p:cNvSpPr/>
          <p:nvPr/>
        </p:nvSpPr>
        <p:spPr>
          <a:xfrm>
            <a:off x="17008481" y="-718001"/>
            <a:ext cx="1875329" cy="2227713"/>
          </a:xfrm>
          <a:custGeom>
            <a:avLst/>
            <a:gdLst/>
            <a:ahLst/>
            <a:cxnLst/>
            <a:rect l="l" t="t" r="r" b="b"/>
            <a:pathLst>
              <a:path w="1875329" h="2227713">
                <a:moveTo>
                  <a:pt x="0" y="0"/>
                </a:moveTo>
                <a:lnTo>
                  <a:pt x="1875329" y="0"/>
                </a:lnTo>
                <a:lnTo>
                  <a:pt x="1875329" y="2227714"/>
                </a:lnTo>
                <a:lnTo>
                  <a:pt x="0" y="222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15436021" y="7967662"/>
            <a:ext cx="2510124" cy="3432595"/>
          </a:xfrm>
          <a:custGeom>
            <a:avLst/>
            <a:gdLst/>
            <a:ahLst/>
            <a:cxnLst/>
            <a:rect l="l" t="t" r="r" b="b"/>
            <a:pathLst>
              <a:path w="2510124" h="3432595">
                <a:moveTo>
                  <a:pt x="0" y="0"/>
                </a:moveTo>
                <a:lnTo>
                  <a:pt x="2510125" y="0"/>
                </a:lnTo>
                <a:lnTo>
                  <a:pt x="2510125" y="3432595"/>
                </a:lnTo>
                <a:lnTo>
                  <a:pt x="0" y="3432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/>
          <p:cNvSpPr/>
          <p:nvPr/>
        </p:nvSpPr>
        <p:spPr>
          <a:xfrm rot="-3404902">
            <a:off x="-1625897" y="8811263"/>
            <a:ext cx="2818471" cy="3345936"/>
          </a:xfrm>
          <a:custGeom>
            <a:avLst/>
            <a:gdLst/>
            <a:ahLst/>
            <a:cxnLst/>
            <a:rect l="l" t="t" r="r" b="b"/>
            <a:pathLst>
              <a:path w="2818471" h="3345936">
                <a:moveTo>
                  <a:pt x="0" y="0"/>
                </a:moveTo>
                <a:lnTo>
                  <a:pt x="2818471" y="0"/>
                </a:lnTo>
                <a:lnTo>
                  <a:pt x="2818471" y="3345936"/>
                </a:lnTo>
                <a:lnTo>
                  <a:pt x="0" y="33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/>
          <p:cNvSpPr txBox="1"/>
          <p:nvPr/>
        </p:nvSpPr>
        <p:spPr>
          <a:xfrm>
            <a:off x="2753163" y="3814211"/>
            <a:ext cx="12781674" cy="2887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3"/>
              </a:lnSpc>
            </a:pPr>
            <a:r>
              <a:rPr lang="en-US" sz="11289">
                <a:solidFill>
                  <a:srgbClr val="2C2C2C"/>
                </a:solidFill>
                <a:latin typeface="Tenor Sans"/>
                <a:ea typeface="Tenor Sans"/>
                <a:cs typeface="Tenor Sans"/>
                <a:sym typeface="Tenor Sans"/>
              </a:rPr>
              <a:t>THANK</a:t>
            </a:r>
          </a:p>
          <a:p>
            <a:pPr algn="ctr">
              <a:lnSpc>
                <a:spcPts val="11063"/>
              </a:lnSpc>
            </a:pPr>
            <a:r>
              <a:rPr lang="en-US" sz="11289">
                <a:solidFill>
                  <a:srgbClr val="2C2C2C"/>
                </a:solidFill>
                <a:latin typeface="Tenor Sans"/>
                <a:ea typeface="Tenor Sans"/>
                <a:cs typeface="Tenor Sans"/>
                <a:sym typeface="Tenor Sans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2798</Words>
  <Application>Microsoft Office PowerPoint</Application>
  <PresentationFormat>Custom</PresentationFormat>
  <Paragraphs>323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Calibri</vt:lpstr>
      <vt:lpstr>Tenor Sans</vt:lpstr>
      <vt:lpstr>Arial</vt:lpstr>
      <vt:lpstr>Wingdings</vt:lpstr>
      <vt:lpstr>Andika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cp:lastModifiedBy>Maria  Ayman Ibrahim ghobrial</cp:lastModifiedBy>
  <cp:revision>86</cp:revision>
  <dcterms:created xsi:type="dcterms:W3CDTF">2006-08-16T00:00:00Z</dcterms:created>
  <dcterms:modified xsi:type="dcterms:W3CDTF">2026-10-17T20:06:20Z</dcterms:modified>
  <dc:identifier>DAHW-L8C1PA</dc:identifier>
</cp:coreProperties>
</file>